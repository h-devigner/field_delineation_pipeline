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93B"/>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058400" cy="1371600"/>
          </a:xfrm>
          <a:prstGeom prst="rect">
            <a:avLst/>
          </a:prstGeom>
          <a:noFill/>
        </p:spPr>
        <p:txBody>
          <a:bodyPr wrap="square">
            <a:spAutoFit/>
          </a:bodyPr>
          <a:lstStyle/>
          <a:p>
            <a:pPr algn="ctr">
              <a:defRPr sz="4400" b="1">
                <a:solidFill>
                  <a:srgbClr val="FFFFFF"/>
                </a:solidFill>
              </a:defRPr>
            </a:pPr>
            <a:r>
              <a:t>Automated Agricultural Field</a:t>
            </a:r>
            <a:br/>
            <a:r>
              <a:t>Boundary Delineation</a:t>
            </a:r>
          </a:p>
        </p:txBody>
      </p:sp>
      <p:sp>
        <p:nvSpPr>
          <p:cNvPr id="4" name="TextBox 3"/>
          <p:cNvSpPr txBox="1"/>
          <p:nvPr/>
        </p:nvSpPr>
        <p:spPr>
          <a:xfrm>
            <a:off x="914400" y="2743200"/>
            <a:ext cx="10058400" cy="548640"/>
          </a:xfrm>
          <a:prstGeom prst="rect">
            <a:avLst/>
          </a:prstGeom>
          <a:noFill/>
        </p:spPr>
        <p:txBody>
          <a:bodyPr wrap="square">
            <a:spAutoFit/>
          </a:bodyPr>
          <a:lstStyle/>
          <a:p>
            <a:pPr algn="ctr">
              <a:defRPr sz="2200" b="0">
                <a:solidFill>
                  <a:srgbClr val="9CA3AF"/>
                </a:solidFill>
              </a:defRPr>
            </a:pPr>
            <a:r>
              <a:t>From Satellite Data Acquisition to Precise Field Polygon Maps</a:t>
            </a:r>
          </a:p>
        </p:txBody>
      </p:sp>
      <p:sp>
        <p:nvSpPr>
          <p:cNvPr id="5" name="TextBox 4"/>
          <p:cNvSpPr txBox="1"/>
          <p:nvPr/>
        </p:nvSpPr>
        <p:spPr>
          <a:xfrm>
            <a:off x="1371600" y="3840480"/>
            <a:ext cx="9144000" cy="2286000"/>
          </a:xfrm>
          <a:prstGeom prst="rect">
            <a:avLst/>
          </a:prstGeom>
          <a:noFill/>
        </p:spPr>
        <p:txBody>
          <a:bodyPr wrap="square">
            <a:spAutoFit/>
          </a:bodyPr>
          <a:lstStyle/>
          <a:p>
            <a:pPr algn="ctr">
              <a:defRPr sz="1600" b="0">
                <a:solidFill>
                  <a:srgbClr val="9CA3AF"/>
                </a:solidFill>
              </a:defRPr>
            </a:pPr>
            <a:r>
              <a:t>This presentation covers our end-to-end pipeline for automatically delineating agricultural field boundaries from Sentinel-2 satellite imagery. The system processes raw satellite data through six stages — data fetching, cloud-free mosaicing, super resolution enhancement, land cover masking, AI-powered instance segmentation, and post-processing — to produce precise vector field boundaries ready for integration into agricultural monitoring systems.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9144000" cy="457200"/>
          </a:xfrm>
          <a:prstGeom prst="rect">
            <a:avLst/>
          </a:prstGeom>
          <a:noFill/>
        </p:spPr>
        <p:txBody>
          <a:bodyPr wrap="square">
            <a:spAutoFit/>
          </a:bodyPr>
          <a:lstStyle/>
          <a:p>
            <a:pPr algn="l">
              <a:defRPr sz="3000" b="1">
                <a:solidFill>
                  <a:srgbClr val="1F2A37"/>
                </a:solidFill>
              </a:defRPr>
            </a:pPr>
            <a:r>
              <a:t>End-to-End Processing Pipeline</a:t>
            </a:r>
          </a:p>
        </p:txBody>
      </p:sp>
      <p:sp>
        <p:nvSpPr>
          <p:cNvPr id="4" name="TextBox 3"/>
          <p:cNvSpPr txBox="1"/>
          <p:nvPr/>
        </p:nvSpPr>
        <p:spPr>
          <a:xfrm>
            <a:off x="731520" y="640080"/>
            <a:ext cx="10972800" cy="457200"/>
          </a:xfrm>
          <a:prstGeom prst="rect">
            <a:avLst/>
          </a:prstGeom>
          <a:noFill/>
        </p:spPr>
        <p:txBody>
          <a:bodyPr wrap="square">
            <a:spAutoFit/>
          </a:bodyPr>
          <a:lstStyle/>
          <a:p>
            <a:pPr algn="l">
              <a:defRPr sz="1300" b="0">
                <a:solidFill>
                  <a:srgbClr val="6B7280"/>
                </a:solidFill>
              </a:defRPr>
            </a:pPr>
            <a:r>
              <a:t>Each component is modular and independently configurable via YAML. The full pipeline transforms raw satellite scenes into production-ready vector field boundaries.</a:t>
            </a:r>
          </a:p>
        </p:txBody>
      </p:sp>
      <p:sp>
        <p:nvSpPr>
          <p:cNvPr id="5" name="Rounded Rectangle 4"/>
          <p:cNvSpPr/>
          <p:nvPr/>
        </p:nvSpPr>
        <p:spPr>
          <a:xfrm>
            <a:off x="228600" y="1280160"/>
            <a:ext cx="1783080" cy="2560320"/>
          </a:xfrm>
          <a:prstGeom prst="roundRect">
            <a:avLst/>
          </a:prstGeom>
          <a:solidFill>
            <a:srgbClr val="FFFFFF"/>
          </a:solidFill>
          <a:ln w="952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417320"/>
            <a:ext cx="1600200" cy="822960"/>
          </a:xfrm>
          <a:prstGeom prst="rect">
            <a:avLst/>
          </a:prstGeom>
          <a:noFill/>
        </p:spPr>
        <p:txBody>
          <a:bodyPr wrap="square">
            <a:spAutoFit/>
          </a:bodyPr>
          <a:lstStyle/>
          <a:p>
            <a:pPr algn="ctr">
              <a:defRPr sz="1400" b="1">
                <a:solidFill>
                  <a:srgbClr val="2563EB"/>
                </a:solidFill>
              </a:defRPr>
            </a:pPr>
            <a:r>
              <a:t>1. Satellite</a:t>
            </a:r>
            <a:br/>
            <a:r>
              <a:t>Fetcher</a:t>
            </a:r>
          </a:p>
        </p:txBody>
      </p:sp>
      <p:sp>
        <p:nvSpPr>
          <p:cNvPr id="7" name="TextBox 6"/>
          <p:cNvSpPr txBox="1"/>
          <p:nvPr/>
        </p:nvSpPr>
        <p:spPr>
          <a:xfrm>
            <a:off x="320040" y="2286000"/>
            <a:ext cx="1600200" cy="914400"/>
          </a:xfrm>
          <a:prstGeom prst="rect">
            <a:avLst/>
          </a:prstGeom>
          <a:noFill/>
        </p:spPr>
        <p:txBody>
          <a:bodyPr wrap="square">
            <a:spAutoFit/>
          </a:bodyPr>
          <a:lstStyle/>
          <a:p>
            <a:pPr algn="ctr">
              <a:defRPr sz="1100" b="0">
                <a:solidFill>
                  <a:srgbClr val="6B7280"/>
                </a:solidFill>
              </a:defRPr>
            </a:pPr>
            <a:r>
              <a:t>Retrieves Sentinel-2</a:t>
            </a:r>
            <a:br/>
            <a:r>
              <a:t>scenes via STAC API</a:t>
            </a:r>
          </a:p>
        </p:txBody>
      </p:sp>
      <p:sp>
        <p:nvSpPr>
          <p:cNvPr id="8" name="TextBox 7"/>
          <p:cNvSpPr txBox="1"/>
          <p:nvPr/>
        </p:nvSpPr>
        <p:spPr>
          <a:xfrm>
            <a:off x="2011680" y="2103120"/>
            <a:ext cx="228600" cy="457200"/>
          </a:xfrm>
          <a:prstGeom prst="rect">
            <a:avLst/>
          </a:prstGeom>
          <a:noFill/>
        </p:spPr>
        <p:txBody>
          <a:bodyPr wrap="square">
            <a:spAutoFit/>
          </a:bodyPr>
          <a:lstStyle/>
          <a:p>
            <a:pPr algn="ctr">
              <a:defRPr sz="2000" b="0">
                <a:solidFill>
                  <a:srgbClr val="9CA3AF"/>
                </a:solidFill>
              </a:defRPr>
            </a:pPr>
            <a:r>
              <a:t>→</a:t>
            </a:r>
          </a:p>
        </p:txBody>
      </p:sp>
      <p:sp>
        <p:nvSpPr>
          <p:cNvPr id="9" name="Rounded Rectangle 8"/>
          <p:cNvSpPr/>
          <p:nvPr/>
        </p:nvSpPr>
        <p:spPr>
          <a:xfrm>
            <a:off x="2194560" y="1280160"/>
            <a:ext cx="1783080" cy="2560320"/>
          </a:xfrm>
          <a:prstGeom prst="roundRect">
            <a:avLst/>
          </a:prstGeom>
          <a:solidFill>
            <a:srgbClr val="FFFFFF"/>
          </a:solidFill>
          <a:ln w="9525">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417320"/>
            <a:ext cx="1600200" cy="822960"/>
          </a:xfrm>
          <a:prstGeom prst="rect">
            <a:avLst/>
          </a:prstGeom>
          <a:noFill/>
        </p:spPr>
        <p:txBody>
          <a:bodyPr wrap="square">
            <a:spAutoFit/>
          </a:bodyPr>
          <a:lstStyle/>
          <a:p>
            <a:pPr algn="ctr">
              <a:defRPr sz="1400" b="1">
                <a:solidFill>
                  <a:srgbClr val="16A34A"/>
                </a:solidFill>
              </a:defRPr>
            </a:pPr>
            <a:r>
              <a:t>2. Cloudless</a:t>
            </a:r>
            <a:br/>
            <a:r>
              <a:t>Mosaic</a:t>
            </a:r>
          </a:p>
        </p:txBody>
      </p:sp>
      <p:sp>
        <p:nvSpPr>
          <p:cNvPr id="11" name="TextBox 10"/>
          <p:cNvSpPr txBox="1"/>
          <p:nvPr/>
        </p:nvSpPr>
        <p:spPr>
          <a:xfrm>
            <a:off x="2286000" y="2286000"/>
            <a:ext cx="1600200" cy="914400"/>
          </a:xfrm>
          <a:prstGeom prst="rect">
            <a:avLst/>
          </a:prstGeom>
          <a:noFill/>
        </p:spPr>
        <p:txBody>
          <a:bodyPr wrap="square">
            <a:spAutoFit/>
          </a:bodyPr>
          <a:lstStyle/>
          <a:p>
            <a:pPr algn="ctr">
              <a:defRPr sz="1100" b="0">
                <a:solidFill>
                  <a:srgbClr val="6B7280"/>
                </a:solidFill>
              </a:defRPr>
            </a:pPr>
            <a:r>
              <a:t>Season stacking with</a:t>
            </a:r>
            <a:br/>
            <a:r>
              <a:t>NDVI pixel priority</a:t>
            </a:r>
          </a:p>
        </p:txBody>
      </p:sp>
      <p:sp>
        <p:nvSpPr>
          <p:cNvPr id="12" name="TextBox 11"/>
          <p:cNvSpPr txBox="1"/>
          <p:nvPr/>
        </p:nvSpPr>
        <p:spPr>
          <a:xfrm>
            <a:off x="3977639" y="2103120"/>
            <a:ext cx="228600" cy="457200"/>
          </a:xfrm>
          <a:prstGeom prst="rect">
            <a:avLst/>
          </a:prstGeom>
          <a:noFill/>
        </p:spPr>
        <p:txBody>
          <a:bodyPr wrap="square">
            <a:spAutoFit/>
          </a:bodyPr>
          <a:lstStyle/>
          <a:p>
            <a:pPr algn="ctr">
              <a:defRPr sz="2000" b="0">
                <a:solidFill>
                  <a:srgbClr val="9CA3AF"/>
                </a:solidFill>
              </a:defRPr>
            </a:pPr>
            <a:r>
              <a:t>→</a:t>
            </a:r>
          </a:p>
        </p:txBody>
      </p:sp>
      <p:sp>
        <p:nvSpPr>
          <p:cNvPr id="13" name="Rounded Rectangle 12"/>
          <p:cNvSpPr/>
          <p:nvPr/>
        </p:nvSpPr>
        <p:spPr>
          <a:xfrm>
            <a:off x="4160520" y="1280160"/>
            <a:ext cx="1783080" cy="2560320"/>
          </a:xfrm>
          <a:prstGeom prst="roundRect">
            <a:avLst/>
          </a:prstGeom>
          <a:solidFill>
            <a:srgbClr val="FFFFFF"/>
          </a:solidFill>
          <a:ln w="952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51959" y="1417320"/>
            <a:ext cx="1600200" cy="822960"/>
          </a:xfrm>
          <a:prstGeom prst="rect">
            <a:avLst/>
          </a:prstGeom>
          <a:noFill/>
        </p:spPr>
        <p:txBody>
          <a:bodyPr wrap="square">
            <a:spAutoFit/>
          </a:bodyPr>
          <a:lstStyle/>
          <a:p>
            <a:pPr algn="ctr">
              <a:defRPr sz="1400" b="1">
                <a:solidFill>
                  <a:srgbClr val="7C3AED"/>
                </a:solidFill>
              </a:defRPr>
            </a:pPr>
            <a:r>
              <a:t>3. Super</a:t>
            </a:r>
            <a:br/>
            <a:r>
              <a:t>Resolution</a:t>
            </a:r>
          </a:p>
        </p:txBody>
      </p:sp>
      <p:sp>
        <p:nvSpPr>
          <p:cNvPr id="15" name="TextBox 14"/>
          <p:cNvSpPr txBox="1"/>
          <p:nvPr/>
        </p:nvSpPr>
        <p:spPr>
          <a:xfrm>
            <a:off x="4251959" y="2286000"/>
            <a:ext cx="1600200" cy="914400"/>
          </a:xfrm>
          <a:prstGeom prst="rect">
            <a:avLst/>
          </a:prstGeom>
          <a:noFill/>
        </p:spPr>
        <p:txBody>
          <a:bodyPr wrap="square">
            <a:spAutoFit/>
          </a:bodyPr>
          <a:lstStyle/>
          <a:p>
            <a:pPr algn="ctr">
              <a:defRPr sz="1100" b="0">
                <a:solidFill>
                  <a:srgbClr val="6B7280"/>
                </a:solidFill>
              </a:defRPr>
            </a:pPr>
            <a:r>
              <a:t>sen2sr: x4 upscale</a:t>
            </a:r>
            <a:br/>
            <a:r>
              <a:t>10m to 2.5m</a:t>
            </a:r>
          </a:p>
        </p:txBody>
      </p:sp>
      <p:sp>
        <p:nvSpPr>
          <p:cNvPr id="16" name="TextBox 15"/>
          <p:cNvSpPr txBox="1"/>
          <p:nvPr/>
        </p:nvSpPr>
        <p:spPr>
          <a:xfrm>
            <a:off x="5943600" y="2103120"/>
            <a:ext cx="228600" cy="457200"/>
          </a:xfrm>
          <a:prstGeom prst="rect">
            <a:avLst/>
          </a:prstGeom>
          <a:noFill/>
        </p:spPr>
        <p:txBody>
          <a:bodyPr wrap="square">
            <a:spAutoFit/>
          </a:bodyPr>
          <a:lstStyle/>
          <a:p>
            <a:pPr algn="ctr">
              <a:defRPr sz="2000" b="0">
                <a:solidFill>
                  <a:srgbClr val="9CA3AF"/>
                </a:solidFill>
              </a:defRPr>
            </a:pPr>
            <a:r>
              <a:t>→</a:t>
            </a:r>
          </a:p>
        </p:txBody>
      </p:sp>
      <p:sp>
        <p:nvSpPr>
          <p:cNvPr id="17" name="Rounded Rectangle 16"/>
          <p:cNvSpPr/>
          <p:nvPr/>
        </p:nvSpPr>
        <p:spPr>
          <a:xfrm>
            <a:off x="6126479" y="1280160"/>
            <a:ext cx="1783080" cy="2560320"/>
          </a:xfrm>
          <a:prstGeom prst="roundRect">
            <a:avLst/>
          </a:prstGeom>
          <a:solidFill>
            <a:srgbClr val="FFFFFF"/>
          </a:solidFill>
          <a:ln w="9525">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19" y="1417320"/>
            <a:ext cx="1600200" cy="822960"/>
          </a:xfrm>
          <a:prstGeom prst="rect">
            <a:avLst/>
          </a:prstGeom>
          <a:noFill/>
        </p:spPr>
        <p:txBody>
          <a:bodyPr wrap="square">
            <a:spAutoFit/>
          </a:bodyPr>
          <a:lstStyle/>
          <a:p>
            <a:pPr algn="ctr">
              <a:defRPr sz="1400" b="1">
                <a:solidFill>
                  <a:srgbClr val="EA580C"/>
                </a:solidFill>
              </a:defRPr>
            </a:pPr>
            <a:r>
              <a:t>4. LCLU</a:t>
            </a:r>
            <a:br/>
            <a:r>
              <a:t>Masking</a:t>
            </a:r>
          </a:p>
        </p:txBody>
      </p:sp>
      <p:sp>
        <p:nvSpPr>
          <p:cNvPr id="19" name="TextBox 18"/>
          <p:cNvSpPr txBox="1"/>
          <p:nvPr/>
        </p:nvSpPr>
        <p:spPr>
          <a:xfrm>
            <a:off x="6217919" y="2286000"/>
            <a:ext cx="1600200" cy="914400"/>
          </a:xfrm>
          <a:prstGeom prst="rect">
            <a:avLst/>
          </a:prstGeom>
          <a:noFill/>
        </p:spPr>
        <p:txBody>
          <a:bodyPr wrap="square">
            <a:spAutoFit/>
          </a:bodyPr>
          <a:lstStyle/>
          <a:p>
            <a:pPr algn="ctr">
              <a:defRPr sz="1100" b="0">
                <a:solidFill>
                  <a:srgbClr val="6B7280"/>
                </a:solidFill>
              </a:defRPr>
            </a:pPr>
            <a:r>
              <a:t>Crop area focus from</a:t>
            </a:r>
            <a:br/>
            <a:r>
              <a:t>Google Earth Engine</a:t>
            </a:r>
          </a:p>
        </p:txBody>
      </p:sp>
      <p:sp>
        <p:nvSpPr>
          <p:cNvPr id="20" name="TextBox 19"/>
          <p:cNvSpPr txBox="1"/>
          <p:nvPr/>
        </p:nvSpPr>
        <p:spPr>
          <a:xfrm>
            <a:off x="7909558" y="2103120"/>
            <a:ext cx="228600" cy="457200"/>
          </a:xfrm>
          <a:prstGeom prst="rect">
            <a:avLst/>
          </a:prstGeom>
          <a:noFill/>
        </p:spPr>
        <p:txBody>
          <a:bodyPr wrap="square">
            <a:spAutoFit/>
          </a:bodyPr>
          <a:lstStyle/>
          <a:p>
            <a:pPr algn="ctr">
              <a:defRPr sz="2000" b="0">
                <a:solidFill>
                  <a:srgbClr val="9CA3AF"/>
                </a:solidFill>
              </a:defRPr>
            </a:pPr>
            <a:r>
              <a:t>→</a:t>
            </a:r>
          </a:p>
        </p:txBody>
      </p:sp>
      <p:sp>
        <p:nvSpPr>
          <p:cNvPr id="21" name="Rounded Rectangle 20"/>
          <p:cNvSpPr/>
          <p:nvPr/>
        </p:nvSpPr>
        <p:spPr>
          <a:xfrm>
            <a:off x="8092440" y="1280160"/>
            <a:ext cx="1783080" cy="2560320"/>
          </a:xfrm>
          <a:prstGeom prst="roundRect">
            <a:avLst/>
          </a:prstGeom>
          <a:solidFill>
            <a:srgbClr val="FFFFFF"/>
          </a:solidFill>
          <a:ln w="9525">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83879" y="1417320"/>
            <a:ext cx="1600200" cy="822960"/>
          </a:xfrm>
          <a:prstGeom prst="rect">
            <a:avLst/>
          </a:prstGeom>
          <a:noFill/>
        </p:spPr>
        <p:txBody>
          <a:bodyPr wrap="square">
            <a:spAutoFit/>
          </a:bodyPr>
          <a:lstStyle/>
          <a:p>
            <a:pPr algn="ctr">
              <a:defRPr sz="1400" b="1">
                <a:solidFill>
                  <a:srgbClr val="DC2626"/>
                </a:solidFill>
              </a:defRPr>
            </a:pPr>
            <a:r>
              <a:t>5. AI</a:t>
            </a:r>
            <a:br/>
            <a:r>
              <a:t>Segmentation</a:t>
            </a:r>
          </a:p>
        </p:txBody>
      </p:sp>
      <p:sp>
        <p:nvSpPr>
          <p:cNvPr id="23" name="TextBox 22"/>
          <p:cNvSpPr txBox="1"/>
          <p:nvPr/>
        </p:nvSpPr>
        <p:spPr>
          <a:xfrm>
            <a:off x="8183879" y="2286000"/>
            <a:ext cx="1600200" cy="914400"/>
          </a:xfrm>
          <a:prstGeom prst="rect">
            <a:avLst/>
          </a:prstGeom>
          <a:noFill/>
        </p:spPr>
        <p:txBody>
          <a:bodyPr wrap="square">
            <a:spAutoFit/>
          </a:bodyPr>
          <a:lstStyle/>
          <a:p>
            <a:pPr algn="ctr">
              <a:defRPr sz="1100" b="0">
                <a:solidFill>
                  <a:srgbClr val="6B7280"/>
                </a:solidFill>
              </a:defRPr>
            </a:pPr>
            <a:r>
              <a:t>YOLO detection, then</a:t>
            </a:r>
            <a:br/>
            <a:r>
              <a:t>Mask R-CNN masks</a:t>
            </a:r>
          </a:p>
        </p:txBody>
      </p:sp>
      <p:sp>
        <p:nvSpPr>
          <p:cNvPr id="24" name="TextBox 23"/>
          <p:cNvSpPr txBox="1"/>
          <p:nvPr/>
        </p:nvSpPr>
        <p:spPr>
          <a:xfrm>
            <a:off x="9875519" y="2103120"/>
            <a:ext cx="228600" cy="457200"/>
          </a:xfrm>
          <a:prstGeom prst="rect">
            <a:avLst/>
          </a:prstGeom>
          <a:noFill/>
        </p:spPr>
        <p:txBody>
          <a:bodyPr wrap="square">
            <a:spAutoFit/>
          </a:bodyPr>
          <a:lstStyle/>
          <a:p>
            <a:pPr algn="ctr">
              <a:defRPr sz="2000" b="0">
                <a:solidFill>
                  <a:srgbClr val="9CA3AF"/>
                </a:solidFill>
              </a:defRPr>
            </a:pPr>
            <a:r>
              <a:t>→</a:t>
            </a:r>
          </a:p>
        </p:txBody>
      </p:sp>
      <p:sp>
        <p:nvSpPr>
          <p:cNvPr id="25" name="Rounded Rectangle 24"/>
          <p:cNvSpPr/>
          <p:nvPr/>
        </p:nvSpPr>
        <p:spPr>
          <a:xfrm>
            <a:off x="10058400" y="1280160"/>
            <a:ext cx="1783080" cy="2560320"/>
          </a:xfrm>
          <a:prstGeom prst="roundRect">
            <a:avLst/>
          </a:prstGeom>
          <a:solidFill>
            <a:srgbClr val="FFFFFF"/>
          </a:solidFill>
          <a:ln w="952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149840" y="1417320"/>
            <a:ext cx="1600200" cy="822960"/>
          </a:xfrm>
          <a:prstGeom prst="rect">
            <a:avLst/>
          </a:prstGeom>
          <a:noFill/>
        </p:spPr>
        <p:txBody>
          <a:bodyPr wrap="square">
            <a:spAutoFit/>
          </a:bodyPr>
          <a:lstStyle/>
          <a:p>
            <a:pPr algn="ctr">
              <a:defRPr sz="1400" b="1">
                <a:solidFill>
                  <a:srgbClr val="2563EB"/>
                </a:solidFill>
              </a:defRPr>
            </a:pPr>
            <a:r>
              <a:t>6. Post-Process</a:t>
            </a:r>
            <a:br/>
            <a:r>
              <a:t>&amp; Delivery</a:t>
            </a:r>
          </a:p>
        </p:txBody>
      </p:sp>
      <p:sp>
        <p:nvSpPr>
          <p:cNvPr id="27" name="TextBox 26"/>
          <p:cNvSpPr txBox="1"/>
          <p:nvPr/>
        </p:nvSpPr>
        <p:spPr>
          <a:xfrm>
            <a:off x="10149840" y="2286000"/>
            <a:ext cx="1600200" cy="914400"/>
          </a:xfrm>
          <a:prstGeom prst="rect">
            <a:avLst/>
          </a:prstGeom>
          <a:noFill/>
        </p:spPr>
        <p:txBody>
          <a:bodyPr wrap="square">
            <a:spAutoFit/>
          </a:bodyPr>
          <a:lstStyle/>
          <a:p>
            <a:pPr algn="ctr">
              <a:defRPr sz="1100" b="0">
                <a:solidFill>
                  <a:srgbClr val="6B7280"/>
                </a:solidFill>
              </a:defRPr>
            </a:pPr>
            <a:r>
              <a:t>Filtering, merging,</a:t>
            </a:r>
            <a:br/>
            <a:r>
              <a:t>GeoPackage output</a:t>
            </a:r>
          </a:p>
        </p:txBody>
      </p:sp>
      <p:sp>
        <p:nvSpPr>
          <p:cNvPr id="28" name="TextBox 27"/>
          <p:cNvSpPr txBox="1"/>
          <p:nvPr/>
        </p:nvSpPr>
        <p:spPr>
          <a:xfrm>
            <a:off x="731520" y="4114800"/>
            <a:ext cx="10972800" cy="1371600"/>
          </a:xfrm>
          <a:prstGeom prst="rect">
            <a:avLst/>
          </a:prstGeom>
          <a:noFill/>
        </p:spPr>
        <p:txBody>
          <a:bodyPr wrap="square">
            <a:spAutoFit/>
          </a:bodyPr>
          <a:lstStyle/>
          <a:p>
            <a:pPr algn="l">
              <a:defRPr sz="1400" b="0">
                <a:solidFill>
                  <a:srgbClr val="1F2A37"/>
                </a:solidFill>
              </a:defRPr>
            </a:pPr>
            <a:r>
              <a:t>The pipeline handles data at national scale. A single Sentinel-2 tile covers 110 × 110 km at 10m resolution — over 100 million pixels. Our system processes this through tiled inference on 8 NVIDIA H100 GPUs, then stitches results into seamless vector polygons. Each stage is tracked and reproducible.</a:t>
            </a:r>
          </a:p>
        </p:txBody>
      </p:sp>
      <p:sp>
        <p:nvSpPr>
          <p:cNvPr id="29" name="Rounded Rectangle 28"/>
          <p:cNvSpPr/>
          <p:nvPr/>
        </p:nvSpPr>
        <p:spPr>
          <a:xfrm>
            <a:off x="457200" y="5120640"/>
            <a:ext cx="11247120" cy="1463040"/>
          </a:xfrm>
          <a:prstGeom prst="roundRect">
            <a:avLst/>
          </a:prstGeom>
          <a:solidFill>
            <a:srgbClr val="E5E7EB"/>
          </a:solidFill>
          <a:ln w="12700">
            <a:solidFill>
              <a:srgbClr val="D1D5DB"/>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i="1">
                <a:solidFill>
                  <a:srgbClr val="6B7280"/>
                </a:solidFill>
              </a:defRPr>
            </a:pPr>
            <a:r>
              <a:t>Diagram: End-to-end pipeline flow showing data transformations at each stage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7315200" cy="457200"/>
          </a:xfrm>
          <a:prstGeom prst="rect">
            <a:avLst/>
          </a:prstGeom>
          <a:noFill/>
        </p:spPr>
        <p:txBody>
          <a:bodyPr wrap="square">
            <a:spAutoFit/>
          </a:bodyPr>
          <a:lstStyle/>
          <a:p>
            <a:pPr algn="l">
              <a:defRPr sz="3000" b="1">
                <a:solidFill>
                  <a:srgbClr val="1F2A37"/>
                </a:solidFill>
              </a:defRPr>
            </a:pPr>
            <a:r>
              <a:t>Data Acquisition — Satellite Fetcher</a:t>
            </a:r>
          </a:p>
        </p:txBody>
      </p:sp>
      <p:sp>
        <p:nvSpPr>
          <p:cNvPr id="4" name="Rounded Rectangle 3"/>
          <p:cNvSpPr/>
          <p:nvPr/>
        </p:nvSpPr>
        <p:spPr>
          <a:xfrm>
            <a:off x="457200" y="914400"/>
            <a:ext cx="5669280" cy="3200400"/>
          </a:xfrm>
          <a:prstGeom prst="roundRect">
            <a:avLst/>
          </a:prstGeom>
          <a:solidFill>
            <a:srgbClr val="FFFFFF"/>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51560"/>
            <a:ext cx="5029200" cy="365760"/>
          </a:xfrm>
          <a:prstGeom prst="rect">
            <a:avLst/>
          </a:prstGeom>
          <a:noFill/>
        </p:spPr>
        <p:txBody>
          <a:bodyPr wrap="square">
            <a:spAutoFit/>
          </a:bodyPr>
          <a:lstStyle/>
          <a:p>
            <a:pPr algn="l">
              <a:defRPr sz="1800" b="1">
                <a:solidFill>
                  <a:srgbClr val="2563EB"/>
                </a:solidFill>
              </a:defRPr>
            </a:pPr>
            <a:r>
              <a:t>How it works</a:t>
            </a:r>
          </a:p>
        </p:txBody>
      </p:sp>
      <p:sp>
        <p:nvSpPr>
          <p:cNvPr id="6" name="TextBox 5"/>
          <p:cNvSpPr txBox="1"/>
          <p:nvPr/>
        </p:nvSpPr>
        <p:spPr>
          <a:xfrm>
            <a:off x="731520" y="1463040"/>
            <a:ext cx="5212080" cy="2286000"/>
          </a:xfrm>
          <a:prstGeom prst="rect">
            <a:avLst/>
          </a:prstGeom>
          <a:noFill/>
        </p:spPr>
        <p:txBody>
          <a:bodyPr wrap="square">
            <a:spAutoFit/>
          </a:bodyPr>
          <a:lstStyle/>
          <a:p>
            <a:pPr algn="l">
              <a:defRPr sz="1300" b="0">
                <a:solidFill>
                  <a:srgbClr val="1F2A37"/>
                </a:solidFill>
              </a:defRPr>
            </a:pPr>
            <a:r>
              <a:t>Satellite Fetcher is our internal tool that interfaces with the STAC (SpatioTemporal Asset Catalog) API to retrieve Sentinel-2 imagery. It handles spatial queries over regions of interest, filters by date range and cloud cover percentage, and downloads the required spectral bands (RGB, NIR, SWIR).</a:t>
            </a:r>
            <a:br/>
            <a:br/>
            <a:r>
              <a:t>The tool decouples data acquisition from processing, allowing us to swap imagery sources or update temporal ranges without modifying downstream pipeline stages.</a:t>
            </a:r>
          </a:p>
        </p:txBody>
      </p:sp>
      <p:sp>
        <p:nvSpPr>
          <p:cNvPr id="7" name="Rounded Rectangle 6"/>
          <p:cNvSpPr/>
          <p:nvPr/>
        </p:nvSpPr>
        <p:spPr>
          <a:xfrm>
            <a:off x="6400800" y="914400"/>
            <a:ext cx="5486400" cy="3200400"/>
          </a:xfrm>
          <a:prstGeom prst="roundRect">
            <a:avLst/>
          </a:prstGeom>
          <a:solidFill>
            <a:srgbClr val="FFFFFF"/>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1051560"/>
            <a:ext cx="5029200" cy="365760"/>
          </a:xfrm>
          <a:prstGeom prst="rect">
            <a:avLst/>
          </a:prstGeom>
          <a:noFill/>
        </p:spPr>
        <p:txBody>
          <a:bodyPr wrap="square">
            <a:spAutoFit/>
          </a:bodyPr>
          <a:lstStyle/>
          <a:p>
            <a:pPr algn="l">
              <a:defRPr sz="1800" b="1">
                <a:solidFill>
                  <a:srgbClr val="2563EB"/>
                </a:solidFill>
              </a:defRPr>
            </a:pPr>
            <a:r>
              <a:t>Sentinel-2 at a glance</a:t>
            </a:r>
          </a:p>
        </p:txBody>
      </p:sp>
      <p:graphicFrame>
        <p:nvGraphicFramePr>
          <p:cNvPr id="9" name="Table 8"/>
          <p:cNvGraphicFramePr>
            <a:graphicFrameLocks noGrp="1"/>
          </p:cNvGraphicFramePr>
          <p:nvPr/>
        </p:nvGraphicFramePr>
        <p:xfrm>
          <a:off x="6583680" y="1463040"/>
          <a:ext cx="5120640" cy="2286000"/>
        </p:xfrm>
        <a:graphic>
          <a:graphicData uri="http://schemas.openxmlformats.org/drawingml/2006/table">
            <a:tbl>
              <a:tblPr firstRow="1" bandRow="1">
                <a:tableStyleId>{5C22544A-7EE6-4342-B048-85BDC9FD1C3A}</a:tableStyleId>
              </a:tblPr>
              <a:tblGrid>
                <a:gridCol w="1828800"/>
                <a:gridCol w="3291840"/>
              </a:tblGrid>
              <a:tr h="381000">
                <a:tc>
                  <a:txBody>
                    <a:bodyPr/>
                    <a:lstStyle/>
                    <a:p>
                      <a:pPr>
                        <a:defRPr sz="1100" b="1">
                          <a:solidFill>
                            <a:srgbClr val="2563EB"/>
                          </a:solidFill>
                        </a:defRPr>
                      </a:pPr>
                      <a:r>
                        <a:t>Parameter</a:t>
                      </a:r>
                    </a:p>
                  </a:txBody>
                  <a:tcPr>
                    <a:solidFill>
                      <a:srgbClr val="F0F2F5"/>
                    </a:solidFill>
                  </a:tcPr>
                </a:tc>
                <a:tc>
                  <a:txBody>
                    <a:bodyPr/>
                    <a:lstStyle/>
                    <a:p>
                      <a:pPr>
                        <a:defRPr sz="1100" b="1">
                          <a:solidFill>
                            <a:srgbClr val="2563EB"/>
                          </a:solidFill>
                        </a:defRPr>
                      </a:pPr>
                      <a:r>
                        <a:t>Value</a:t>
                      </a:r>
                    </a:p>
                  </a:txBody>
                  <a:tcPr>
                    <a:solidFill>
                      <a:srgbClr val="F0F2F5"/>
                    </a:solidFill>
                  </a:tcPr>
                </a:tc>
              </a:tr>
              <a:tr h="381000">
                <a:tc>
                  <a:txBody>
                    <a:bodyPr/>
                    <a:lstStyle/>
                    <a:p>
                      <a:pPr>
                        <a:defRPr sz="1100">
                          <a:solidFill>
                            <a:srgbClr val="1F2A37"/>
                          </a:solidFill>
                        </a:defRPr>
                      </a:pPr>
                      <a:r>
                        <a:t>Spatial resolution</a:t>
                      </a:r>
                    </a:p>
                  </a:txBody>
                  <a:tcPr>
                    <a:solidFill>
                      <a:srgbClr val="FFFFFF"/>
                    </a:solidFill>
                  </a:tcPr>
                </a:tc>
                <a:tc>
                  <a:txBody>
                    <a:bodyPr/>
                    <a:lstStyle/>
                    <a:p>
                      <a:pPr>
                        <a:defRPr sz="1100">
                          <a:solidFill>
                            <a:srgbClr val="1F2A37"/>
                          </a:solidFill>
                        </a:defRPr>
                      </a:pPr>
                      <a:r>
                        <a:t>10 m (RGB, NIR) / 20 m (SWIR)</a:t>
                      </a:r>
                    </a:p>
                  </a:txBody>
                  <a:tcPr>
                    <a:solidFill>
                      <a:srgbClr val="FFFFFF"/>
                    </a:solidFill>
                  </a:tcPr>
                </a:tc>
              </a:tr>
              <a:tr h="381000">
                <a:tc>
                  <a:txBody>
                    <a:bodyPr/>
                    <a:lstStyle/>
                    <a:p>
                      <a:pPr>
                        <a:defRPr sz="1100">
                          <a:solidFill>
                            <a:srgbClr val="1F2A37"/>
                          </a:solidFill>
                        </a:defRPr>
                      </a:pPr>
                      <a:r>
                        <a:t>Revisit time</a:t>
                      </a:r>
                    </a:p>
                  </a:txBody>
                  <a:tcPr>
                    <a:solidFill>
                      <a:srgbClr val="F0F2F5"/>
                    </a:solidFill>
                  </a:tcPr>
                </a:tc>
                <a:tc>
                  <a:txBody>
                    <a:bodyPr/>
                    <a:lstStyle/>
                    <a:p>
                      <a:pPr>
                        <a:defRPr sz="1100">
                          <a:solidFill>
                            <a:srgbClr val="1F2A37"/>
                          </a:solidFill>
                        </a:defRPr>
                      </a:pPr>
                      <a:r>
                        <a:t>~5 days (twin satellites)</a:t>
                      </a:r>
                    </a:p>
                  </a:txBody>
                  <a:tcPr>
                    <a:solidFill>
                      <a:srgbClr val="F0F2F5"/>
                    </a:solidFill>
                  </a:tcPr>
                </a:tc>
              </a:tr>
              <a:tr h="381000">
                <a:tc>
                  <a:txBody>
                    <a:bodyPr/>
                    <a:lstStyle/>
                    <a:p>
                      <a:pPr>
                        <a:defRPr sz="1100">
                          <a:solidFill>
                            <a:srgbClr val="1F2A37"/>
                          </a:solidFill>
                        </a:defRPr>
                      </a:pPr>
                      <a:r>
                        <a:t>Swath width</a:t>
                      </a:r>
                    </a:p>
                  </a:txBody>
                  <a:tcPr>
                    <a:solidFill>
                      <a:srgbClr val="FFFFFF"/>
                    </a:solidFill>
                  </a:tcPr>
                </a:tc>
                <a:tc>
                  <a:txBody>
                    <a:bodyPr/>
                    <a:lstStyle/>
                    <a:p>
                      <a:pPr>
                        <a:defRPr sz="1100">
                          <a:solidFill>
                            <a:srgbClr val="1F2A37"/>
                          </a:solidFill>
                        </a:defRPr>
                      </a:pPr>
                      <a:r>
                        <a:t>290 km</a:t>
                      </a:r>
                    </a:p>
                  </a:txBody>
                  <a:tcPr>
                    <a:solidFill>
                      <a:srgbClr val="FFFFFF"/>
                    </a:solidFill>
                  </a:tcPr>
                </a:tc>
              </a:tr>
              <a:tr h="381000">
                <a:tc>
                  <a:txBody>
                    <a:bodyPr/>
                    <a:lstStyle/>
                    <a:p>
                      <a:pPr>
                        <a:defRPr sz="1100">
                          <a:solidFill>
                            <a:srgbClr val="1F2A37"/>
                          </a:solidFill>
                        </a:defRPr>
                      </a:pPr>
                      <a:r>
                        <a:t>Spectral bands</a:t>
                      </a:r>
                    </a:p>
                  </a:txBody>
                  <a:tcPr>
                    <a:solidFill>
                      <a:srgbClr val="F0F2F5"/>
                    </a:solidFill>
                  </a:tcPr>
                </a:tc>
                <a:tc>
                  <a:txBody>
                    <a:bodyPr/>
                    <a:lstStyle/>
                    <a:p>
                      <a:pPr>
                        <a:defRPr sz="1100">
                          <a:solidFill>
                            <a:srgbClr val="1F2A37"/>
                          </a:solidFill>
                        </a:defRPr>
                      </a:pPr>
                      <a:r>
                        <a:t>13 bands (443 nm – 2190 nm)</a:t>
                      </a:r>
                    </a:p>
                  </a:txBody>
                  <a:tcPr>
                    <a:solidFill>
                      <a:srgbClr val="F0F2F5"/>
                    </a:solidFill>
                  </a:tcPr>
                </a:tc>
              </a:tr>
              <a:tr h="381000">
                <a:tc>
                  <a:txBody>
                    <a:bodyPr/>
                    <a:lstStyle/>
                    <a:p>
                      <a:pPr>
                        <a:defRPr sz="1100">
                          <a:solidFill>
                            <a:srgbClr val="1F2A37"/>
                          </a:solidFill>
                        </a:defRPr>
                      </a:pPr>
                      <a:r>
                        <a:t>Coverage</a:t>
                      </a:r>
                    </a:p>
                  </a:txBody>
                  <a:tcPr>
                    <a:solidFill>
                      <a:srgbClr val="FFFFFF"/>
                    </a:solidFill>
                  </a:tcPr>
                </a:tc>
                <a:tc>
                  <a:txBody>
                    <a:bodyPr/>
                    <a:lstStyle/>
                    <a:p>
                      <a:pPr>
                        <a:defRPr sz="1100">
                          <a:solidFill>
                            <a:srgbClr val="1F2A37"/>
                          </a:solidFill>
                        </a:defRPr>
                      </a:pPr>
                      <a:r>
                        <a:t>Global land surfaces</a:t>
                      </a:r>
                    </a:p>
                  </a:txBody>
                  <a:tcPr>
                    <a:solidFill>
                      <a:srgbClr val="FFFFFF"/>
                    </a:solidFill>
                  </a:tcPr>
                </a:tc>
              </a:tr>
            </a:tbl>
          </a:graphicData>
        </a:graphic>
      </p:graphicFrame>
      <p:sp>
        <p:nvSpPr>
          <p:cNvPr id="10" name="TextBox 9"/>
          <p:cNvSpPr txBox="1"/>
          <p:nvPr/>
        </p:nvSpPr>
        <p:spPr>
          <a:xfrm>
            <a:off x="731520" y="4297680"/>
            <a:ext cx="10972800" cy="731520"/>
          </a:xfrm>
          <a:prstGeom prst="rect">
            <a:avLst/>
          </a:prstGeom>
          <a:noFill/>
        </p:spPr>
        <p:txBody>
          <a:bodyPr wrap="square">
            <a:spAutoFit/>
          </a:bodyPr>
          <a:lstStyle/>
          <a:p>
            <a:pPr algn="l">
              <a:defRPr sz="1400" b="0">
                <a:solidFill>
                  <a:srgbClr val="6B7280"/>
                </a:solidFill>
              </a:defRPr>
            </a:pPr>
            <a:r>
              <a:t>We download all available scenes for a given region and time window. This typically means 30-60 individual acquisitions per growing season per tile. These raw scenes then feed into the mosaicing stage, which selects the best pixel from each observation.</a:t>
            </a:r>
          </a:p>
        </p:txBody>
      </p:sp>
      <p:sp>
        <p:nvSpPr>
          <p:cNvPr id="11" name="Rounded Rectangle 10"/>
          <p:cNvSpPr/>
          <p:nvPr/>
        </p:nvSpPr>
        <p:spPr>
          <a:xfrm>
            <a:off x="457200" y="5029200"/>
            <a:ext cx="11247120" cy="1554480"/>
          </a:xfrm>
          <a:prstGeom prst="roundRect">
            <a:avLst/>
          </a:prstGeom>
          <a:solidFill>
            <a:srgbClr val="E5E7EB"/>
          </a:solidFill>
          <a:ln w="12700">
            <a:solidFill>
              <a:srgbClr val="D1D5DB"/>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i="1">
                <a:solidFill>
                  <a:srgbClr val="6B7280"/>
                </a:solidFill>
              </a:defRPr>
            </a:pPr>
            <a:r>
              <a:t>Illustration: Satellite Fetcher workflow — satellite icon → STAC API query → download queue → raw Sentinel-2 tiles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9144000" cy="457200"/>
          </a:xfrm>
          <a:prstGeom prst="rect">
            <a:avLst/>
          </a:prstGeom>
          <a:noFill/>
        </p:spPr>
        <p:txBody>
          <a:bodyPr wrap="square">
            <a:spAutoFit/>
          </a:bodyPr>
          <a:lstStyle/>
          <a:p>
            <a:pPr algn="l">
              <a:defRPr sz="3000" b="1">
                <a:solidFill>
                  <a:srgbClr val="1F2A37"/>
                </a:solidFill>
              </a:defRPr>
            </a:pPr>
            <a:r>
              <a:t>Cloudless Mosaics — NDVI Pixel Prioritization</a:t>
            </a:r>
          </a:p>
        </p:txBody>
      </p:sp>
      <p:sp>
        <p:nvSpPr>
          <p:cNvPr id="4" name="Rounded Rectangle 3"/>
          <p:cNvSpPr/>
          <p:nvPr/>
        </p:nvSpPr>
        <p:spPr>
          <a:xfrm>
            <a:off x="457200" y="914400"/>
            <a:ext cx="5303520" cy="2926080"/>
          </a:xfrm>
          <a:prstGeom prst="roundRect">
            <a:avLst/>
          </a:prstGeom>
          <a:solidFill>
            <a:srgbClr val="FFFFFF"/>
          </a:solidFill>
          <a:ln w="9525">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51560"/>
            <a:ext cx="4572000" cy="365760"/>
          </a:xfrm>
          <a:prstGeom prst="rect">
            <a:avLst/>
          </a:prstGeom>
          <a:noFill/>
        </p:spPr>
        <p:txBody>
          <a:bodyPr wrap="square">
            <a:spAutoFit/>
          </a:bodyPr>
          <a:lstStyle/>
          <a:p>
            <a:pPr algn="l">
              <a:defRPr sz="1600" b="1">
                <a:solidFill>
                  <a:srgbClr val="DC2626"/>
                </a:solidFill>
              </a:defRPr>
            </a:pPr>
            <a:r>
              <a:t>The problem: raw scenes</a:t>
            </a:r>
          </a:p>
        </p:txBody>
      </p:sp>
      <p:sp>
        <p:nvSpPr>
          <p:cNvPr id="6" name="TextBox 5"/>
          <p:cNvSpPr txBox="1"/>
          <p:nvPr/>
        </p:nvSpPr>
        <p:spPr>
          <a:xfrm>
            <a:off x="731520" y="1463040"/>
            <a:ext cx="4846320" cy="2286000"/>
          </a:xfrm>
          <a:prstGeom prst="rect">
            <a:avLst/>
          </a:prstGeom>
          <a:noFill/>
        </p:spPr>
        <p:txBody>
          <a:bodyPr wrap="square">
            <a:spAutoFit/>
          </a:bodyPr>
          <a:lstStyle/>
          <a:p>
            <a:pPr algn="l">
              <a:defRPr sz="1300" b="0">
                <a:solidFill>
                  <a:srgbClr val="1F2A37"/>
                </a:solidFill>
              </a:defRPr>
            </a:pPr>
            <a:r>
              <a:t>A single Sentinel-2 acquisition is rarely cloud-free. In tropical regions, cloud cover can exceed 80% on any given date. Even in temperate regions, obtaining a single clean image of an entire tile is uncommon.</a:t>
            </a:r>
            <a:br/>
            <a:br/>
            <a:r>
              <a:t>Additionally, single-date imagery captures only one point in the crop calendar. Fields at different growth stages may look identical, reducing boundary contrast.</a:t>
            </a:r>
          </a:p>
        </p:txBody>
      </p:sp>
      <p:sp>
        <p:nvSpPr>
          <p:cNvPr id="7" name="Rounded Rectangle 6"/>
          <p:cNvSpPr/>
          <p:nvPr/>
        </p:nvSpPr>
        <p:spPr>
          <a:xfrm>
            <a:off x="6217920" y="914400"/>
            <a:ext cx="5669280" cy="2926080"/>
          </a:xfrm>
          <a:prstGeom prst="roundRect">
            <a:avLst/>
          </a:prstGeom>
          <a:solidFill>
            <a:srgbClr val="FFFFFF"/>
          </a:solidFill>
          <a:ln w="9525">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051560"/>
            <a:ext cx="5029200" cy="365760"/>
          </a:xfrm>
          <a:prstGeom prst="rect">
            <a:avLst/>
          </a:prstGeom>
          <a:noFill/>
        </p:spPr>
        <p:txBody>
          <a:bodyPr wrap="square">
            <a:spAutoFit/>
          </a:bodyPr>
          <a:lstStyle/>
          <a:p>
            <a:pPr algn="l">
              <a:defRPr sz="1600" b="1">
                <a:solidFill>
                  <a:srgbClr val="16A34A"/>
                </a:solidFill>
              </a:defRPr>
            </a:pPr>
            <a:r>
              <a:t>Our solution: NDVI-prioritized mosaicing</a:t>
            </a:r>
          </a:p>
        </p:txBody>
      </p:sp>
      <p:sp>
        <p:nvSpPr>
          <p:cNvPr id="9" name="TextBox 8"/>
          <p:cNvSpPr txBox="1"/>
          <p:nvPr/>
        </p:nvSpPr>
        <p:spPr>
          <a:xfrm>
            <a:off x="6492240" y="1463040"/>
            <a:ext cx="5212080" cy="2286000"/>
          </a:xfrm>
          <a:prstGeom prst="rect">
            <a:avLst/>
          </a:prstGeom>
          <a:noFill/>
        </p:spPr>
        <p:txBody>
          <a:bodyPr wrap="square">
            <a:spAutoFit/>
          </a:bodyPr>
          <a:lstStyle/>
          <a:p>
            <a:pPr algn="l">
              <a:defRPr sz="1300" b="0">
                <a:solidFill>
                  <a:srgbClr val="1F2A37"/>
                </a:solidFill>
              </a:defRPr>
            </a:pPr>
            <a:r>
              <a:t>We stack all available scenes from a growing season (typically 30-60 images) and apply a pixel prioritization strategy: for each pixel position, we select the observation with the highest NDVI value.</a:t>
            </a:r>
            <a:br/>
            <a:br/>
            <a:r>
              <a:t>This produces a cloud-free composite that captures peak vegetation for every pixel. The result maximizes contrast between adjacent fields — even those with the same crop — because peak timing varies between parcels.</a:t>
            </a:r>
          </a:p>
        </p:txBody>
      </p:sp>
      <p:sp>
        <p:nvSpPr>
          <p:cNvPr id="10" name="Rounded Rectangle 9"/>
          <p:cNvSpPr/>
          <p:nvPr/>
        </p:nvSpPr>
        <p:spPr>
          <a:xfrm>
            <a:off x="457200" y="4114800"/>
            <a:ext cx="11430000" cy="2468880"/>
          </a:xfrm>
          <a:prstGeom prst="roundRect">
            <a:avLst/>
          </a:prstGeom>
          <a:solidFill>
            <a:srgbClr val="E5E7EB"/>
          </a:solidFill>
          <a:ln w="12700">
            <a:solidFill>
              <a:srgbClr val="D1D5DB"/>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i="1">
                <a:solidFill>
                  <a:srgbClr val="6B7280"/>
                </a:solidFill>
              </a:defRPr>
            </a:pPr>
            <a:r>
              <a:t>Illustration: Before/after — left: cloudy patchy raw image — right: pristine cloud-free mosaic of same area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9144000" cy="457200"/>
          </a:xfrm>
          <a:prstGeom prst="rect">
            <a:avLst/>
          </a:prstGeom>
          <a:noFill/>
        </p:spPr>
        <p:txBody>
          <a:bodyPr wrap="square">
            <a:spAutoFit/>
          </a:bodyPr>
          <a:lstStyle/>
          <a:p>
            <a:pPr algn="l">
              <a:defRPr sz="3000" b="1">
                <a:solidFill>
                  <a:srgbClr val="1F2A37"/>
                </a:solidFill>
              </a:defRPr>
            </a:pPr>
            <a:r>
              <a:t>Super Resolution — sen2sr</a:t>
            </a:r>
          </a:p>
        </p:txBody>
      </p:sp>
      <p:sp>
        <p:nvSpPr>
          <p:cNvPr id="4" name="Rounded Rectangle 3"/>
          <p:cNvSpPr/>
          <p:nvPr/>
        </p:nvSpPr>
        <p:spPr>
          <a:xfrm>
            <a:off x="457200" y="914400"/>
            <a:ext cx="4114800" cy="3200400"/>
          </a:xfrm>
          <a:prstGeom prst="roundRect">
            <a:avLst/>
          </a:prstGeom>
          <a:solidFill>
            <a:srgbClr val="FFFFFF"/>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51560"/>
            <a:ext cx="3657600" cy="365760"/>
          </a:xfrm>
          <a:prstGeom prst="rect">
            <a:avLst/>
          </a:prstGeom>
          <a:noFill/>
        </p:spPr>
        <p:txBody>
          <a:bodyPr wrap="square">
            <a:spAutoFit/>
          </a:bodyPr>
          <a:lstStyle/>
          <a:p>
            <a:pPr algn="l">
              <a:defRPr sz="1600" b="1">
                <a:solidFill>
                  <a:srgbClr val="7C3AED"/>
                </a:solidFill>
              </a:defRPr>
            </a:pPr>
            <a:r>
              <a:t>Technical specifications</a:t>
            </a:r>
          </a:p>
        </p:txBody>
      </p:sp>
      <p:graphicFrame>
        <p:nvGraphicFramePr>
          <p:cNvPr id="6" name="Table 5"/>
          <p:cNvGraphicFramePr>
            <a:graphicFrameLocks noGrp="1"/>
          </p:cNvGraphicFramePr>
          <p:nvPr/>
        </p:nvGraphicFramePr>
        <p:xfrm>
          <a:off x="640080" y="1463040"/>
          <a:ext cx="3657600" cy="2468880"/>
        </p:xfrm>
        <a:graphic>
          <a:graphicData uri="http://schemas.openxmlformats.org/drawingml/2006/table">
            <a:tbl>
              <a:tblPr firstRow="1" bandRow="1">
                <a:tableStyleId>{5C22544A-7EE6-4342-B048-85BDC9FD1C3A}</a:tableStyleId>
              </a:tblPr>
              <a:tblGrid>
                <a:gridCol w="1645920"/>
                <a:gridCol w="2011680"/>
              </a:tblGrid>
              <a:tr h="352697">
                <a:tc>
                  <a:txBody>
                    <a:bodyPr/>
                    <a:lstStyle/>
                    <a:p>
                      <a:pPr>
                        <a:defRPr sz="1100" b="1">
                          <a:solidFill>
                            <a:srgbClr val="2563EB"/>
                          </a:solidFill>
                        </a:defRPr>
                      </a:pPr>
                      <a:r>
                        <a:t>Parameter</a:t>
                      </a:r>
                    </a:p>
                  </a:txBody>
                  <a:tcPr>
                    <a:solidFill>
                      <a:srgbClr val="F0F2F5"/>
                    </a:solidFill>
                  </a:tcPr>
                </a:tc>
                <a:tc>
                  <a:txBody>
                    <a:bodyPr/>
                    <a:lstStyle/>
                    <a:p>
                      <a:pPr>
                        <a:defRPr sz="1100" b="1">
                          <a:solidFill>
                            <a:srgbClr val="2563EB"/>
                          </a:solidFill>
                        </a:defRPr>
                      </a:pPr>
                      <a:r>
                        <a:t>Value</a:t>
                      </a:r>
                    </a:p>
                  </a:txBody>
                  <a:tcPr>
                    <a:solidFill>
                      <a:srgbClr val="F0F2F5"/>
                    </a:solidFill>
                  </a:tcPr>
                </a:tc>
              </a:tr>
              <a:tr h="352697">
                <a:tc>
                  <a:txBody>
                    <a:bodyPr/>
                    <a:lstStyle/>
                    <a:p>
                      <a:pPr>
                        <a:defRPr sz="1100">
                          <a:solidFill>
                            <a:srgbClr val="1F2A37"/>
                          </a:solidFill>
                        </a:defRPr>
                      </a:pPr>
                      <a:r>
                        <a:t>Library</a:t>
                      </a:r>
                    </a:p>
                  </a:txBody>
                  <a:tcPr>
                    <a:solidFill>
                      <a:srgbClr val="FFFFFF"/>
                    </a:solidFill>
                  </a:tcPr>
                </a:tc>
                <a:tc>
                  <a:txBody>
                    <a:bodyPr/>
                    <a:lstStyle/>
                    <a:p>
                      <a:pPr>
                        <a:defRPr sz="1100">
                          <a:solidFill>
                            <a:srgbClr val="1F2A37"/>
                          </a:solidFill>
                        </a:defRPr>
                      </a:pPr>
                      <a:r>
                        <a:t>sen2sr</a:t>
                      </a:r>
                    </a:p>
                  </a:txBody>
                  <a:tcPr>
                    <a:solidFill>
                      <a:srgbClr val="FFFFFF"/>
                    </a:solidFill>
                  </a:tcPr>
                </a:tc>
              </a:tr>
              <a:tr h="352697">
                <a:tc>
                  <a:txBody>
                    <a:bodyPr/>
                    <a:lstStyle/>
                    <a:p>
                      <a:pPr>
                        <a:defRPr sz="1100">
                          <a:solidFill>
                            <a:srgbClr val="1F2A37"/>
                          </a:solidFill>
                        </a:defRPr>
                      </a:pPr>
                      <a:r>
                        <a:t>Input bands</a:t>
                      </a:r>
                    </a:p>
                  </a:txBody>
                  <a:tcPr>
                    <a:solidFill>
                      <a:srgbClr val="F0F2F5"/>
                    </a:solidFill>
                  </a:tcPr>
                </a:tc>
                <a:tc>
                  <a:txBody>
                    <a:bodyPr/>
                    <a:lstStyle/>
                    <a:p>
                      <a:pPr>
                        <a:defRPr sz="1100">
                          <a:solidFill>
                            <a:srgbClr val="1F2A37"/>
                          </a:solidFill>
                        </a:defRPr>
                      </a:pPr>
                      <a:r>
                        <a:t>RGB + NIR (4 channels)</a:t>
                      </a:r>
                    </a:p>
                  </a:txBody>
                  <a:tcPr>
                    <a:solidFill>
                      <a:srgbClr val="F0F2F5"/>
                    </a:solidFill>
                  </a:tcPr>
                </a:tc>
              </a:tr>
              <a:tr h="352697">
                <a:tc>
                  <a:txBody>
                    <a:bodyPr/>
                    <a:lstStyle/>
                    <a:p>
                      <a:pPr>
                        <a:defRPr sz="1100">
                          <a:solidFill>
                            <a:srgbClr val="1F2A37"/>
                          </a:solidFill>
                        </a:defRPr>
                      </a:pPr>
                      <a:r>
                        <a:t>Scale factor</a:t>
                      </a:r>
                    </a:p>
                  </a:txBody>
                  <a:tcPr>
                    <a:solidFill>
                      <a:srgbClr val="FFFFFF"/>
                    </a:solidFill>
                  </a:tcPr>
                </a:tc>
                <a:tc>
                  <a:txBody>
                    <a:bodyPr/>
                    <a:lstStyle/>
                    <a:p>
                      <a:pPr>
                        <a:defRPr sz="1100">
                          <a:solidFill>
                            <a:srgbClr val="1F2A37"/>
                          </a:solidFill>
                        </a:defRPr>
                      </a:pPr>
                      <a:r>
                        <a:t>x4</a:t>
                      </a:r>
                    </a:p>
                  </a:txBody>
                  <a:tcPr>
                    <a:solidFill>
                      <a:srgbClr val="FFFFFF"/>
                    </a:solidFill>
                  </a:tcPr>
                </a:tc>
              </a:tr>
              <a:tr h="352697">
                <a:tc>
                  <a:txBody>
                    <a:bodyPr/>
                    <a:lstStyle/>
                    <a:p>
                      <a:pPr>
                        <a:defRPr sz="1100">
                          <a:solidFill>
                            <a:srgbClr val="1F2A37"/>
                          </a:solidFill>
                        </a:defRPr>
                      </a:pPr>
                      <a:r>
                        <a:t>Input resolution</a:t>
                      </a:r>
                    </a:p>
                  </a:txBody>
                  <a:tcPr>
                    <a:solidFill>
                      <a:srgbClr val="F0F2F5"/>
                    </a:solidFill>
                  </a:tcPr>
                </a:tc>
                <a:tc>
                  <a:txBody>
                    <a:bodyPr/>
                    <a:lstStyle/>
                    <a:p>
                      <a:pPr>
                        <a:defRPr sz="1100">
                          <a:solidFill>
                            <a:srgbClr val="1F2A37"/>
                          </a:solidFill>
                        </a:defRPr>
                      </a:pPr>
                      <a:r>
                        <a:t>10 m/pixel</a:t>
                      </a:r>
                    </a:p>
                  </a:txBody>
                  <a:tcPr>
                    <a:solidFill>
                      <a:srgbClr val="F0F2F5"/>
                    </a:solidFill>
                  </a:tcPr>
                </a:tc>
              </a:tr>
              <a:tr h="352697">
                <a:tc>
                  <a:txBody>
                    <a:bodyPr/>
                    <a:lstStyle/>
                    <a:p>
                      <a:pPr>
                        <a:defRPr sz="1100">
                          <a:solidFill>
                            <a:srgbClr val="1F2A37"/>
                          </a:solidFill>
                        </a:defRPr>
                      </a:pPr>
                      <a:r>
                        <a:t>Output resolution</a:t>
                      </a:r>
                    </a:p>
                  </a:txBody>
                  <a:tcPr>
                    <a:solidFill>
                      <a:srgbClr val="FFFFFF"/>
                    </a:solidFill>
                  </a:tcPr>
                </a:tc>
                <a:tc>
                  <a:txBody>
                    <a:bodyPr/>
                    <a:lstStyle/>
                    <a:p>
                      <a:pPr>
                        <a:defRPr sz="1100">
                          <a:solidFill>
                            <a:srgbClr val="1F2A37"/>
                          </a:solidFill>
                        </a:defRPr>
                      </a:pPr>
                      <a:r>
                        <a:t>2.5 m/pixel</a:t>
                      </a:r>
                    </a:p>
                  </a:txBody>
                  <a:tcPr>
                    <a:solidFill>
                      <a:srgbClr val="FFFFFF"/>
                    </a:solidFill>
                  </a:tcPr>
                </a:tc>
              </a:tr>
              <a:tr h="352698">
                <a:tc>
                  <a:txBody>
                    <a:bodyPr/>
                    <a:lstStyle/>
                    <a:p>
                      <a:pPr>
                        <a:defRPr sz="1100">
                          <a:solidFill>
                            <a:srgbClr val="1F2A37"/>
                          </a:solidFill>
                        </a:defRPr>
                      </a:pPr>
                      <a:r>
                        <a:t>GPU acceleration</a:t>
                      </a:r>
                    </a:p>
                  </a:txBody>
                  <a:tcPr>
                    <a:solidFill>
                      <a:srgbClr val="F0F2F5"/>
                    </a:solidFill>
                  </a:tcPr>
                </a:tc>
                <a:tc>
                  <a:txBody>
                    <a:bodyPr/>
                    <a:lstStyle/>
                    <a:p>
                      <a:pPr>
                        <a:defRPr sz="1100">
                          <a:solidFill>
                            <a:srgbClr val="1F2A37"/>
                          </a:solidFill>
                        </a:defRPr>
                      </a:pPr>
                      <a:r>
                        <a:t>Yes</a:t>
                      </a:r>
                    </a:p>
                  </a:txBody>
                  <a:tcPr>
                    <a:solidFill>
                      <a:srgbClr val="F0F2F5"/>
                    </a:solidFill>
                  </a:tcPr>
                </a:tc>
              </a:tr>
            </a:tbl>
          </a:graphicData>
        </a:graphic>
      </p:graphicFrame>
      <p:sp>
        <p:nvSpPr>
          <p:cNvPr id="7" name="Rounded Rectangle 6"/>
          <p:cNvSpPr/>
          <p:nvPr/>
        </p:nvSpPr>
        <p:spPr>
          <a:xfrm>
            <a:off x="4846320" y="914400"/>
            <a:ext cx="7040880" cy="3200400"/>
          </a:xfrm>
          <a:prstGeom prst="roundRect">
            <a:avLst/>
          </a:prstGeom>
          <a:solidFill>
            <a:srgbClr val="FFFFFF"/>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20640" y="1051560"/>
            <a:ext cx="6400800" cy="365760"/>
          </a:xfrm>
          <a:prstGeom prst="rect">
            <a:avLst/>
          </a:prstGeom>
          <a:noFill/>
        </p:spPr>
        <p:txBody>
          <a:bodyPr wrap="square">
            <a:spAutoFit/>
          </a:bodyPr>
          <a:lstStyle/>
          <a:p>
            <a:pPr algn="l">
              <a:defRPr sz="1600" b="1">
                <a:solidFill>
                  <a:srgbClr val="7C3AED"/>
                </a:solidFill>
              </a:defRPr>
            </a:pPr>
            <a:r>
              <a:t>Why this matters for field delineation</a:t>
            </a:r>
          </a:p>
        </p:txBody>
      </p:sp>
      <p:sp>
        <p:nvSpPr>
          <p:cNvPr id="9" name="TextBox 8"/>
          <p:cNvSpPr txBox="1"/>
          <p:nvPr/>
        </p:nvSpPr>
        <p:spPr>
          <a:xfrm>
            <a:off x="5120640" y="1463040"/>
            <a:ext cx="6583680" cy="2560320"/>
          </a:xfrm>
          <a:prstGeom prst="rect">
            <a:avLst/>
          </a:prstGeom>
          <a:noFill/>
        </p:spPr>
        <p:txBody>
          <a:bodyPr wrap="square">
            <a:spAutoFit/>
          </a:bodyPr>
          <a:lstStyle/>
          <a:p>
            <a:pPr algn="l">
              <a:defRPr sz="1200" b="0">
                <a:solidFill>
                  <a:srgbClr val="1F2A37"/>
                </a:solidFill>
              </a:defRPr>
            </a:pPr>
            <a:r>
              <a:t>At native 10m resolution, each pixel covers 100 m². Field boundaries are typically 1-2 pixels wide, creating "mixed pixels" where two fields blend into one value. This makes precise boundary detection extremely difficult.</a:t>
            </a:r>
            <a:br/>
            <a:br/>
            <a:r>
              <a:t>After x4 super resolution, the same boundary spans 4-8 pixels at 2.5m, providing the segmentation model with clear edges to trace. This is especially critical for smallholder agriculture, where fields may be only 20-30 meters across — just 2-3 pixels at 10m, but 8-12 pixels at 2.5m.</a:t>
            </a:r>
            <a:br/>
            <a:br/>
            <a:r>
              <a:t>The sen2sr model is trained specifically on Sentinel-2 imagery using RGB and NIR bands, so the enhancement is spectrally aware and preserves vegetation signatures.</a:t>
            </a:r>
          </a:p>
        </p:txBody>
      </p:sp>
      <p:sp>
        <p:nvSpPr>
          <p:cNvPr id="10" name="Rounded Rectangle 9"/>
          <p:cNvSpPr/>
          <p:nvPr/>
        </p:nvSpPr>
        <p:spPr>
          <a:xfrm>
            <a:off x="457200" y="4389120"/>
            <a:ext cx="11430000" cy="2194560"/>
          </a:xfrm>
          <a:prstGeom prst="roundRect">
            <a:avLst/>
          </a:prstGeom>
          <a:solidFill>
            <a:srgbClr val="E5E7EB"/>
          </a:solidFill>
          <a:ln w="12700">
            <a:solidFill>
              <a:srgbClr val="D1D5DB"/>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i="1">
                <a:solidFill>
                  <a:srgbClr val="6B7280"/>
                </a:solidFill>
              </a:defRPr>
            </a:pPr>
            <a:r>
              <a:t>Example: Super-resolution transformation — Left: 10m pixelated boundaries — Right: 2.5m sharp enhanced boundaries on same agricultural area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9144000" cy="457200"/>
          </a:xfrm>
          <a:prstGeom prst="rect">
            <a:avLst/>
          </a:prstGeom>
          <a:noFill/>
        </p:spPr>
        <p:txBody>
          <a:bodyPr wrap="square">
            <a:spAutoFit/>
          </a:bodyPr>
          <a:lstStyle/>
          <a:p>
            <a:pPr algn="l">
              <a:defRPr sz="3000" b="1">
                <a:solidFill>
                  <a:srgbClr val="1F2A37"/>
                </a:solidFill>
              </a:defRPr>
            </a:pPr>
            <a:r>
              <a:t>LCLU Masking — Google Earth Engine</a:t>
            </a:r>
          </a:p>
        </p:txBody>
      </p:sp>
      <p:sp>
        <p:nvSpPr>
          <p:cNvPr id="4" name="Rounded Rectangle 3"/>
          <p:cNvSpPr/>
          <p:nvPr/>
        </p:nvSpPr>
        <p:spPr>
          <a:xfrm>
            <a:off x="457200" y="914400"/>
            <a:ext cx="5669280" cy="2560320"/>
          </a:xfrm>
          <a:prstGeom prst="roundRect">
            <a:avLst/>
          </a:prstGeom>
          <a:solidFill>
            <a:srgbClr val="FFFFFF"/>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51560"/>
            <a:ext cx="5029200" cy="365760"/>
          </a:xfrm>
          <a:prstGeom prst="rect">
            <a:avLst/>
          </a:prstGeom>
          <a:noFill/>
        </p:spPr>
        <p:txBody>
          <a:bodyPr wrap="square">
            <a:spAutoFit/>
          </a:bodyPr>
          <a:lstStyle/>
          <a:p>
            <a:pPr algn="l">
              <a:defRPr sz="1600" b="1">
                <a:solidFill>
                  <a:srgbClr val="EA580C"/>
                </a:solidFill>
              </a:defRPr>
            </a:pPr>
            <a:r>
              <a:t>Two datasets per year</a:t>
            </a:r>
          </a:p>
        </p:txBody>
      </p:sp>
      <p:sp>
        <p:nvSpPr>
          <p:cNvPr id="6" name="TextBox 5"/>
          <p:cNvSpPr txBox="1"/>
          <p:nvPr/>
        </p:nvSpPr>
        <p:spPr>
          <a:xfrm>
            <a:off x="731520" y="1463040"/>
            <a:ext cx="5303520" cy="1828800"/>
          </a:xfrm>
          <a:prstGeom prst="rect">
            <a:avLst/>
          </a:prstGeom>
          <a:noFill/>
        </p:spPr>
        <p:txBody>
          <a:bodyPr wrap="square">
            <a:spAutoFit/>
          </a:bodyPr>
          <a:lstStyle/>
          <a:p>
            <a:pPr algn="l">
              <a:defRPr sz="1200" b="0">
                <a:solidFill>
                  <a:srgbClr val="1F2A37"/>
                </a:solidFill>
              </a:defRPr>
            </a:pPr>
            <a:r>
              <a:t>We download LCLU data from Google Earth Engine and generate two classification maps per year:</a:t>
            </a:r>
            <a:br/>
            <a:br/>
            <a:r>
              <a:t>1. Seasonal LCLU — aligned with natural seasons (spring, summer, autumn, winter), capturing natural vegetation dynamics.</a:t>
            </a:r>
            <a:br/>
            <a:br/>
            <a:r>
              <a:t>2. Agricultural LCLU — aligned with human agricultural calendars, mainly driven by irrigation cycles. This captures crop-specific patterns that don't follow natural seasons.</a:t>
            </a:r>
          </a:p>
        </p:txBody>
      </p:sp>
      <p:sp>
        <p:nvSpPr>
          <p:cNvPr id="7" name="Rounded Rectangle 6"/>
          <p:cNvSpPr/>
          <p:nvPr/>
        </p:nvSpPr>
        <p:spPr>
          <a:xfrm>
            <a:off x="6400800" y="914400"/>
            <a:ext cx="5486400" cy="2560320"/>
          </a:xfrm>
          <a:prstGeom prst="roundRect">
            <a:avLst/>
          </a:prstGeom>
          <a:solidFill>
            <a:srgbClr val="FFFFFF"/>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1051560"/>
            <a:ext cx="5029200" cy="365760"/>
          </a:xfrm>
          <a:prstGeom prst="rect">
            <a:avLst/>
          </a:prstGeom>
          <a:noFill/>
        </p:spPr>
        <p:txBody>
          <a:bodyPr wrap="square">
            <a:spAutoFit/>
          </a:bodyPr>
          <a:lstStyle/>
          <a:p>
            <a:pPr algn="l">
              <a:defRPr sz="1600" b="1">
                <a:solidFill>
                  <a:srgbClr val="EA580C"/>
                </a:solidFill>
              </a:defRPr>
            </a:pPr>
            <a:r>
              <a:t>Three masking roles</a:t>
            </a:r>
          </a:p>
        </p:txBody>
      </p:sp>
      <p:sp>
        <p:nvSpPr>
          <p:cNvPr id="9" name="TextBox 8"/>
          <p:cNvSpPr txBox="1"/>
          <p:nvPr/>
        </p:nvSpPr>
        <p:spPr>
          <a:xfrm>
            <a:off x="6675120" y="1463040"/>
            <a:ext cx="5029200" cy="1828800"/>
          </a:xfrm>
          <a:prstGeom prst="rect">
            <a:avLst/>
          </a:prstGeom>
          <a:noFill/>
        </p:spPr>
        <p:txBody>
          <a:bodyPr wrap="square">
            <a:spAutoFit/>
          </a:bodyPr>
          <a:lstStyle/>
          <a:p>
            <a:pPr algn="l">
              <a:defRPr sz="1200" b="0">
                <a:solidFill>
                  <a:srgbClr val="1F2A37"/>
                </a:solidFill>
              </a:defRPr>
            </a:pPr>
            <a:r>
              <a:t>The 9-class LCLU map serves three roles in our pipeline:</a:t>
            </a:r>
            <a:br/>
            <a:br/>
            <a:r>
              <a:t>Clip classes (Water, Built area, Snow/Ice): create hard boundaries. If a predicted field polygon extends into water, it is clipped at the water edge.</a:t>
            </a:r>
            <a:br/>
            <a:br/>
            <a:r>
              <a:t>Filter classes: polygons falling entirely within these areas are removed.</a:t>
            </a:r>
            <a:br/>
            <a:br/>
            <a:r>
              <a:t>Background fill (Trees, Grass, Shrub, Bare ground): painted as non-field areas, helping the polygonizer distinguish real fields from model noise.</a:t>
            </a:r>
          </a:p>
        </p:txBody>
      </p:sp>
      <p:graphicFrame>
        <p:nvGraphicFramePr>
          <p:cNvPr id="10" name="Table 9"/>
          <p:cNvGraphicFramePr>
            <a:graphicFrameLocks noGrp="1"/>
          </p:cNvGraphicFramePr>
          <p:nvPr/>
        </p:nvGraphicFramePr>
        <p:xfrm>
          <a:off x="457200" y="3749039"/>
          <a:ext cx="7315200" cy="1371600"/>
        </p:xfrm>
        <a:graphic>
          <a:graphicData uri="http://schemas.openxmlformats.org/drawingml/2006/table">
            <a:tbl>
              <a:tblPr firstRow="1" bandRow="1">
                <a:tableStyleId>{5C22544A-7EE6-4342-B048-85BDC9FD1C3A}</a:tableStyleId>
              </a:tblPr>
              <a:tblGrid>
                <a:gridCol w="1371600"/>
                <a:gridCol w="3200400"/>
                <a:gridCol w="2743200"/>
              </a:tblGrid>
              <a:tr h="342900">
                <a:tc>
                  <a:txBody>
                    <a:bodyPr/>
                    <a:lstStyle/>
                    <a:p>
                      <a:pPr>
                        <a:defRPr sz="1100" b="1">
                          <a:solidFill>
                            <a:srgbClr val="2563EB"/>
                          </a:solidFill>
                        </a:defRPr>
                      </a:pPr>
                      <a:r>
                        <a:t>Role</a:t>
                      </a:r>
                    </a:p>
                  </a:txBody>
                  <a:tcPr>
                    <a:solidFill>
                      <a:srgbClr val="F0F2F5"/>
                    </a:solidFill>
                  </a:tcPr>
                </a:tc>
                <a:tc>
                  <a:txBody>
                    <a:bodyPr/>
                    <a:lstStyle/>
                    <a:p>
                      <a:pPr>
                        <a:defRPr sz="1100" b="1">
                          <a:solidFill>
                            <a:srgbClr val="2563EB"/>
                          </a:solidFill>
                        </a:defRPr>
                      </a:pPr>
                      <a:r>
                        <a:t>Classes</a:t>
                      </a:r>
                    </a:p>
                  </a:txBody>
                  <a:tcPr>
                    <a:solidFill>
                      <a:srgbClr val="F0F2F5"/>
                    </a:solidFill>
                  </a:tcPr>
                </a:tc>
                <a:tc>
                  <a:txBody>
                    <a:bodyPr/>
                    <a:lstStyle/>
                    <a:p>
                      <a:pPr>
                        <a:defRPr sz="1100" b="1">
                          <a:solidFill>
                            <a:srgbClr val="2563EB"/>
                          </a:solidFill>
                        </a:defRPr>
                      </a:pPr>
                      <a:r>
                        <a:t>Effect</a:t>
                      </a:r>
                    </a:p>
                  </a:txBody>
                  <a:tcPr>
                    <a:solidFill>
                      <a:srgbClr val="F0F2F5"/>
                    </a:solidFill>
                  </a:tcPr>
                </a:tc>
              </a:tr>
              <a:tr h="342900">
                <a:tc>
                  <a:txBody>
                    <a:bodyPr/>
                    <a:lstStyle/>
                    <a:p>
                      <a:pPr>
                        <a:defRPr sz="1100">
                          <a:solidFill>
                            <a:srgbClr val="1F2A37"/>
                          </a:solidFill>
                        </a:defRPr>
                      </a:pPr>
                      <a:r>
                        <a:t>Target</a:t>
                      </a:r>
                    </a:p>
                  </a:txBody>
                  <a:tcPr>
                    <a:solidFill>
                      <a:srgbClr val="FFFFFF"/>
                    </a:solidFill>
                  </a:tcPr>
                </a:tc>
                <a:tc>
                  <a:txBody>
                    <a:bodyPr/>
                    <a:lstStyle/>
                    <a:p>
                      <a:pPr>
                        <a:defRPr sz="1100">
                          <a:solidFill>
                            <a:srgbClr val="1F2A37"/>
                          </a:solidFill>
                        </a:defRPr>
                      </a:pPr>
                      <a:r>
                        <a:t>Crops (4)</a:t>
                      </a:r>
                    </a:p>
                  </a:txBody>
                  <a:tcPr>
                    <a:solidFill>
                      <a:srgbClr val="FFFFFF"/>
                    </a:solidFill>
                  </a:tcPr>
                </a:tc>
                <a:tc>
                  <a:txBody>
                    <a:bodyPr/>
                    <a:lstStyle/>
                    <a:p>
                      <a:pPr>
                        <a:defRPr sz="1100">
                          <a:solidFill>
                            <a:srgbClr val="1F2A37"/>
                          </a:solidFill>
                        </a:defRPr>
                      </a:pPr>
                      <a:r>
                        <a:t>Area where fields are detected</a:t>
                      </a:r>
                    </a:p>
                  </a:txBody>
                  <a:tcPr>
                    <a:solidFill>
                      <a:srgbClr val="FFFFFF"/>
                    </a:solidFill>
                  </a:tcPr>
                </a:tc>
              </a:tr>
              <a:tr h="342900">
                <a:tc>
                  <a:txBody>
                    <a:bodyPr/>
                    <a:lstStyle/>
                    <a:p>
                      <a:pPr>
                        <a:defRPr sz="1100">
                          <a:solidFill>
                            <a:srgbClr val="1F2A37"/>
                          </a:solidFill>
                        </a:defRPr>
                      </a:pPr>
                      <a:r>
                        <a:t>Clip</a:t>
                      </a:r>
                    </a:p>
                  </a:txBody>
                  <a:tcPr>
                    <a:solidFill>
                      <a:srgbClr val="F0F2F5"/>
                    </a:solidFill>
                  </a:tcPr>
                </a:tc>
                <a:tc>
                  <a:txBody>
                    <a:bodyPr/>
                    <a:lstStyle/>
                    <a:p>
                      <a:pPr>
                        <a:defRPr sz="1100">
                          <a:solidFill>
                            <a:srgbClr val="1F2A37"/>
                          </a:solidFill>
                        </a:defRPr>
                      </a:pPr>
                      <a:r>
                        <a:t>Water (0), Built (6), Snow (8)</a:t>
                      </a:r>
                    </a:p>
                  </a:txBody>
                  <a:tcPr>
                    <a:solidFill>
                      <a:srgbClr val="F0F2F5"/>
                    </a:solidFill>
                  </a:tcPr>
                </a:tc>
                <a:tc>
                  <a:txBody>
                    <a:bodyPr/>
                    <a:lstStyle/>
                    <a:p>
                      <a:pPr>
                        <a:defRPr sz="1100">
                          <a:solidFill>
                            <a:srgbClr val="1F2A37"/>
                          </a:solidFill>
                        </a:defRPr>
                      </a:pPr>
                      <a:r>
                        <a:t>Hard boundary constraint</a:t>
                      </a:r>
                    </a:p>
                  </a:txBody>
                  <a:tcPr>
                    <a:solidFill>
                      <a:srgbClr val="F0F2F5"/>
                    </a:solidFill>
                  </a:tcPr>
                </a:tc>
              </a:tr>
              <a:tr h="342900">
                <a:tc>
                  <a:txBody>
                    <a:bodyPr/>
                    <a:lstStyle/>
                    <a:p>
                      <a:pPr>
                        <a:defRPr sz="1100">
                          <a:solidFill>
                            <a:srgbClr val="1F2A37"/>
                          </a:solidFill>
                        </a:defRPr>
                      </a:pPr>
                      <a:r>
                        <a:t>Background</a:t>
                      </a:r>
                    </a:p>
                  </a:txBody>
                  <a:tcPr>
                    <a:solidFill>
                      <a:srgbClr val="FFFFFF"/>
                    </a:solidFill>
                  </a:tcPr>
                </a:tc>
                <a:tc>
                  <a:txBody>
                    <a:bodyPr/>
                    <a:lstStyle/>
                    <a:p>
                      <a:pPr>
                        <a:defRPr sz="1100">
                          <a:solidFill>
                            <a:srgbClr val="1F2A37"/>
                          </a:solidFill>
                        </a:defRPr>
                      </a:pPr>
                      <a:r>
                        <a:t>Trees, Grass, Shrub, Bare, Flooded</a:t>
                      </a:r>
                    </a:p>
                  </a:txBody>
                  <a:tcPr>
                    <a:solidFill>
                      <a:srgbClr val="FFFFFF"/>
                    </a:solidFill>
                  </a:tcPr>
                </a:tc>
                <a:tc>
                  <a:txBody>
                    <a:bodyPr/>
                    <a:lstStyle/>
                    <a:p>
                      <a:pPr>
                        <a:defRPr sz="1100">
                          <a:solidFill>
                            <a:srgbClr val="1F2A37"/>
                          </a:solidFill>
                        </a:defRPr>
                      </a:pPr>
                      <a:r>
                        <a:t>Non-field gap filling</a:t>
                      </a:r>
                    </a:p>
                  </a:txBody>
                  <a:tcPr>
                    <a:solidFill>
                      <a:srgbClr val="FFFFFF"/>
                    </a:solidFill>
                  </a:tcPr>
                </a:tc>
              </a:tr>
            </a:tbl>
          </a:graphicData>
        </a:graphic>
      </p:graphicFrame>
      <p:sp>
        <p:nvSpPr>
          <p:cNvPr id="11" name="Rounded Rectangle 10"/>
          <p:cNvSpPr/>
          <p:nvPr/>
        </p:nvSpPr>
        <p:spPr>
          <a:xfrm>
            <a:off x="8046720" y="3749039"/>
            <a:ext cx="3840480" cy="2834640"/>
          </a:xfrm>
          <a:prstGeom prst="roundRect">
            <a:avLst/>
          </a:prstGeom>
          <a:solidFill>
            <a:srgbClr val="E5E7EB"/>
          </a:solidFill>
          <a:ln w="12700">
            <a:solidFill>
              <a:srgbClr val="D1D5DB"/>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i="1">
                <a:solidFill>
                  <a:srgbClr val="6B7280"/>
                </a:solidFill>
              </a:defRPr>
            </a:pPr>
            <a:r>
              <a:t>Illustration: LCLU classification map with distinct colors per class</a:t>
            </a:r>
          </a:p>
        </p:txBody>
      </p:sp>
      <p:sp>
        <p:nvSpPr>
          <p:cNvPr id="12" name="TextBox 11"/>
          <p:cNvSpPr txBox="1"/>
          <p:nvPr/>
        </p:nvSpPr>
        <p:spPr>
          <a:xfrm>
            <a:off x="731520" y="5303520"/>
            <a:ext cx="6858000" cy="914400"/>
          </a:xfrm>
          <a:prstGeom prst="rect">
            <a:avLst/>
          </a:prstGeom>
          <a:noFill/>
        </p:spPr>
        <p:txBody>
          <a:bodyPr wrap="square">
            <a:spAutoFit/>
          </a:bodyPr>
          <a:lstStyle/>
          <a:p>
            <a:pPr algn="l">
              <a:defRPr sz="1300" b="0">
                <a:solidFill>
                  <a:srgbClr val="6B7280"/>
                </a:solidFill>
              </a:defRPr>
            </a:pPr>
            <a:r>
              <a:t>Masking reduces computation by skipping non-agricultural areas and reduces false positives by constraining the model to known cropland.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9144000" cy="457200"/>
          </a:xfrm>
          <a:prstGeom prst="rect">
            <a:avLst/>
          </a:prstGeom>
          <a:noFill/>
        </p:spPr>
        <p:txBody>
          <a:bodyPr wrap="square">
            <a:spAutoFit/>
          </a:bodyPr>
          <a:lstStyle/>
          <a:p>
            <a:pPr algn="l">
              <a:defRPr sz="3000" b="1">
                <a:solidFill>
                  <a:srgbClr val="1F2A37"/>
                </a:solidFill>
              </a:defRPr>
            </a:pPr>
            <a:r>
              <a:t>Model Architectures</a:t>
            </a:r>
          </a:p>
        </p:txBody>
      </p:sp>
      <p:sp>
        <p:nvSpPr>
          <p:cNvPr id="4" name="TextBox 3"/>
          <p:cNvSpPr txBox="1"/>
          <p:nvPr/>
        </p:nvSpPr>
        <p:spPr>
          <a:xfrm>
            <a:off x="731520" y="640080"/>
            <a:ext cx="10972800" cy="365760"/>
          </a:xfrm>
          <a:prstGeom prst="rect">
            <a:avLst/>
          </a:prstGeom>
          <a:noFill/>
        </p:spPr>
        <p:txBody>
          <a:bodyPr wrap="square">
            <a:spAutoFit/>
          </a:bodyPr>
          <a:lstStyle/>
          <a:p>
            <a:pPr algn="l">
              <a:defRPr sz="1400" b="0">
                <a:solidFill>
                  <a:srgbClr val="6B7280"/>
                </a:solidFill>
              </a:defRPr>
            </a:pPr>
            <a:r>
              <a:t>We used two architectures at different stages of the project. Each has distinct strengths.</a:t>
            </a:r>
          </a:p>
        </p:txBody>
      </p:sp>
      <p:sp>
        <p:nvSpPr>
          <p:cNvPr id="5" name="Rounded Rectangle 4"/>
          <p:cNvSpPr/>
          <p:nvPr/>
        </p:nvSpPr>
        <p:spPr>
          <a:xfrm>
            <a:off x="457200" y="1188720"/>
            <a:ext cx="5303520" cy="3657600"/>
          </a:xfrm>
          <a:prstGeom prst="roundRect">
            <a:avLst/>
          </a:prstGeom>
          <a:solidFill>
            <a:srgbClr val="FFFFFF"/>
          </a:solidFill>
          <a:ln w="9525">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25880"/>
            <a:ext cx="4572000" cy="365760"/>
          </a:xfrm>
          <a:prstGeom prst="rect">
            <a:avLst/>
          </a:prstGeom>
          <a:noFill/>
        </p:spPr>
        <p:txBody>
          <a:bodyPr wrap="square">
            <a:spAutoFit/>
          </a:bodyPr>
          <a:lstStyle/>
          <a:p>
            <a:pPr algn="l">
              <a:defRPr sz="1800" b="1">
                <a:solidFill>
                  <a:srgbClr val="EA580C"/>
                </a:solidFill>
              </a:defRPr>
            </a:pPr>
            <a:r>
              <a:t>YOLO — Single-Stage Detection</a:t>
            </a:r>
          </a:p>
        </p:txBody>
      </p:sp>
      <p:sp>
        <p:nvSpPr>
          <p:cNvPr id="7" name="TextBox 6"/>
          <p:cNvSpPr txBox="1"/>
          <p:nvPr/>
        </p:nvSpPr>
        <p:spPr>
          <a:xfrm>
            <a:off x="731520" y="1737360"/>
            <a:ext cx="4572000" cy="274320"/>
          </a:xfrm>
          <a:prstGeom prst="rect">
            <a:avLst/>
          </a:prstGeom>
          <a:noFill/>
        </p:spPr>
        <p:txBody>
          <a:bodyPr wrap="square">
            <a:spAutoFit/>
          </a:bodyPr>
          <a:lstStyle/>
          <a:p>
            <a:pPr algn="l">
              <a:defRPr sz="1200" b="0">
                <a:solidFill>
                  <a:srgbClr val="6B7280"/>
                </a:solidFill>
              </a:defRPr>
            </a:pPr>
            <a:r>
              <a:t>Implementation: Ultralytics</a:t>
            </a:r>
          </a:p>
        </p:txBody>
      </p:sp>
      <p:sp>
        <p:nvSpPr>
          <p:cNvPr id="8" name="TextBox 7"/>
          <p:cNvSpPr txBox="1"/>
          <p:nvPr/>
        </p:nvSpPr>
        <p:spPr>
          <a:xfrm>
            <a:off x="731520" y="2103120"/>
            <a:ext cx="4846320" cy="2560320"/>
          </a:xfrm>
          <a:prstGeom prst="rect">
            <a:avLst/>
          </a:prstGeom>
          <a:noFill/>
        </p:spPr>
        <p:txBody>
          <a:bodyPr wrap="square">
            <a:spAutoFit/>
          </a:bodyPr>
          <a:lstStyle/>
          <a:p>
            <a:pPr algn="l">
              <a:defRPr sz="1200" b="0">
                <a:solidFill>
                  <a:srgbClr val="1F2A37"/>
                </a:solidFill>
              </a:defRPr>
            </a:pPr>
            <a:r>
              <a:t>YOLO processes the entire image in a single forward pass through the network. It divides the image into a grid and predicts bounding boxes and class probabilities for each cell simultaneously.</a:t>
            </a:r>
            <a:br/>
            <a:br/>
            <a:r>
              <a:t>Strengths: Very fast inference, compact models (17-125 MB), works on diverse resolutions without retraining.</a:t>
            </a:r>
            <a:br/>
            <a:br/>
            <a:r>
              <a:t>Limitation: Outputs rectangular bounding boxes — cannot capture the irregular shapes of real agricultural field boundaries.</a:t>
            </a:r>
          </a:p>
        </p:txBody>
      </p:sp>
      <p:sp>
        <p:nvSpPr>
          <p:cNvPr id="9" name="Rounded Rectangle 8"/>
          <p:cNvSpPr/>
          <p:nvPr/>
        </p:nvSpPr>
        <p:spPr>
          <a:xfrm>
            <a:off x="6217920" y="1188720"/>
            <a:ext cx="5669280" cy="3657600"/>
          </a:xfrm>
          <a:prstGeom prst="roundRect">
            <a:avLst/>
          </a:prstGeom>
          <a:solidFill>
            <a:srgbClr val="FFFFFF"/>
          </a:solidFill>
          <a:ln w="952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325880"/>
            <a:ext cx="5029200" cy="365760"/>
          </a:xfrm>
          <a:prstGeom prst="rect">
            <a:avLst/>
          </a:prstGeom>
          <a:noFill/>
        </p:spPr>
        <p:txBody>
          <a:bodyPr wrap="square">
            <a:spAutoFit/>
          </a:bodyPr>
          <a:lstStyle/>
          <a:p>
            <a:pPr algn="l">
              <a:defRPr sz="1800" b="1">
                <a:solidFill>
                  <a:srgbClr val="2563EB"/>
                </a:solidFill>
              </a:defRPr>
            </a:pPr>
            <a:r>
              <a:t>Mask R-CNN — Two-Stage Segmentation</a:t>
            </a:r>
          </a:p>
        </p:txBody>
      </p:sp>
      <p:sp>
        <p:nvSpPr>
          <p:cNvPr id="11" name="TextBox 10"/>
          <p:cNvSpPr txBox="1"/>
          <p:nvPr/>
        </p:nvSpPr>
        <p:spPr>
          <a:xfrm>
            <a:off x="6492240" y="1737360"/>
            <a:ext cx="5029200" cy="274320"/>
          </a:xfrm>
          <a:prstGeom prst="rect">
            <a:avLst/>
          </a:prstGeom>
          <a:noFill/>
        </p:spPr>
        <p:txBody>
          <a:bodyPr wrap="square">
            <a:spAutoFit/>
          </a:bodyPr>
          <a:lstStyle/>
          <a:p>
            <a:pPr algn="l">
              <a:defRPr sz="1200" b="0">
                <a:solidFill>
                  <a:srgbClr val="6B7280"/>
                </a:solidFill>
              </a:defRPr>
            </a:pPr>
            <a:r>
              <a:t>Implementation: Detectron2</a:t>
            </a:r>
          </a:p>
        </p:txBody>
      </p:sp>
      <p:sp>
        <p:nvSpPr>
          <p:cNvPr id="12" name="TextBox 11"/>
          <p:cNvSpPr txBox="1"/>
          <p:nvPr/>
        </p:nvSpPr>
        <p:spPr>
          <a:xfrm>
            <a:off x="6492240" y="2103120"/>
            <a:ext cx="5212080" cy="2560320"/>
          </a:xfrm>
          <a:prstGeom prst="rect">
            <a:avLst/>
          </a:prstGeom>
          <a:noFill/>
        </p:spPr>
        <p:txBody>
          <a:bodyPr wrap="square">
            <a:spAutoFit/>
          </a:bodyPr>
          <a:lstStyle/>
          <a:p>
            <a:pPr algn="l">
              <a:defRPr sz="1200" b="0">
                <a:solidFill>
                  <a:srgbClr val="1F2A37"/>
                </a:solidFill>
              </a:defRPr>
            </a:pPr>
            <a:r>
              <a:t>Mask R-CNN operates in two stages. First, a Region Proposal Network identifies candidate object locations. Then, for each proposal, separate heads predict the class label AND generate a pixel-level segmentation mask.</a:t>
            </a:r>
            <a:br/>
            <a:br/>
            <a:r>
              <a:t>Strengths: Produces precise per-instance masks that follow actual field shapes. Backbone (ResNet-101 + FPN) captures features at multiple scales.</a:t>
            </a:r>
            <a:br/>
            <a:br/>
            <a:r>
              <a:t>Trade-off: Slower per-tile, larger model (~350 MB), requires training data. But our 8-GPU setup compensates for the speed difference.</a:t>
            </a:r>
          </a:p>
        </p:txBody>
      </p:sp>
      <p:sp>
        <p:nvSpPr>
          <p:cNvPr id="13" name="Rounded Rectangle 12"/>
          <p:cNvSpPr/>
          <p:nvPr/>
        </p:nvSpPr>
        <p:spPr>
          <a:xfrm>
            <a:off x="457200" y="5120640"/>
            <a:ext cx="11430000" cy="1463040"/>
          </a:xfrm>
          <a:prstGeom prst="roundRect">
            <a:avLst/>
          </a:prstGeom>
          <a:solidFill>
            <a:srgbClr val="E5E7EB"/>
          </a:solidFill>
          <a:ln w="12700">
            <a:solidFill>
              <a:srgbClr val="D1D5DB"/>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i="1">
                <a:solidFill>
                  <a:srgbClr val="6B7280"/>
                </a:solidFill>
              </a:defRPr>
            </a:pPr>
            <a:r>
              <a:t>Diagram: YOLO single-pass (image → grid → boxes) vs Mask R-CNN two-stage (image → proposals → masks)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9144000" cy="457200"/>
          </a:xfrm>
          <a:prstGeom prst="rect">
            <a:avLst/>
          </a:prstGeom>
          <a:noFill/>
        </p:spPr>
        <p:txBody>
          <a:bodyPr wrap="square">
            <a:spAutoFit/>
          </a:bodyPr>
          <a:lstStyle/>
          <a:p>
            <a:pPr algn="l">
              <a:defRPr sz="3000" b="1">
                <a:solidFill>
                  <a:srgbClr val="1F2A37"/>
                </a:solidFill>
              </a:defRPr>
            </a:pPr>
            <a:r>
              <a:t>How the Models Work Internally</a:t>
            </a:r>
          </a:p>
        </p:txBody>
      </p:sp>
      <p:sp>
        <p:nvSpPr>
          <p:cNvPr id="4" name="TextBox 3"/>
          <p:cNvSpPr txBox="1"/>
          <p:nvPr/>
        </p:nvSpPr>
        <p:spPr>
          <a:xfrm>
            <a:off x="731520" y="731520"/>
            <a:ext cx="4572000" cy="365760"/>
          </a:xfrm>
          <a:prstGeom prst="rect">
            <a:avLst/>
          </a:prstGeom>
          <a:noFill/>
        </p:spPr>
        <p:txBody>
          <a:bodyPr wrap="square">
            <a:spAutoFit/>
          </a:bodyPr>
          <a:lstStyle/>
          <a:p>
            <a:pPr algn="l">
              <a:defRPr sz="1600" b="1">
                <a:solidFill>
                  <a:srgbClr val="EA580C"/>
                </a:solidFill>
              </a:defRPr>
            </a:pPr>
            <a:r>
              <a:t>YOLO — single-stage pipeline</a:t>
            </a:r>
          </a:p>
        </p:txBody>
      </p:sp>
      <p:sp>
        <p:nvSpPr>
          <p:cNvPr id="5" name="Rounded Rectangle 4"/>
          <p:cNvSpPr/>
          <p:nvPr/>
        </p:nvSpPr>
        <p:spPr>
          <a:xfrm>
            <a:off x="274320" y="1097280"/>
            <a:ext cx="2103120" cy="2011680"/>
          </a:xfrm>
          <a:prstGeom prst="roundRect">
            <a:avLst/>
          </a:prstGeom>
          <a:solidFill>
            <a:srgbClr val="FFFFFF"/>
          </a:solidFill>
          <a:ln w="9525">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920240" cy="548640"/>
          </a:xfrm>
          <a:prstGeom prst="rect">
            <a:avLst/>
          </a:prstGeom>
          <a:noFill/>
        </p:spPr>
        <p:txBody>
          <a:bodyPr wrap="square">
            <a:spAutoFit/>
          </a:bodyPr>
          <a:lstStyle/>
          <a:p>
            <a:pPr algn="ctr">
              <a:defRPr sz="1300" b="1">
                <a:solidFill>
                  <a:srgbClr val="EA580C"/>
                </a:solidFill>
              </a:defRPr>
            </a:pPr>
            <a:r>
              <a:t>Input</a:t>
            </a:r>
            <a:br/>
            <a:r>
              <a:t>Image</a:t>
            </a:r>
          </a:p>
        </p:txBody>
      </p:sp>
      <p:sp>
        <p:nvSpPr>
          <p:cNvPr id="7" name="TextBox 6"/>
          <p:cNvSpPr txBox="1"/>
          <p:nvPr/>
        </p:nvSpPr>
        <p:spPr>
          <a:xfrm>
            <a:off x="365760" y="1737360"/>
            <a:ext cx="1920240" cy="1097280"/>
          </a:xfrm>
          <a:prstGeom prst="rect">
            <a:avLst/>
          </a:prstGeom>
          <a:noFill/>
        </p:spPr>
        <p:txBody>
          <a:bodyPr wrap="square">
            <a:spAutoFit/>
          </a:bodyPr>
          <a:lstStyle/>
          <a:p>
            <a:pPr algn="ctr">
              <a:defRPr sz="1000" b="0">
                <a:solidFill>
                  <a:srgbClr val="1F2A37"/>
                </a:solidFill>
              </a:defRPr>
            </a:pPr>
            <a:r>
              <a:t>The full satellite tile</a:t>
            </a:r>
            <a:br/>
            <a:r>
              <a:t>is fed as one tensor</a:t>
            </a:r>
          </a:p>
        </p:txBody>
      </p:sp>
      <p:sp>
        <p:nvSpPr>
          <p:cNvPr id="8" name="TextBox 7"/>
          <p:cNvSpPr txBox="1"/>
          <p:nvPr/>
        </p:nvSpPr>
        <p:spPr>
          <a:xfrm>
            <a:off x="2377439" y="1737360"/>
            <a:ext cx="274320" cy="457200"/>
          </a:xfrm>
          <a:prstGeom prst="rect">
            <a:avLst/>
          </a:prstGeom>
          <a:noFill/>
        </p:spPr>
        <p:txBody>
          <a:bodyPr wrap="square">
            <a:spAutoFit/>
          </a:bodyPr>
          <a:lstStyle/>
          <a:p>
            <a:pPr algn="ctr">
              <a:defRPr sz="1800" b="0">
                <a:solidFill>
                  <a:srgbClr val="9CA3AF"/>
                </a:solidFill>
              </a:defRPr>
            </a:pPr>
            <a:r>
              <a:t>→</a:t>
            </a:r>
          </a:p>
        </p:txBody>
      </p:sp>
      <p:sp>
        <p:nvSpPr>
          <p:cNvPr id="9" name="Rounded Rectangle 8"/>
          <p:cNvSpPr/>
          <p:nvPr/>
        </p:nvSpPr>
        <p:spPr>
          <a:xfrm>
            <a:off x="2606039" y="1097280"/>
            <a:ext cx="2103120" cy="2011680"/>
          </a:xfrm>
          <a:prstGeom prst="roundRect">
            <a:avLst/>
          </a:prstGeom>
          <a:solidFill>
            <a:srgbClr val="FFFFFF"/>
          </a:solidFill>
          <a:ln w="9525">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97479" y="1188720"/>
            <a:ext cx="1920240" cy="548640"/>
          </a:xfrm>
          <a:prstGeom prst="rect">
            <a:avLst/>
          </a:prstGeom>
          <a:noFill/>
        </p:spPr>
        <p:txBody>
          <a:bodyPr wrap="square">
            <a:spAutoFit/>
          </a:bodyPr>
          <a:lstStyle/>
          <a:p>
            <a:pPr algn="ctr">
              <a:defRPr sz="1300" b="1">
                <a:solidFill>
                  <a:srgbClr val="EA580C"/>
                </a:solidFill>
              </a:defRPr>
            </a:pPr>
            <a:r>
              <a:t>CNN</a:t>
            </a:r>
            <a:br/>
            <a:r>
              <a:t>Backbone</a:t>
            </a:r>
          </a:p>
        </p:txBody>
      </p:sp>
      <p:sp>
        <p:nvSpPr>
          <p:cNvPr id="11" name="TextBox 10"/>
          <p:cNvSpPr txBox="1"/>
          <p:nvPr/>
        </p:nvSpPr>
        <p:spPr>
          <a:xfrm>
            <a:off x="2697479" y="1737360"/>
            <a:ext cx="1920240" cy="1097280"/>
          </a:xfrm>
          <a:prstGeom prst="rect">
            <a:avLst/>
          </a:prstGeom>
          <a:noFill/>
        </p:spPr>
        <p:txBody>
          <a:bodyPr wrap="square">
            <a:spAutoFit/>
          </a:bodyPr>
          <a:lstStyle/>
          <a:p>
            <a:pPr algn="ctr">
              <a:defRPr sz="1000" b="0">
                <a:solidFill>
                  <a:srgbClr val="1F2A37"/>
                </a:solidFill>
              </a:defRPr>
            </a:pPr>
            <a:r>
              <a:t>Extracts feature maps</a:t>
            </a:r>
            <a:br/>
            <a:r>
              <a:t>at multiple scales</a:t>
            </a:r>
          </a:p>
        </p:txBody>
      </p:sp>
      <p:sp>
        <p:nvSpPr>
          <p:cNvPr id="12" name="TextBox 11"/>
          <p:cNvSpPr txBox="1"/>
          <p:nvPr/>
        </p:nvSpPr>
        <p:spPr>
          <a:xfrm>
            <a:off x="4709158" y="1737360"/>
            <a:ext cx="274320" cy="457200"/>
          </a:xfrm>
          <a:prstGeom prst="rect">
            <a:avLst/>
          </a:prstGeom>
          <a:noFill/>
        </p:spPr>
        <p:txBody>
          <a:bodyPr wrap="square">
            <a:spAutoFit/>
          </a:bodyPr>
          <a:lstStyle/>
          <a:p>
            <a:pPr algn="ctr">
              <a:defRPr sz="1800" b="0">
                <a:solidFill>
                  <a:srgbClr val="9CA3AF"/>
                </a:solidFill>
              </a:defRPr>
            </a:pPr>
            <a:r>
              <a:t>→</a:t>
            </a:r>
          </a:p>
        </p:txBody>
      </p:sp>
      <p:sp>
        <p:nvSpPr>
          <p:cNvPr id="13" name="Rounded Rectangle 12"/>
          <p:cNvSpPr/>
          <p:nvPr/>
        </p:nvSpPr>
        <p:spPr>
          <a:xfrm>
            <a:off x="4937759" y="1097280"/>
            <a:ext cx="2103120" cy="2011680"/>
          </a:xfrm>
          <a:prstGeom prst="roundRect">
            <a:avLst/>
          </a:prstGeom>
          <a:solidFill>
            <a:srgbClr val="FFFFFF"/>
          </a:solidFill>
          <a:ln w="9525">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199" y="1188720"/>
            <a:ext cx="1920240" cy="548640"/>
          </a:xfrm>
          <a:prstGeom prst="rect">
            <a:avLst/>
          </a:prstGeom>
          <a:noFill/>
        </p:spPr>
        <p:txBody>
          <a:bodyPr wrap="square">
            <a:spAutoFit/>
          </a:bodyPr>
          <a:lstStyle/>
          <a:p>
            <a:pPr algn="ctr">
              <a:defRPr sz="1300" b="1">
                <a:solidFill>
                  <a:srgbClr val="EA580C"/>
                </a:solidFill>
              </a:defRPr>
            </a:pPr>
            <a:r>
              <a:t>Detection</a:t>
            </a:r>
            <a:br/>
            <a:r>
              <a:t>Grid</a:t>
            </a:r>
          </a:p>
        </p:txBody>
      </p:sp>
      <p:sp>
        <p:nvSpPr>
          <p:cNvPr id="15" name="TextBox 14"/>
          <p:cNvSpPr txBox="1"/>
          <p:nvPr/>
        </p:nvSpPr>
        <p:spPr>
          <a:xfrm>
            <a:off x="5029199" y="1737360"/>
            <a:ext cx="1920240" cy="1097280"/>
          </a:xfrm>
          <a:prstGeom prst="rect">
            <a:avLst/>
          </a:prstGeom>
          <a:noFill/>
        </p:spPr>
        <p:txBody>
          <a:bodyPr wrap="square">
            <a:spAutoFit/>
          </a:bodyPr>
          <a:lstStyle/>
          <a:p>
            <a:pPr algn="ctr">
              <a:defRPr sz="1000" b="0">
                <a:solidFill>
                  <a:srgbClr val="1F2A37"/>
                </a:solidFill>
              </a:defRPr>
            </a:pPr>
            <a:r>
              <a:t>Image divided into SxS</a:t>
            </a:r>
            <a:br/>
            <a:r>
              <a:t>cells, each predicts boxes</a:t>
            </a:r>
          </a:p>
        </p:txBody>
      </p:sp>
      <p:sp>
        <p:nvSpPr>
          <p:cNvPr id="16" name="TextBox 15"/>
          <p:cNvSpPr txBox="1"/>
          <p:nvPr/>
        </p:nvSpPr>
        <p:spPr>
          <a:xfrm>
            <a:off x="7040879" y="1737360"/>
            <a:ext cx="274320" cy="457200"/>
          </a:xfrm>
          <a:prstGeom prst="rect">
            <a:avLst/>
          </a:prstGeom>
          <a:noFill/>
        </p:spPr>
        <p:txBody>
          <a:bodyPr wrap="square">
            <a:spAutoFit/>
          </a:bodyPr>
          <a:lstStyle/>
          <a:p>
            <a:pPr algn="ctr">
              <a:defRPr sz="1800" b="0">
                <a:solidFill>
                  <a:srgbClr val="9CA3AF"/>
                </a:solidFill>
              </a:defRPr>
            </a:pPr>
            <a:r>
              <a:t>→</a:t>
            </a:r>
          </a:p>
        </p:txBody>
      </p:sp>
      <p:sp>
        <p:nvSpPr>
          <p:cNvPr id="17" name="Rounded Rectangle 16"/>
          <p:cNvSpPr/>
          <p:nvPr/>
        </p:nvSpPr>
        <p:spPr>
          <a:xfrm>
            <a:off x="7269479" y="1097280"/>
            <a:ext cx="2103120" cy="2011680"/>
          </a:xfrm>
          <a:prstGeom prst="roundRect">
            <a:avLst/>
          </a:prstGeom>
          <a:solidFill>
            <a:srgbClr val="FFFFFF"/>
          </a:solidFill>
          <a:ln w="9525">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0919" y="1188720"/>
            <a:ext cx="1920240" cy="548640"/>
          </a:xfrm>
          <a:prstGeom prst="rect">
            <a:avLst/>
          </a:prstGeom>
          <a:noFill/>
        </p:spPr>
        <p:txBody>
          <a:bodyPr wrap="square">
            <a:spAutoFit/>
          </a:bodyPr>
          <a:lstStyle/>
          <a:p>
            <a:pPr algn="ctr">
              <a:defRPr sz="1300" b="1">
                <a:solidFill>
                  <a:srgbClr val="EA580C"/>
                </a:solidFill>
              </a:defRPr>
            </a:pPr>
            <a:r>
              <a:t>NMS</a:t>
            </a:r>
            <a:br/>
            <a:r>
              <a:t>Filter</a:t>
            </a:r>
          </a:p>
        </p:txBody>
      </p:sp>
      <p:sp>
        <p:nvSpPr>
          <p:cNvPr id="19" name="TextBox 18"/>
          <p:cNvSpPr txBox="1"/>
          <p:nvPr/>
        </p:nvSpPr>
        <p:spPr>
          <a:xfrm>
            <a:off x="7360919" y="1737360"/>
            <a:ext cx="1920240" cy="1097280"/>
          </a:xfrm>
          <a:prstGeom prst="rect">
            <a:avLst/>
          </a:prstGeom>
          <a:noFill/>
        </p:spPr>
        <p:txBody>
          <a:bodyPr wrap="square">
            <a:spAutoFit/>
          </a:bodyPr>
          <a:lstStyle/>
          <a:p>
            <a:pPr algn="ctr">
              <a:defRPr sz="1000" b="0">
                <a:solidFill>
                  <a:srgbClr val="1F2A37"/>
                </a:solidFill>
              </a:defRPr>
            </a:pPr>
            <a:r>
              <a:t>Non-max suppression</a:t>
            </a:r>
            <a:br/>
            <a:r>
              <a:t>removes duplicate boxes</a:t>
            </a:r>
          </a:p>
        </p:txBody>
      </p:sp>
      <p:sp>
        <p:nvSpPr>
          <p:cNvPr id="20" name="TextBox 19"/>
          <p:cNvSpPr txBox="1"/>
          <p:nvPr/>
        </p:nvSpPr>
        <p:spPr>
          <a:xfrm>
            <a:off x="9372598" y="1737360"/>
            <a:ext cx="274320" cy="457200"/>
          </a:xfrm>
          <a:prstGeom prst="rect">
            <a:avLst/>
          </a:prstGeom>
          <a:noFill/>
        </p:spPr>
        <p:txBody>
          <a:bodyPr wrap="square">
            <a:spAutoFit/>
          </a:bodyPr>
          <a:lstStyle/>
          <a:p>
            <a:pPr algn="ctr">
              <a:defRPr sz="1800" b="0">
                <a:solidFill>
                  <a:srgbClr val="9CA3AF"/>
                </a:solidFill>
              </a:defRPr>
            </a:pPr>
            <a:r>
              <a:t>→</a:t>
            </a:r>
          </a:p>
        </p:txBody>
      </p:sp>
      <p:sp>
        <p:nvSpPr>
          <p:cNvPr id="21" name="Rounded Rectangle 20"/>
          <p:cNvSpPr/>
          <p:nvPr/>
        </p:nvSpPr>
        <p:spPr>
          <a:xfrm>
            <a:off x="9601200" y="1097280"/>
            <a:ext cx="2103120" cy="2011680"/>
          </a:xfrm>
          <a:prstGeom prst="roundRect">
            <a:avLst/>
          </a:prstGeom>
          <a:solidFill>
            <a:srgbClr val="FFFFFF"/>
          </a:solidFill>
          <a:ln w="9525">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0" y="1188720"/>
            <a:ext cx="1920240" cy="548640"/>
          </a:xfrm>
          <a:prstGeom prst="rect">
            <a:avLst/>
          </a:prstGeom>
          <a:noFill/>
        </p:spPr>
        <p:txBody>
          <a:bodyPr wrap="square">
            <a:spAutoFit/>
          </a:bodyPr>
          <a:lstStyle/>
          <a:p>
            <a:pPr algn="ctr">
              <a:defRPr sz="1300" b="1">
                <a:solidFill>
                  <a:srgbClr val="EA580C"/>
                </a:solidFill>
              </a:defRPr>
            </a:pPr>
            <a:r>
              <a:t>Bounding</a:t>
            </a:r>
            <a:br/>
            <a:r>
              <a:t>Boxes</a:t>
            </a:r>
          </a:p>
        </p:txBody>
      </p:sp>
      <p:sp>
        <p:nvSpPr>
          <p:cNvPr id="23" name="TextBox 22"/>
          <p:cNvSpPr txBox="1"/>
          <p:nvPr/>
        </p:nvSpPr>
        <p:spPr>
          <a:xfrm>
            <a:off x="9692640" y="1737360"/>
            <a:ext cx="1920240" cy="1097280"/>
          </a:xfrm>
          <a:prstGeom prst="rect">
            <a:avLst/>
          </a:prstGeom>
          <a:noFill/>
        </p:spPr>
        <p:txBody>
          <a:bodyPr wrap="square">
            <a:spAutoFit/>
          </a:bodyPr>
          <a:lstStyle/>
          <a:p>
            <a:pPr algn="ctr">
              <a:defRPr sz="1000" b="0">
                <a:solidFill>
                  <a:srgbClr val="1F2A37"/>
                </a:solidFill>
              </a:defRPr>
            </a:pPr>
            <a:r>
              <a:t>Final rectangular</a:t>
            </a:r>
            <a:br/>
            <a:r>
              <a:t>detections output</a:t>
            </a:r>
          </a:p>
        </p:txBody>
      </p:sp>
      <p:sp>
        <p:nvSpPr>
          <p:cNvPr id="24" name="TextBox 23"/>
          <p:cNvSpPr txBox="1"/>
          <p:nvPr/>
        </p:nvSpPr>
        <p:spPr>
          <a:xfrm>
            <a:off x="731520" y="3337560"/>
            <a:ext cx="4572000" cy="365760"/>
          </a:xfrm>
          <a:prstGeom prst="rect">
            <a:avLst/>
          </a:prstGeom>
          <a:noFill/>
        </p:spPr>
        <p:txBody>
          <a:bodyPr wrap="square">
            <a:spAutoFit/>
          </a:bodyPr>
          <a:lstStyle/>
          <a:p>
            <a:pPr algn="l">
              <a:defRPr sz="1600" b="1">
                <a:solidFill>
                  <a:srgbClr val="2563EB"/>
                </a:solidFill>
              </a:defRPr>
            </a:pPr>
            <a:r>
              <a:t>Mask R-CNN — two-stage pipeline</a:t>
            </a:r>
          </a:p>
        </p:txBody>
      </p:sp>
      <p:sp>
        <p:nvSpPr>
          <p:cNvPr id="25" name="Rounded Rectangle 24"/>
          <p:cNvSpPr/>
          <p:nvPr/>
        </p:nvSpPr>
        <p:spPr>
          <a:xfrm>
            <a:off x="274320" y="3749039"/>
            <a:ext cx="2103120" cy="2011680"/>
          </a:xfrm>
          <a:prstGeom prst="roundRect">
            <a:avLst/>
          </a:prstGeom>
          <a:solidFill>
            <a:srgbClr val="FFFFFF"/>
          </a:solidFill>
          <a:ln w="952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3840480"/>
            <a:ext cx="1920240" cy="548640"/>
          </a:xfrm>
          <a:prstGeom prst="rect">
            <a:avLst/>
          </a:prstGeom>
          <a:noFill/>
        </p:spPr>
        <p:txBody>
          <a:bodyPr wrap="square">
            <a:spAutoFit/>
          </a:bodyPr>
          <a:lstStyle/>
          <a:p>
            <a:pPr algn="ctr">
              <a:defRPr sz="1300" b="1">
                <a:solidFill>
                  <a:srgbClr val="2563EB"/>
                </a:solidFill>
              </a:defRPr>
            </a:pPr>
            <a:r>
              <a:t>Input</a:t>
            </a:r>
            <a:br/>
            <a:r>
              <a:t>Tile</a:t>
            </a:r>
          </a:p>
        </p:txBody>
      </p:sp>
      <p:sp>
        <p:nvSpPr>
          <p:cNvPr id="27" name="TextBox 26"/>
          <p:cNvSpPr txBox="1"/>
          <p:nvPr/>
        </p:nvSpPr>
        <p:spPr>
          <a:xfrm>
            <a:off x="365760" y="4389120"/>
            <a:ext cx="1920240" cy="1097280"/>
          </a:xfrm>
          <a:prstGeom prst="rect">
            <a:avLst/>
          </a:prstGeom>
          <a:noFill/>
        </p:spPr>
        <p:txBody>
          <a:bodyPr wrap="square">
            <a:spAutoFit/>
          </a:bodyPr>
          <a:lstStyle/>
          <a:p>
            <a:pPr algn="ctr">
              <a:defRPr sz="1000" b="0">
                <a:solidFill>
                  <a:srgbClr val="1F2A37"/>
                </a:solidFill>
              </a:defRPr>
            </a:pPr>
            <a:r>
              <a:t>320x320 pixel tile</a:t>
            </a:r>
            <a:br/>
            <a:r>
              <a:t>from satellite image</a:t>
            </a:r>
          </a:p>
        </p:txBody>
      </p:sp>
      <p:sp>
        <p:nvSpPr>
          <p:cNvPr id="28" name="TextBox 27"/>
          <p:cNvSpPr txBox="1"/>
          <p:nvPr/>
        </p:nvSpPr>
        <p:spPr>
          <a:xfrm>
            <a:off x="2377439" y="4389120"/>
            <a:ext cx="274320" cy="457200"/>
          </a:xfrm>
          <a:prstGeom prst="rect">
            <a:avLst/>
          </a:prstGeom>
          <a:noFill/>
        </p:spPr>
        <p:txBody>
          <a:bodyPr wrap="square">
            <a:spAutoFit/>
          </a:bodyPr>
          <a:lstStyle/>
          <a:p>
            <a:pPr algn="ctr">
              <a:defRPr sz="1800" b="0">
                <a:solidFill>
                  <a:srgbClr val="9CA3AF"/>
                </a:solidFill>
              </a:defRPr>
            </a:pPr>
            <a:r>
              <a:t>→</a:t>
            </a:r>
          </a:p>
        </p:txBody>
      </p:sp>
      <p:sp>
        <p:nvSpPr>
          <p:cNvPr id="29" name="Rounded Rectangle 28"/>
          <p:cNvSpPr/>
          <p:nvPr/>
        </p:nvSpPr>
        <p:spPr>
          <a:xfrm>
            <a:off x="2606039" y="3749039"/>
            <a:ext cx="2103120" cy="2011680"/>
          </a:xfrm>
          <a:prstGeom prst="roundRect">
            <a:avLst/>
          </a:prstGeom>
          <a:solidFill>
            <a:srgbClr val="FFFFFF"/>
          </a:solidFill>
          <a:ln w="952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697479" y="3840480"/>
            <a:ext cx="1920240" cy="548640"/>
          </a:xfrm>
          <a:prstGeom prst="rect">
            <a:avLst/>
          </a:prstGeom>
          <a:noFill/>
        </p:spPr>
        <p:txBody>
          <a:bodyPr wrap="square">
            <a:spAutoFit/>
          </a:bodyPr>
          <a:lstStyle/>
          <a:p>
            <a:pPr algn="ctr">
              <a:defRPr sz="1300" b="1">
                <a:solidFill>
                  <a:srgbClr val="2563EB"/>
                </a:solidFill>
              </a:defRPr>
            </a:pPr>
            <a:r>
              <a:t>ResNet-101</a:t>
            </a:r>
            <a:br/>
            <a:r>
              <a:t>Backbone</a:t>
            </a:r>
          </a:p>
        </p:txBody>
      </p:sp>
      <p:sp>
        <p:nvSpPr>
          <p:cNvPr id="31" name="TextBox 30"/>
          <p:cNvSpPr txBox="1"/>
          <p:nvPr/>
        </p:nvSpPr>
        <p:spPr>
          <a:xfrm>
            <a:off x="2697479" y="4389120"/>
            <a:ext cx="1920240" cy="1097280"/>
          </a:xfrm>
          <a:prstGeom prst="rect">
            <a:avLst/>
          </a:prstGeom>
          <a:noFill/>
        </p:spPr>
        <p:txBody>
          <a:bodyPr wrap="square">
            <a:spAutoFit/>
          </a:bodyPr>
          <a:lstStyle/>
          <a:p>
            <a:pPr algn="ctr">
              <a:defRPr sz="1000" b="0">
                <a:solidFill>
                  <a:srgbClr val="1F2A37"/>
                </a:solidFill>
              </a:defRPr>
            </a:pPr>
            <a:r>
              <a:t>Deep feature extraction</a:t>
            </a:r>
            <a:br/>
            <a:r>
              <a:t>101 layers, residual</a:t>
            </a:r>
          </a:p>
        </p:txBody>
      </p:sp>
      <p:sp>
        <p:nvSpPr>
          <p:cNvPr id="32" name="TextBox 31"/>
          <p:cNvSpPr txBox="1"/>
          <p:nvPr/>
        </p:nvSpPr>
        <p:spPr>
          <a:xfrm>
            <a:off x="4709158" y="4389120"/>
            <a:ext cx="274320" cy="457200"/>
          </a:xfrm>
          <a:prstGeom prst="rect">
            <a:avLst/>
          </a:prstGeom>
          <a:noFill/>
        </p:spPr>
        <p:txBody>
          <a:bodyPr wrap="square">
            <a:spAutoFit/>
          </a:bodyPr>
          <a:lstStyle/>
          <a:p>
            <a:pPr algn="ctr">
              <a:defRPr sz="1800" b="0">
                <a:solidFill>
                  <a:srgbClr val="9CA3AF"/>
                </a:solidFill>
              </a:defRPr>
            </a:pPr>
            <a:r>
              <a:t>→</a:t>
            </a:r>
          </a:p>
        </p:txBody>
      </p:sp>
      <p:sp>
        <p:nvSpPr>
          <p:cNvPr id="33" name="Rounded Rectangle 32"/>
          <p:cNvSpPr/>
          <p:nvPr/>
        </p:nvSpPr>
        <p:spPr>
          <a:xfrm>
            <a:off x="4937759" y="3749039"/>
            <a:ext cx="2103120" cy="2011680"/>
          </a:xfrm>
          <a:prstGeom prst="roundRect">
            <a:avLst/>
          </a:prstGeom>
          <a:solidFill>
            <a:srgbClr val="FFFFFF"/>
          </a:solidFill>
          <a:ln w="952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199" y="3840480"/>
            <a:ext cx="1920240" cy="548640"/>
          </a:xfrm>
          <a:prstGeom prst="rect">
            <a:avLst/>
          </a:prstGeom>
          <a:noFill/>
        </p:spPr>
        <p:txBody>
          <a:bodyPr wrap="square">
            <a:spAutoFit/>
          </a:bodyPr>
          <a:lstStyle/>
          <a:p>
            <a:pPr algn="ctr">
              <a:defRPr sz="1300" b="1">
                <a:solidFill>
                  <a:srgbClr val="2563EB"/>
                </a:solidFill>
              </a:defRPr>
            </a:pPr>
            <a:r>
              <a:t>FPN</a:t>
            </a:r>
            <a:br/>
            <a:r>
              <a:t>Pyramid</a:t>
            </a:r>
          </a:p>
        </p:txBody>
      </p:sp>
      <p:sp>
        <p:nvSpPr>
          <p:cNvPr id="35" name="TextBox 34"/>
          <p:cNvSpPr txBox="1"/>
          <p:nvPr/>
        </p:nvSpPr>
        <p:spPr>
          <a:xfrm>
            <a:off x="5029199" y="4389120"/>
            <a:ext cx="1920240" cy="1097280"/>
          </a:xfrm>
          <a:prstGeom prst="rect">
            <a:avLst/>
          </a:prstGeom>
          <a:noFill/>
        </p:spPr>
        <p:txBody>
          <a:bodyPr wrap="square">
            <a:spAutoFit/>
          </a:bodyPr>
          <a:lstStyle/>
          <a:p>
            <a:pPr algn="ctr">
              <a:defRPr sz="1000" b="0">
                <a:solidFill>
                  <a:srgbClr val="1F2A37"/>
                </a:solidFill>
              </a:defRPr>
            </a:pPr>
            <a:r>
              <a:t>Multi-scale features:</a:t>
            </a:r>
            <a:br/>
            <a:r>
              <a:t>small + large fields</a:t>
            </a:r>
          </a:p>
        </p:txBody>
      </p:sp>
      <p:sp>
        <p:nvSpPr>
          <p:cNvPr id="36" name="TextBox 35"/>
          <p:cNvSpPr txBox="1"/>
          <p:nvPr/>
        </p:nvSpPr>
        <p:spPr>
          <a:xfrm>
            <a:off x="7040879" y="4389120"/>
            <a:ext cx="274320" cy="457200"/>
          </a:xfrm>
          <a:prstGeom prst="rect">
            <a:avLst/>
          </a:prstGeom>
          <a:noFill/>
        </p:spPr>
        <p:txBody>
          <a:bodyPr wrap="square">
            <a:spAutoFit/>
          </a:bodyPr>
          <a:lstStyle/>
          <a:p>
            <a:pPr algn="ctr">
              <a:defRPr sz="1800" b="0">
                <a:solidFill>
                  <a:srgbClr val="9CA3AF"/>
                </a:solidFill>
              </a:defRPr>
            </a:pPr>
            <a:r>
              <a:t>→</a:t>
            </a:r>
          </a:p>
        </p:txBody>
      </p:sp>
      <p:sp>
        <p:nvSpPr>
          <p:cNvPr id="37" name="Rounded Rectangle 36"/>
          <p:cNvSpPr/>
          <p:nvPr/>
        </p:nvSpPr>
        <p:spPr>
          <a:xfrm>
            <a:off x="7269479" y="3749039"/>
            <a:ext cx="2103120" cy="2011680"/>
          </a:xfrm>
          <a:prstGeom prst="roundRect">
            <a:avLst/>
          </a:prstGeom>
          <a:solidFill>
            <a:srgbClr val="FFFFFF"/>
          </a:solidFill>
          <a:ln w="952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60919" y="3840480"/>
            <a:ext cx="1920240" cy="548640"/>
          </a:xfrm>
          <a:prstGeom prst="rect">
            <a:avLst/>
          </a:prstGeom>
          <a:noFill/>
        </p:spPr>
        <p:txBody>
          <a:bodyPr wrap="square">
            <a:spAutoFit/>
          </a:bodyPr>
          <a:lstStyle/>
          <a:p>
            <a:pPr algn="ctr">
              <a:defRPr sz="1300" b="1">
                <a:solidFill>
                  <a:srgbClr val="2563EB"/>
                </a:solidFill>
              </a:defRPr>
            </a:pPr>
            <a:r>
              <a:t>RPN</a:t>
            </a:r>
            <a:br/>
            <a:r>
              <a:t>Proposals</a:t>
            </a:r>
          </a:p>
        </p:txBody>
      </p:sp>
      <p:sp>
        <p:nvSpPr>
          <p:cNvPr id="39" name="TextBox 38"/>
          <p:cNvSpPr txBox="1"/>
          <p:nvPr/>
        </p:nvSpPr>
        <p:spPr>
          <a:xfrm>
            <a:off x="7360919" y="4389120"/>
            <a:ext cx="1920240" cy="1097280"/>
          </a:xfrm>
          <a:prstGeom prst="rect">
            <a:avLst/>
          </a:prstGeom>
          <a:noFill/>
        </p:spPr>
        <p:txBody>
          <a:bodyPr wrap="square">
            <a:spAutoFit/>
          </a:bodyPr>
          <a:lstStyle/>
          <a:p>
            <a:pPr algn="ctr">
              <a:defRPr sz="1000" b="0">
                <a:solidFill>
                  <a:srgbClr val="1F2A37"/>
                </a:solidFill>
              </a:defRPr>
            </a:pPr>
            <a:r>
              <a:t>Proposes ~300 candidate</a:t>
            </a:r>
            <a:br/>
            <a:r>
              <a:t>field locations</a:t>
            </a:r>
          </a:p>
        </p:txBody>
      </p:sp>
      <p:sp>
        <p:nvSpPr>
          <p:cNvPr id="40" name="TextBox 39"/>
          <p:cNvSpPr txBox="1"/>
          <p:nvPr/>
        </p:nvSpPr>
        <p:spPr>
          <a:xfrm>
            <a:off x="9372598" y="4389120"/>
            <a:ext cx="274320" cy="457200"/>
          </a:xfrm>
          <a:prstGeom prst="rect">
            <a:avLst/>
          </a:prstGeom>
          <a:noFill/>
        </p:spPr>
        <p:txBody>
          <a:bodyPr wrap="square">
            <a:spAutoFit/>
          </a:bodyPr>
          <a:lstStyle/>
          <a:p>
            <a:pPr algn="ctr">
              <a:defRPr sz="1800" b="0">
                <a:solidFill>
                  <a:srgbClr val="9CA3AF"/>
                </a:solidFill>
              </a:defRPr>
            </a:pPr>
            <a:r>
              <a:t>→</a:t>
            </a:r>
          </a:p>
        </p:txBody>
      </p:sp>
      <p:sp>
        <p:nvSpPr>
          <p:cNvPr id="41" name="Rounded Rectangle 40"/>
          <p:cNvSpPr/>
          <p:nvPr/>
        </p:nvSpPr>
        <p:spPr>
          <a:xfrm>
            <a:off x="9601200" y="3749039"/>
            <a:ext cx="2103120" cy="2011680"/>
          </a:xfrm>
          <a:prstGeom prst="roundRect">
            <a:avLst/>
          </a:prstGeom>
          <a:solidFill>
            <a:srgbClr val="FFFFFF"/>
          </a:solidFill>
          <a:ln w="952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692640" y="3840480"/>
            <a:ext cx="1920240" cy="548640"/>
          </a:xfrm>
          <a:prstGeom prst="rect">
            <a:avLst/>
          </a:prstGeom>
          <a:noFill/>
        </p:spPr>
        <p:txBody>
          <a:bodyPr wrap="square">
            <a:spAutoFit/>
          </a:bodyPr>
          <a:lstStyle/>
          <a:p>
            <a:pPr algn="ctr">
              <a:defRPr sz="1300" b="1">
                <a:solidFill>
                  <a:srgbClr val="2563EB"/>
                </a:solidFill>
              </a:defRPr>
            </a:pPr>
            <a:r>
              <a:t>ROI Align</a:t>
            </a:r>
            <a:br/>
            <a:r>
              <a:t>+ Heads</a:t>
            </a:r>
          </a:p>
        </p:txBody>
      </p:sp>
      <p:sp>
        <p:nvSpPr>
          <p:cNvPr id="43" name="TextBox 42"/>
          <p:cNvSpPr txBox="1"/>
          <p:nvPr/>
        </p:nvSpPr>
        <p:spPr>
          <a:xfrm>
            <a:off x="9692640" y="4389120"/>
            <a:ext cx="1920240" cy="1097280"/>
          </a:xfrm>
          <a:prstGeom prst="rect">
            <a:avLst/>
          </a:prstGeom>
          <a:noFill/>
        </p:spPr>
        <p:txBody>
          <a:bodyPr wrap="square">
            <a:spAutoFit/>
          </a:bodyPr>
          <a:lstStyle/>
          <a:p>
            <a:pPr algn="ctr">
              <a:defRPr sz="1000" b="0">
                <a:solidFill>
                  <a:srgbClr val="1F2A37"/>
                </a:solidFill>
              </a:defRPr>
            </a:pPr>
            <a:r>
              <a:t>Per-proposal: class</a:t>
            </a:r>
            <a:br/>
            <a:r>
              <a:t>label + pixel mask</a:t>
            </a:r>
          </a:p>
        </p:txBody>
      </p:sp>
      <p:sp>
        <p:nvSpPr>
          <p:cNvPr id="44" name="TextBox 43"/>
          <p:cNvSpPr txBox="1"/>
          <p:nvPr/>
        </p:nvSpPr>
        <p:spPr>
          <a:xfrm>
            <a:off x="731520" y="5943600"/>
            <a:ext cx="10972800" cy="640080"/>
          </a:xfrm>
          <a:prstGeom prst="rect">
            <a:avLst/>
          </a:prstGeom>
          <a:noFill/>
        </p:spPr>
        <p:txBody>
          <a:bodyPr wrap="square">
            <a:spAutoFit/>
          </a:bodyPr>
          <a:lstStyle/>
          <a:p>
            <a:pPr algn="l">
              <a:defRPr sz="1300" b="0">
                <a:solidFill>
                  <a:srgbClr val="6B7280"/>
                </a:solidFill>
              </a:defRPr>
            </a:pPr>
            <a:r>
              <a:t>Key difference: YOLO outputs one bounding box per grid cell in a single pass. Mask R-CNN first proposes candidate regions, then classifies each and generates a pixel-level mask — two stages, but much more precise.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9144000" cy="457200"/>
          </a:xfrm>
          <a:prstGeom prst="rect">
            <a:avLst/>
          </a:prstGeom>
          <a:noFill/>
        </p:spPr>
        <p:txBody>
          <a:bodyPr wrap="square">
            <a:spAutoFit/>
          </a:bodyPr>
          <a:lstStyle/>
          <a:p>
            <a:pPr algn="l">
              <a:defRPr sz="3000" b="1">
                <a:solidFill>
                  <a:srgbClr val="1F2A37"/>
                </a:solidFill>
              </a:defRPr>
            </a:pPr>
            <a:r>
              <a:t>Phase 1: Object Detection with YOLO</a:t>
            </a:r>
          </a:p>
        </p:txBody>
      </p:sp>
      <p:sp>
        <p:nvSpPr>
          <p:cNvPr id="4" name="Rounded Rectangle 3"/>
          <p:cNvSpPr/>
          <p:nvPr/>
        </p:nvSpPr>
        <p:spPr>
          <a:xfrm>
            <a:off x="457200" y="914400"/>
            <a:ext cx="5669280" cy="2743200"/>
          </a:xfrm>
          <a:prstGeom prst="roundRect">
            <a:avLst/>
          </a:prstGeom>
          <a:solidFill>
            <a:srgbClr val="FFFFFF"/>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51560"/>
            <a:ext cx="5029200" cy="365760"/>
          </a:xfrm>
          <a:prstGeom prst="rect">
            <a:avLst/>
          </a:prstGeom>
          <a:noFill/>
        </p:spPr>
        <p:txBody>
          <a:bodyPr wrap="square">
            <a:spAutoFit/>
          </a:bodyPr>
          <a:lstStyle/>
          <a:p>
            <a:pPr algn="l">
              <a:defRPr sz="1800" b="1">
                <a:solidFill>
                  <a:srgbClr val="EA580C"/>
                </a:solidFill>
              </a:defRPr>
            </a:pPr>
            <a:r>
              <a:t>YOLO (Ultralytics)</a:t>
            </a:r>
          </a:p>
        </p:txBody>
      </p:sp>
      <p:graphicFrame>
        <p:nvGraphicFramePr>
          <p:cNvPr id="6" name="Table 5"/>
          <p:cNvGraphicFramePr>
            <a:graphicFrameLocks noGrp="1"/>
          </p:cNvGraphicFramePr>
          <p:nvPr/>
        </p:nvGraphicFramePr>
        <p:xfrm>
          <a:off x="640080" y="1463040"/>
          <a:ext cx="5120640" cy="2011680"/>
        </p:xfrm>
        <a:graphic>
          <a:graphicData uri="http://schemas.openxmlformats.org/drawingml/2006/table">
            <a:tbl>
              <a:tblPr firstRow="1" bandRow="1">
                <a:tableStyleId>{5C22544A-7EE6-4342-B048-85BDC9FD1C3A}</a:tableStyleId>
              </a:tblPr>
              <a:tblGrid>
                <a:gridCol w="1828800"/>
                <a:gridCol w="3291840"/>
              </a:tblGrid>
              <a:tr h="335280">
                <a:tc>
                  <a:txBody>
                    <a:bodyPr/>
                    <a:lstStyle/>
                    <a:p>
                      <a:pPr>
                        <a:defRPr sz="1100" b="1">
                          <a:solidFill>
                            <a:srgbClr val="2563EB"/>
                          </a:solidFill>
                        </a:defRPr>
                      </a:pPr>
                      <a:r>
                        <a:t>Parameter</a:t>
                      </a:r>
                    </a:p>
                  </a:txBody>
                  <a:tcPr>
                    <a:solidFill>
                      <a:srgbClr val="F0F2F5"/>
                    </a:solidFill>
                  </a:tcPr>
                </a:tc>
                <a:tc>
                  <a:txBody>
                    <a:bodyPr/>
                    <a:lstStyle/>
                    <a:p>
                      <a:pPr>
                        <a:defRPr sz="1100" b="1">
                          <a:solidFill>
                            <a:srgbClr val="2563EB"/>
                          </a:solidFill>
                        </a:defRPr>
                      </a:pPr>
                      <a:r>
                        <a:t>Value</a:t>
                      </a:r>
                    </a:p>
                  </a:txBody>
                  <a:tcPr>
                    <a:solidFill>
                      <a:srgbClr val="F0F2F5"/>
                    </a:solidFill>
                  </a:tcPr>
                </a:tc>
              </a:tr>
              <a:tr h="335280">
                <a:tc>
                  <a:txBody>
                    <a:bodyPr/>
                    <a:lstStyle/>
                    <a:p>
                      <a:pPr>
                        <a:defRPr sz="1100">
                          <a:solidFill>
                            <a:srgbClr val="1F2A37"/>
                          </a:solidFill>
                        </a:defRPr>
                      </a:pPr>
                      <a:r>
                        <a:t>Architecture</a:t>
                      </a:r>
                    </a:p>
                  </a:txBody>
                  <a:tcPr>
                    <a:solidFill>
                      <a:srgbClr val="FFFFFF"/>
                    </a:solidFill>
                  </a:tcPr>
                </a:tc>
                <a:tc>
                  <a:txBody>
                    <a:bodyPr/>
                    <a:lstStyle/>
                    <a:p>
                      <a:pPr>
                        <a:defRPr sz="1100">
                          <a:solidFill>
                            <a:srgbClr val="1F2A37"/>
                          </a:solidFill>
                        </a:defRPr>
                      </a:pPr>
                      <a:r>
                        <a:t>YOLO</a:t>
                      </a:r>
                    </a:p>
                  </a:txBody>
                  <a:tcPr>
                    <a:solidFill>
                      <a:srgbClr val="FFFFFF"/>
                    </a:solidFill>
                  </a:tcPr>
                </a:tc>
              </a:tr>
              <a:tr h="335280">
                <a:tc>
                  <a:txBody>
                    <a:bodyPr/>
                    <a:lstStyle/>
                    <a:p>
                      <a:pPr>
                        <a:defRPr sz="1100">
                          <a:solidFill>
                            <a:srgbClr val="1F2A37"/>
                          </a:solidFill>
                        </a:defRPr>
                      </a:pPr>
                      <a:r>
                        <a:t>Framework</a:t>
                      </a:r>
                    </a:p>
                  </a:txBody>
                  <a:tcPr>
                    <a:solidFill>
                      <a:srgbClr val="F0F2F5"/>
                    </a:solidFill>
                  </a:tcPr>
                </a:tc>
                <a:tc>
                  <a:txBody>
                    <a:bodyPr/>
                    <a:lstStyle/>
                    <a:p>
                      <a:pPr>
                        <a:defRPr sz="1100">
                          <a:solidFill>
                            <a:srgbClr val="1F2A37"/>
                          </a:solidFill>
                        </a:defRPr>
                      </a:pPr>
                      <a:r>
                        <a:t>Ultralytics</a:t>
                      </a:r>
                    </a:p>
                  </a:txBody>
                  <a:tcPr>
                    <a:solidFill>
                      <a:srgbClr val="F0F2F5"/>
                    </a:solidFill>
                  </a:tcPr>
                </a:tc>
              </a:tr>
              <a:tr h="335280">
                <a:tc>
                  <a:txBody>
                    <a:bodyPr/>
                    <a:lstStyle/>
                    <a:p>
                      <a:pPr>
                        <a:defRPr sz="1100">
                          <a:solidFill>
                            <a:srgbClr val="1F2A37"/>
                          </a:solidFill>
                        </a:defRPr>
                      </a:pPr>
                      <a:r>
                        <a:t>Training dataset</a:t>
                      </a:r>
                    </a:p>
                  </a:txBody>
                  <a:tcPr>
                    <a:solidFill>
                      <a:srgbClr val="FFFFFF"/>
                    </a:solidFill>
                  </a:tcPr>
                </a:tc>
                <a:tc>
                  <a:txBody>
                    <a:bodyPr/>
                    <a:lstStyle/>
                    <a:p>
                      <a:pPr>
                        <a:defRPr sz="1100">
                          <a:solidFill>
                            <a:srgbClr val="1F2A37"/>
                          </a:solidFill>
                        </a:defRPr>
                      </a:pPr>
                      <a:r>
                        <a:t>FBIS-22M (22M+ instances)</a:t>
                      </a:r>
                    </a:p>
                  </a:txBody>
                  <a:tcPr>
                    <a:solidFill>
                      <a:srgbClr val="FFFFFF"/>
                    </a:solidFill>
                  </a:tcPr>
                </a:tc>
              </a:tr>
              <a:tr h="335280">
                <a:tc>
                  <a:txBody>
                    <a:bodyPr/>
                    <a:lstStyle/>
                    <a:p>
                      <a:pPr>
                        <a:defRPr sz="1100">
                          <a:solidFill>
                            <a:srgbClr val="1F2A37"/>
                          </a:solidFill>
                        </a:defRPr>
                      </a:pPr>
                      <a:r>
                        <a:t>Annotation type</a:t>
                      </a:r>
                    </a:p>
                  </a:txBody>
                  <a:tcPr>
                    <a:solidFill>
                      <a:srgbClr val="F0F2F5"/>
                    </a:solidFill>
                  </a:tcPr>
                </a:tc>
                <a:tc>
                  <a:txBody>
                    <a:bodyPr/>
                    <a:lstStyle/>
                    <a:p>
                      <a:pPr>
                        <a:defRPr sz="1100">
                          <a:solidFill>
                            <a:srgbClr val="1F2A37"/>
                          </a:solidFill>
                        </a:defRPr>
                      </a:pPr>
                      <a:r>
                        <a:t>Bounding boxes</a:t>
                      </a:r>
                    </a:p>
                  </a:txBody>
                  <a:tcPr>
                    <a:solidFill>
                      <a:srgbClr val="F0F2F5"/>
                    </a:solidFill>
                  </a:tcPr>
                </a:tc>
              </a:tr>
              <a:tr h="335280">
                <a:tc>
                  <a:txBody>
                    <a:bodyPr/>
                    <a:lstStyle/>
                    <a:p>
                      <a:pPr>
                        <a:defRPr sz="1100">
                          <a:solidFill>
                            <a:srgbClr val="1F2A37"/>
                          </a:solidFill>
                        </a:defRPr>
                      </a:pPr>
                      <a:r>
                        <a:t>Output</a:t>
                      </a:r>
                    </a:p>
                  </a:txBody>
                  <a:tcPr>
                    <a:solidFill>
                      <a:srgbClr val="FFFFFF"/>
                    </a:solidFill>
                  </a:tcPr>
                </a:tc>
                <a:tc>
                  <a:txBody>
                    <a:bodyPr/>
                    <a:lstStyle/>
                    <a:p>
                      <a:pPr>
                        <a:defRPr sz="1100">
                          <a:solidFill>
                            <a:srgbClr val="1F2A37"/>
                          </a:solidFill>
                        </a:defRPr>
                      </a:pPr>
                      <a:r>
                        <a:t>Rectangular field detections</a:t>
                      </a:r>
                    </a:p>
                  </a:txBody>
                  <a:tcPr>
                    <a:solidFill>
                      <a:srgbClr val="FFFFFF"/>
                    </a:solidFill>
                  </a:tcPr>
                </a:tc>
              </a:tr>
            </a:tbl>
          </a:graphicData>
        </a:graphic>
      </p:graphicFrame>
      <p:sp>
        <p:nvSpPr>
          <p:cNvPr id="7" name="Rounded Rectangle 6"/>
          <p:cNvSpPr/>
          <p:nvPr/>
        </p:nvSpPr>
        <p:spPr>
          <a:xfrm>
            <a:off x="6400800" y="914400"/>
            <a:ext cx="5486400" cy="2743200"/>
          </a:xfrm>
          <a:prstGeom prst="roundRect">
            <a:avLst/>
          </a:prstGeom>
          <a:solidFill>
            <a:srgbClr val="FFFFFF"/>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1051560"/>
            <a:ext cx="5029200" cy="365760"/>
          </a:xfrm>
          <a:prstGeom prst="rect">
            <a:avLst/>
          </a:prstGeom>
          <a:noFill/>
        </p:spPr>
        <p:txBody>
          <a:bodyPr wrap="square">
            <a:spAutoFit/>
          </a:bodyPr>
          <a:lstStyle/>
          <a:p>
            <a:pPr algn="l">
              <a:defRPr sz="1800" b="1">
                <a:solidFill>
                  <a:srgbClr val="EA580C"/>
                </a:solidFill>
              </a:defRPr>
            </a:pPr>
            <a:r>
              <a:t>The FBIS-22M dataset</a:t>
            </a:r>
          </a:p>
        </p:txBody>
      </p:sp>
      <p:sp>
        <p:nvSpPr>
          <p:cNvPr id="9" name="TextBox 8"/>
          <p:cNvSpPr txBox="1"/>
          <p:nvPr/>
        </p:nvSpPr>
        <p:spPr>
          <a:xfrm>
            <a:off x="6675120" y="1463040"/>
            <a:ext cx="5029200" cy="2011680"/>
          </a:xfrm>
          <a:prstGeom prst="rect">
            <a:avLst/>
          </a:prstGeom>
          <a:noFill/>
        </p:spPr>
        <p:txBody>
          <a:bodyPr wrap="square">
            <a:spAutoFit/>
          </a:bodyPr>
          <a:lstStyle/>
          <a:p>
            <a:pPr algn="l">
              <a:defRPr sz="1200" b="0">
                <a:solidFill>
                  <a:srgbClr val="1F2A37"/>
                </a:solidFill>
              </a:defRPr>
            </a:pPr>
            <a:r>
              <a:t>FBIS-22M is a large-scale field boundary dataset containing over 22 million annotated field instances from diverse agricultural regions worldwide. It covers multiple satellite resolutions and geographic contexts.</a:t>
            </a:r>
            <a:br/>
            <a:br/>
            <a:r>
              <a:t>Using this pre-trained model, we could detect fields without any custom training — a significant advantage for rapid prototyping. However, bounding boxes provide coarse localization: a rectangular box around an L-shaped field includes substantial non-field area.</a:t>
            </a:r>
          </a:p>
        </p:txBody>
      </p:sp>
      <p:sp>
        <p:nvSpPr>
          <p:cNvPr id="10" name="TextBox 9"/>
          <p:cNvSpPr txBox="1"/>
          <p:nvPr/>
        </p:nvSpPr>
        <p:spPr>
          <a:xfrm>
            <a:off x="731520" y="3840480"/>
            <a:ext cx="10972800" cy="731520"/>
          </a:xfrm>
          <a:prstGeom prst="rect">
            <a:avLst/>
          </a:prstGeom>
          <a:noFill/>
        </p:spPr>
        <p:txBody>
          <a:bodyPr wrap="square">
            <a:spAutoFit/>
          </a:bodyPr>
          <a:lstStyle/>
          <a:p>
            <a:pPr algn="l">
              <a:defRPr sz="1400" b="0">
                <a:solidFill>
                  <a:srgbClr val="6B7280"/>
                </a:solidFill>
              </a:defRPr>
            </a:pPr>
            <a:r>
              <a:t>This phase established that automated field detection from satellite imagery was feasible at scale. The detection results were promising but the bounding-box representation was insufficient for precise boundary delineation — motivating our transition to instance segmentation.</a:t>
            </a:r>
          </a:p>
        </p:txBody>
      </p:sp>
      <p:sp>
        <p:nvSpPr>
          <p:cNvPr id="11" name="Rounded Rectangle 10"/>
          <p:cNvSpPr/>
          <p:nvPr/>
        </p:nvSpPr>
        <p:spPr>
          <a:xfrm>
            <a:off x="457200" y="4663440"/>
            <a:ext cx="11430000" cy="1920240"/>
          </a:xfrm>
          <a:prstGeom prst="roundRect">
            <a:avLst/>
          </a:prstGeom>
          <a:solidFill>
            <a:srgbClr val="E5E7EB"/>
          </a:solidFill>
          <a:ln w="12700">
            <a:solidFill>
              <a:srgbClr val="D1D5DB"/>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i="1">
                <a:solidFill>
                  <a:srgbClr val="6B7280"/>
                </a:solidFill>
              </a:defRPr>
            </a:pPr>
            <a:r>
              <a:t>Visualization: YOLO bounding box output on agricultural satellite image — rectangular boxes around detected fields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972800" cy="457200"/>
          </a:xfrm>
          <a:prstGeom prst="rect">
            <a:avLst/>
          </a:prstGeom>
          <a:noFill/>
        </p:spPr>
        <p:txBody>
          <a:bodyPr wrap="square">
            <a:spAutoFit/>
          </a:bodyPr>
          <a:lstStyle/>
          <a:p>
            <a:pPr algn="l">
              <a:defRPr sz="3000" b="1">
                <a:solidFill>
                  <a:srgbClr val="1F2A37"/>
                </a:solidFill>
              </a:defRPr>
            </a:pPr>
            <a:r>
              <a:t>Phase 2: Instance Segmentation with Mask R-CNN</a:t>
            </a:r>
          </a:p>
        </p:txBody>
      </p:sp>
      <p:sp>
        <p:nvSpPr>
          <p:cNvPr id="4" name="Rounded Rectangle 3"/>
          <p:cNvSpPr/>
          <p:nvPr/>
        </p:nvSpPr>
        <p:spPr>
          <a:xfrm>
            <a:off x="457200" y="914400"/>
            <a:ext cx="5669280" cy="2743200"/>
          </a:xfrm>
          <a:prstGeom prst="roundRect">
            <a:avLst/>
          </a:prstGeom>
          <a:solidFill>
            <a:srgbClr val="FFFFFF"/>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51560"/>
            <a:ext cx="5029200" cy="365760"/>
          </a:xfrm>
          <a:prstGeom prst="rect">
            <a:avLst/>
          </a:prstGeom>
          <a:noFill/>
        </p:spPr>
        <p:txBody>
          <a:bodyPr wrap="square">
            <a:spAutoFit/>
          </a:bodyPr>
          <a:lstStyle/>
          <a:p>
            <a:pPr algn="l">
              <a:defRPr sz="1800" b="1">
                <a:solidFill>
                  <a:srgbClr val="2563EB"/>
                </a:solidFill>
              </a:defRPr>
            </a:pPr>
            <a:r>
              <a:t>Mask R-CNN (Detectron2)</a:t>
            </a:r>
          </a:p>
        </p:txBody>
      </p:sp>
      <p:graphicFrame>
        <p:nvGraphicFramePr>
          <p:cNvPr id="6" name="Table 5"/>
          <p:cNvGraphicFramePr>
            <a:graphicFrameLocks noGrp="1"/>
          </p:cNvGraphicFramePr>
          <p:nvPr/>
        </p:nvGraphicFramePr>
        <p:xfrm>
          <a:off x="640080" y="1463040"/>
          <a:ext cx="5120640" cy="2011680"/>
        </p:xfrm>
        <a:graphic>
          <a:graphicData uri="http://schemas.openxmlformats.org/drawingml/2006/table">
            <a:tbl>
              <a:tblPr firstRow="1" bandRow="1">
                <a:tableStyleId>{5C22544A-7EE6-4342-B048-85BDC9FD1C3A}</a:tableStyleId>
              </a:tblPr>
              <a:tblGrid>
                <a:gridCol w="1828800"/>
                <a:gridCol w="3291840"/>
              </a:tblGrid>
              <a:tr h="287382">
                <a:tc>
                  <a:txBody>
                    <a:bodyPr/>
                    <a:lstStyle/>
                    <a:p>
                      <a:pPr>
                        <a:defRPr sz="1100" b="1">
                          <a:solidFill>
                            <a:srgbClr val="2563EB"/>
                          </a:solidFill>
                        </a:defRPr>
                      </a:pPr>
                      <a:r>
                        <a:t>Parameter</a:t>
                      </a:r>
                    </a:p>
                  </a:txBody>
                  <a:tcPr>
                    <a:solidFill>
                      <a:srgbClr val="F0F2F5"/>
                    </a:solidFill>
                  </a:tcPr>
                </a:tc>
                <a:tc>
                  <a:txBody>
                    <a:bodyPr/>
                    <a:lstStyle/>
                    <a:p>
                      <a:pPr>
                        <a:defRPr sz="1100" b="1">
                          <a:solidFill>
                            <a:srgbClr val="2563EB"/>
                          </a:solidFill>
                        </a:defRPr>
                      </a:pPr>
                      <a:r>
                        <a:t>Value</a:t>
                      </a:r>
                    </a:p>
                  </a:txBody>
                  <a:tcPr>
                    <a:solidFill>
                      <a:srgbClr val="F0F2F5"/>
                    </a:solidFill>
                  </a:tcPr>
                </a:tc>
              </a:tr>
              <a:tr h="287382">
                <a:tc>
                  <a:txBody>
                    <a:bodyPr/>
                    <a:lstStyle/>
                    <a:p>
                      <a:pPr>
                        <a:defRPr sz="1100">
                          <a:solidFill>
                            <a:srgbClr val="1F2A37"/>
                          </a:solidFill>
                        </a:defRPr>
                      </a:pPr>
                      <a:r>
                        <a:t>Architecture</a:t>
                      </a:r>
                    </a:p>
                  </a:txBody>
                  <a:tcPr>
                    <a:solidFill>
                      <a:srgbClr val="FFFFFF"/>
                    </a:solidFill>
                  </a:tcPr>
                </a:tc>
                <a:tc>
                  <a:txBody>
                    <a:bodyPr/>
                    <a:lstStyle/>
                    <a:p>
                      <a:pPr>
                        <a:defRPr sz="1100">
                          <a:solidFill>
                            <a:srgbClr val="1F2A37"/>
                          </a:solidFill>
                        </a:defRPr>
                      </a:pPr>
                      <a:r>
                        <a:t>Mask R-CNN (ResNet-101 + FPN)</a:t>
                      </a:r>
                    </a:p>
                  </a:txBody>
                  <a:tcPr>
                    <a:solidFill>
                      <a:srgbClr val="FFFFFF"/>
                    </a:solidFill>
                  </a:tcPr>
                </a:tc>
              </a:tr>
              <a:tr h="287382">
                <a:tc>
                  <a:txBody>
                    <a:bodyPr/>
                    <a:lstStyle/>
                    <a:p>
                      <a:pPr>
                        <a:defRPr sz="1100">
                          <a:solidFill>
                            <a:srgbClr val="1F2A37"/>
                          </a:solidFill>
                        </a:defRPr>
                      </a:pPr>
                      <a:r>
                        <a:t>Framework</a:t>
                      </a:r>
                    </a:p>
                  </a:txBody>
                  <a:tcPr>
                    <a:solidFill>
                      <a:srgbClr val="F0F2F5"/>
                    </a:solidFill>
                  </a:tcPr>
                </a:tc>
                <a:tc>
                  <a:txBody>
                    <a:bodyPr/>
                    <a:lstStyle/>
                    <a:p>
                      <a:pPr>
                        <a:defRPr sz="1100">
                          <a:solidFill>
                            <a:srgbClr val="1F2A37"/>
                          </a:solidFill>
                        </a:defRPr>
                      </a:pPr>
                      <a:r>
                        <a:t>Detectron2 (Meta Research)</a:t>
                      </a:r>
                    </a:p>
                  </a:txBody>
                  <a:tcPr>
                    <a:solidFill>
                      <a:srgbClr val="F0F2F5"/>
                    </a:solidFill>
                  </a:tcPr>
                </a:tc>
              </a:tr>
              <a:tr h="287382">
                <a:tc>
                  <a:txBody>
                    <a:bodyPr/>
                    <a:lstStyle/>
                    <a:p>
                      <a:pPr>
                        <a:defRPr sz="1100">
                          <a:solidFill>
                            <a:srgbClr val="1F2A37"/>
                          </a:solidFill>
                        </a:defRPr>
                      </a:pPr>
                      <a:r>
                        <a:t>Training dataset</a:t>
                      </a:r>
                    </a:p>
                  </a:txBody>
                  <a:tcPr>
                    <a:solidFill>
                      <a:srgbClr val="FFFFFF"/>
                    </a:solidFill>
                  </a:tcPr>
                </a:tc>
                <a:tc>
                  <a:txBody>
                    <a:bodyPr/>
                    <a:lstStyle/>
                    <a:p>
                      <a:pPr>
                        <a:defRPr sz="1100">
                          <a:solidFill>
                            <a:srgbClr val="1F2A37"/>
                          </a:solidFill>
                        </a:defRPr>
                      </a:pPr>
                      <a:r>
                        <a:t>Custom (managed via Roboflow)</a:t>
                      </a:r>
                    </a:p>
                  </a:txBody>
                  <a:tcPr>
                    <a:solidFill>
                      <a:srgbClr val="FFFFFF"/>
                    </a:solidFill>
                  </a:tcPr>
                </a:tc>
              </a:tr>
              <a:tr h="287382">
                <a:tc>
                  <a:txBody>
                    <a:bodyPr/>
                    <a:lstStyle/>
                    <a:p>
                      <a:pPr>
                        <a:defRPr sz="1100">
                          <a:solidFill>
                            <a:srgbClr val="1F2A37"/>
                          </a:solidFill>
                        </a:defRPr>
                      </a:pPr>
                      <a:r>
                        <a:t>Annotation type</a:t>
                      </a:r>
                    </a:p>
                  </a:txBody>
                  <a:tcPr>
                    <a:solidFill>
                      <a:srgbClr val="F0F2F5"/>
                    </a:solidFill>
                  </a:tcPr>
                </a:tc>
                <a:tc>
                  <a:txBody>
                    <a:bodyPr/>
                    <a:lstStyle/>
                    <a:p>
                      <a:pPr>
                        <a:defRPr sz="1100">
                          <a:solidFill>
                            <a:srgbClr val="1F2A37"/>
                          </a:solidFill>
                        </a:defRPr>
                      </a:pPr>
                      <a:r>
                        <a:t>Per-pixel segmentation masks</a:t>
                      </a:r>
                    </a:p>
                  </a:txBody>
                  <a:tcPr>
                    <a:solidFill>
                      <a:srgbClr val="F0F2F5"/>
                    </a:solidFill>
                  </a:tcPr>
                </a:tc>
              </a:tr>
              <a:tr h="287382">
                <a:tc>
                  <a:txBody>
                    <a:bodyPr/>
                    <a:lstStyle/>
                    <a:p>
                      <a:pPr>
                        <a:defRPr sz="1100">
                          <a:solidFill>
                            <a:srgbClr val="1F2A37"/>
                          </a:solidFill>
                        </a:defRPr>
                      </a:pPr>
                      <a:r>
                        <a:t>Pre-training</a:t>
                      </a:r>
                    </a:p>
                  </a:txBody>
                  <a:tcPr>
                    <a:solidFill>
                      <a:srgbClr val="FFFFFF"/>
                    </a:solidFill>
                  </a:tcPr>
                </a:tc>
                <a:tc>
                  <a:txBody>
                    <a:bodyPr/>
                    <a:lstStyle/>
                    <a:p>
                      <a:pPr>
                        <a:defRPr sz="1100">
                          <a:solidFill>
                            <a:srgbClr val="1F2A37"/>
                          </a:solidFill>
                        </a:defRPr>
                      </a:pPr>
                      <a:r>
                        <a:t>COCO ImageNet weights</a:t>
                      </a:r>
                    </a:p>
                  </a:txBody>
                  <a:tcPr>
                    <a:solidFill>
                      <a:srgbClr val="FFFFFF"/>
                    </a:solidFill>
                  </a:tcPr>
                </a:tc>
              </a:tr>
              <a:tr h="287388">
                <a:tc>
                  <a:txBody>
                    <a:bodyPr/>
                    <a:lstStyle/>
                    <a:p>
                      <a:pPr>
                        <a:defRPr sz="1100">
                          <a:solidFill>
                            <a:srgbClr val="1F2A37"/>
                          </a:solidFill>
                        </a:defRPr>
                      </a:pPr>
                      <a:r>
                        <a:t>Experiment tracking</a:t>
                      </a:r>
                    </a:p>
                  </a:txBody>
                  <a:tcPr>
                    <a:solidFill>
                      <a:srgbClr val="F0F2F5"/>
                    </a:solidFill>
                  </a:tcPr>
                </a:tc>
                <a:tc>
                  <a:txBody>
                    <a:bodyPr/>
                    <a:lstStyle/>
                    <a:p>
                      <a:pPr>
                        <a:defRPr sz="1100">
                          <a:solidFill>
                            <a:srgbClr val="1F2A37"/>
                          </a:solidFill>
                        </a:defRPr>
                      </a:pPr>
                      <a:r>
                        <a:t>MLflow</a:t>
                      </a:r>
                    </a:p>
                  </a:txBody>
                  <a:tcPr>
                    <a:solidFill>
                      <a:srgbClr val="F0F2F5"/>
                    </a:solidFill>
                  </a:tcPr>
                </a:tc>
              </a:tr>
            </a:tbl>
          </a:graphicData>
        </a:graphic>
      </p:graphicFrame>
      <p:sp>
        <p:nvSpPr>
          <p:cNvPr id="7" name="Rounded Rectangle 6"/>
          <p:cNvSpPr/>
          <p:nvPr/>
        </p:nvSpPr>
        <p:spPr>
          <a:xfrm>
            <a:off x="6400800" y="914400"/>
            <a:ext cx="5486400" cy="2743200"/>
          </a:xfrm>
          <a:prstGeom prst="roundRect">
            <a:avLst/>
          </a:prstGeom>
          <a:solidFill>
            <a:srgbClr val="FFFFFF"/>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1051560"/>
            <a:ext cx="5029200" cy="365760"/>
          </a:xfrm>
          <a:prstGeom prst="rect">
            <a:avLst/>
          </a:prstGeom>
          <a:noFill/>
        </p:spPr>
        <p:txBody>
          <a:bodyPr wrap="square">
            <a:spAutoFit/>
          </a:bodyPr>
          <a:lstStyle/>
          <a:p>
            <a:pPr algn="l">
              <a:defRPr sz="1800" b="1">
                <a:solidFill>
                  <a:srgbClr val="2563EB"/>
                </a:solidFill>
              </a:defRPr>
            </a:pPr>
            <a:r>
              <a:t>Our fine-tuning approach</a:t>
            </a:r>
          </a:p>
        </p:txBody>
      </p:sp>
      <p:sp>
        <p:nvSpPr>
          <p:cNvPr id="9" name="TextBox 8"/>
          <p:cNvSpPr txBox="1"/>
          <p:nvPr/>
        </p:nvSpPr>
        <p:spPr>
          <a:xfrm>
            <a:off x="6675120" y="1463040"/>
            <a:ext cx="5029200" cy="2011680"/>
          </a:xfrm>
          <a:prstGeom prst="rect">
            <a:avLst/>
          </a:prstGeom>
          <a:noFill/>
        </p:spPr>
        <p:txBody>
          <a:bodyPr wrap="square">
            <a:spAutoFit/>
          </a:bodyPr>
          <a:lstStyle/>
          <a:p>
            <a:pPr algn="l">
              <a:defRPr sz="1200" b="0">
                <a:solidFill>
                  <a:srgbClr val="1F2A37"/>
                </a:solidFill>
              </a:defRPr>
            </a:pPr>
            <a:r>
              <a:t>We prepared our own training dataset using Roboflow, annotating agricultural fields with pixel-level segmentation masks rather than simple bounding boxes.</a:t>
            </a:r>
            <a:br/>
            <a:br/>
            <a:r>
              <a:t>Starting from COCO-pretrained weights, we fine-tuned the model specifically on agricultural field data. This gives us full control over model behavior — we can add region-specific data, adjust class definitions, or retrain when we encounter new agricultural patterns.</a:t>
            </a:r>
            <a:br/>
            <a:br/>
            <a:r>
              <a:t>All training experiments are tracked through MLflow: loss curves, validation mAP, learning rate schedules, and model checkpoints.</a:t>
            </a:r>
          </a:p>
        </p:txBody>
      </p:sp>
      <p:sp>
        <p:nvSpPr>
          <p:cNvPr id="10" name="TextBox 9"/>
          <p:cNvSpPr txBox="1"/>
          <p:nvPr/>
        </p:nvSpPr>
        <p:spPr>
          <a:xfrm>
            <a:off x="731520" y="3840480"/>
            <a:ext cx="10972800" cy="731520"/>
          </a:xfrm>
          <a:prstGeom prst="rect">
            <a:avLst/>
          </a:prstGeom>
          <a:noFill/>
        </p:spPr>
        <p:txBody>
          <a:bodyPr wrap="square">
            <a:spAutoFit/>
          </a:bodyPr>
          <a:lstStyle/>
          <a:p>
            <a:pPr algn="l">
              <a:defRPr sz="1400" b="0">
                <a:solidFill>
                  <a:srgbClr val="6B7280"/>
                </a:solidFill>
              </a:defRPr>
            </a:pPr>
            <a:r>
              <a:t>The key advantage of Mask R-CNN: it produces a precise pixel-level mask for each detected field, following the actual irregular shape of the parcel. Combined with Detectron2's Apache-2.0 license, this approach gives us both precision and commercial deployment freedom.</a:t>
            </a:r>
          </a:p>
        </p:txBody>
      </p:sp>
      <p:sp>
        <p:nvSpPr>
          <p:cNvPr id="11" name="Rounded Rectangle 10"/>
          <p:cNvSpPr/>
          <p:nvPr/>
        </p:nvSpPr>
        <p:spPr>
          <a:xfrm>
            <a:off x="457200" y="4663440"/>
            <a:ext cx="11430000" cy="1920240"/>
          </a:xfrm>
          <a:prstGeom prst="roundRect">
            <a:avLst/>
          </a:prstGeom>
          <a:solidFill>
            <a:srgbClr val="E5E7EB"/>
          </a:solidFill>
          <a:ln w="12700">
            <a:solidFill>
              <a:srgbClr val="D1D5DB"/>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i="1">
                <a:solidFill>
                  <a:srgbClr val="6B7280"/>
                </a:solidFill>
              </a:defRPr>
            </a:pPr>
            <a:r>
              <a:t>Visualization: Mask R-CNN output — satellite image with precise per-instance polygon segmentation masks, each field colored differently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9144000" cy="457200"/>
          </a:xfrm>
          <a:prstGeom prst="rect">
            <a:avLst/>
          </a:prstGeom>
          <a:noFill/>
        </p:spPr>
        <p:txBody>
          <a:bodyPr wrap="square">
            <a:spAutoFit/>
          </a:bodyPr>
          <a:lstStyle/>
          <a:p>
            <a:pPr algn="l">
              <a:defRPr sz="3000" b="1">
                <a:solidFill>
                  <a:srgbClr val="1F2A37"/>
                </a:solidFill>
              </a:defRPr>
            </a:pPr>
            <a:r>
              <a:t>GPU-Accelerated Inference</a:t>
            </a:r>
          </a:p>
        </p:txBody>
      </p:sp>
      <p:sp>
        <p:nvSpPr>
          <p:cNvPr id="4" name="Rounded Rectangle 3"/>
          <p:cNvSpPr/>
          <p:nvPr/>
        </p:nvSpPr>
        <p:spPr>
          <a:xfrm>
            <a:off x="457200" y="914400"/>
            <a:ext cx="5669280" cy="2286000"/>
          </a:xfrm>
          <a:prstGeom prst="roundRect">
            <a:avLst/>
          </a:prstGeom>
          <a:solidFill>
            <a:srgbClr val="FFFFFF"/>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40080" y="1097280"/>
          <a:ext cx="5120640" cy="1920240"/>
        </p:xfrm>
        <a:graphic>
          <a:graphicData uri="http://schemas.openxmlformats.org/drawingml/2006/table">
            <a:tbl>
              <a:tblPr firstRow="1" bandRow="1">
                <a:tableStyleId>{5C22544A-7EE6-4342-B048-85BDC9FD1C3A}</a:tableStyleId>
              </a:tblPr>
              <a:tblGrid>
                <a:gridCol w="1828800"/>
                <a:gridCol w="3291840"/>
              </a:tblGrid>
              <a:tr h="320040">
                <a:tc>
                  <a:txBody>
                    <a:bodyPr/>
                    <a:lstStyle/>
                    <a:p>
                      <a:pPr>
                        <a:defRPr sz="1100" b="1">
                          <a:solidFill>
                            <a:srgbClr val="2563EB"/>
                          </a:solidFill>
                        </a:defRPr>
                      </a:pPr>
                      <a:r>
                        <a:t>Optimization</a:t>
                      </a:r>
                    </a:p>
                  </a:txBody>
                  <a:tcPr>
                    <a:solidFill>
                      <a:srgbClr val="F0F2F5"/>
                    </a:solidFill>
                  </a:tcPr>
                </a:tc>
                <a:tc>
                  <a:txBody>
                    <a:bodyPr/>
                    <a:lstStyle/>
                    <a:p>
                      <a:pPr>
                        <a:defRPr sz="1100" b="1">
                          <a:solidFill>
                            <a:srgbClr val="2563EB"/>
                          </a:solidFill>
                        </a:defRPr>
                      </a:pPr>
                      <a:r>
                        <a:t>Technique</a:t>
                      </a:r>
                    </a:p>
                  </a:txBody>
                  <a:tcPr>
                    <a:solidFill>
                      <a:srgbClr val="F0F2F5"/>
                    </a:solidFill>
                  </a:tcPr>
                </a:tc>
              </a:tr>
              <a:tr h="320040">
                <a:tc>
                  <a:txBody>
                    <a:bodyPr/>
                    <a:lstStyle/>
                    <a:p>
                      <a:pPr>
                        <a:defRPr sz="1100">
                          <a:solidFill>
                            <a:srgbClr val="1F2A37"/>
                          </a:solidFill>
                        </a:defRPr>
                      </a:pPr>
                      <a:r>
                        <a:t>Parallelism</a:t>
                      </a:r>
                    </a:p>
                  </a:txBody>
                  <a:tcPr>
                    <a:solidFill>
                      <a:srgbClr val="FFFFFF"/>
                    </a:solidFill>
                  </a:tcPr>
                </a:tc>
                <a:tc>
                  <a:txBody>
                    <a:bodyPr/>
                    <a:lstStyle/>
                    <a:p>
                      <a:pPr>
                        <a:defRPr sz="1100">
                          <a:solidFill>
                            <a:srgbClr val="1F2A37"/>
                          </a:solidFill>
                        </a:defRPr>
                      </a:pPr>
                      <a:r>
                        <a:t>8 GPUs via ThreadPoolExecutor</a:t>
                      </a:r>
                    </a:p>
                  </a:txBody>
                  <a:tcPr>
                    <a:solidFill>
                      <a:srgbClr val="FFFFFF"/>
                    </a:solidFill>
                  </a:tcPr>
                </a:tc>
              </a:tr>
              <a:tr h="320040">
                <a:tc>
                  <a:txBody>
                    <a:bodyPr/>
                    <a:lstStyle/>
                    <a:p>
                      <a:pPr>
                        <a:defRPr sz="1100">
                          <a:solidFill>
                            <a:srgbClr val="1F2A37"/>
                          </a:solidFill>
                        </a:defRPr>
                      </a:pPr>
                      <a:r>
                        <a:t>Precision</a:t>
                      </a:r>
                    </a:p>
                  </a:txBody>
                  <a:tcPr>
                    <a:solidFill>
                      <a:srgbClr val="F0F2F5"/>
                    </a:solidFill>
                  </a:tcPr>
                </a:tc>
                <a:tc>
                  <a:txBody>
                    <a:bodyPr/>
                    <a:lstStyle/>
                    <a:p>
                      <a:pPr>
                        <a:defRPr sz="1100">
                          <a:solidFill>
                            <a:srgbClr val="1F2A37"/>
                          </a:solidFill>
                        </a:defRPr>
                      </a:pPr>
                      <a:r>
                        <a:t>BF16 autocast (~2x throughput)</a:t>
                      </a:r>
                    </a:p>
                  </a:txBody>
                  <a:tcPr>
                    <a:solidFill>
                      <a:srgbClr val="F0F2F5"/>
                    </a:solidFill>
                  </a:tcPr>
                </a:tc>
              </a:tr>
              <a:tr h="320040">
                <a:tc>
                  <a:txBody>
                    <a:bodyPr/>
                    <a:lstStyle/>
                    <a:p>
                      <a:pPr>
                        <a:defRPr sz="1100">
                          <a:solidFill>
                            <a:srgbClr val="1F2A37"/>
                          </a:solidFill>
                        </a:defRPr>
                      </a:pPr>
                      <a:r>
                        <a:t>Data I/O</a:t>
                      </a:r>
                    </a:p>
                  </a:txBody>
                  <a:tcPr>
                    <a:solidFill>
                      <a:srgbClr val="FFFFFF"/>
                    </a:solidFill>
                  </a:tcPr>
                </a:tc>
                <a:tc>
                  <a:txBody>
                    <a:bodyPr/>
                    <a:lstStyle/>
                    <a:p>
                      <a:pPr>
                        <a:defRPr sz="1100">
                          <a:solidFill>
                            <a:srgbClr val="1F2A37"/>
                          </a:solidFill>
                        </a:defRPr>
                      </a:pPr>
                      <a:r>
                        <a:t>Async prefetch + GDAL 4GB cache</a:t>
                      </a:r>
                    </a:p>
                  </a:txBody>
                  <a:tcPr>
                    <a:solidFill>
                      <a:srgbClr val="FFFFFF"/>
                    </a:solidFill>
                  </a:tcPr>
                </a:tc>
              </a:tr>
              <a:tr h="320040">
                <a:tc>
                  <a:txBody>
                    <a:bodyPr/>
                    <a:lstStyle/>
                    <a:p>
                      <a:pPr>
                        <a:defRPr sz="1100">
                          <a:solidFill>
                            <a:srgbClr val="1F2A37"/>
                          </a:solidFill>
                        </a:defRPr>
                      </a:pPr>
                      <a:r>
                        <a:t>Batching</a:t>
                      </a:r>
                    </a:p>
                  </a:txBody>
                  <a:tcPr>
                    <a:solidFill>
                      <a:srgbClr val="F0F2F5"/>
                    </a:solidFill>
                  </a:tcPr>
                </a:tc>
                <a:tc>
                  <a:txBody>
                    <a:bodyPr/>
                    <a:lstStyle/>
                    <a:p>
                      <a:pPr>
                        <a:defRPr sz="1100">
                          <a:solidFill>
                            <a:srgbClr val="1F2A37"/>
                          </a:solidFill>
                        </a:defRPr>
                      </a:pPr>
                      <a:r>
                        <a:t>64 tiles per GPU batch</a:t>
                      </a:r>
                    </a:p>
                  </a:txBody>
                  <a:tcPr>
                    <a:solidFill>
                      <a:srgbClr val="F0F2F5"/>
                    </a:solidFill>
                  </a:tcPr>
                </a:tc>
              </a:tr>
              <a:tr h="320040">
                <a:tc>
                  <a:txBody>
                    <a:bodyPr/>
                    <a:lstStyle/>
                    <a:p>
                      <a:pPr>
                        <a:defRPr sz="1100">
                          <a:solidFill>
                            <a:srgbClr val="1F2A37"/>
                          </a:solidFill>
                        </a:defRPr>
                      </a:pPr>
                      <a:r>
                        <a:t>Post-processing</a:t>
                      </a:r>
                    </a:p>
                  </a:txBody>
                  <a:tcPr>
                    <a:solidFill>
                      <a:srgbClr val="FFFFFF"/>
                    </a:solidFill>
                  </a:tcPr>
                </a:tc>
                <a:tc>
                  <a:txBody>
                    <a:bodyPr/>
                    <a:lstStyle/>
                    <a:p>
                      <a:pPr>
                        <a:defRPr sz="1100">
                          <a:solidFill>
                            <a:srgbClr val="1F2A37"/>
                          </a:solidFill>
                        </a:defRPr>
                      </a:pPr>
                      <a:r>
                        <a:t>16 parallel CPU workers</a:t>
                      </a:r>
                    </a:p>
                  </a:txBody>
                  <a:tcPr>
                    <a:solidFill>
                      <a:srgbClr val="FFFFFF"/>
                    </a:solidFill>
                  </a:tcPr>
                </a:tc>
              </a:tr>
            </a:tbl>
          </a:graphicData>
        </a:graphic>
      </p:graphicFrame>
      <p:sp>
        <p:nvSpPr>
          <p:cNvPr id="6" name="Rounded Rectangle 5"/>
          <p:cNvSpPr/>
          <p:nvPr/>
        </p:nvSpPr>
        <p:spPr>
          <a:xfrm>
            <a:off x="6400800" y="914400"/>
            <a:ext cx="5486400" cy="2286000"/>
          </a:xfrm>
          <a:prstGeom prst="roundRect">
            <a:avLst/>
          </a:prstGeom>
          <a:solidFill>
            <a:srgbClr val="FFFFFF"/>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1051560"/>
            <a:ext cx="5029200" cy="365760"/>
          </a:xfrm>
          <a:prstGeom prst="rect">
            <a:avLst/>
          </a:prstGeom>
          <a:noFill/>
        </p:spPr>
        <p:txBody>
          <a:bodyPr wrap="square">
            <a:spAutoFit/>
          </a:bodyPr>
          <a:lstStyle/>
          <a:p>
            <a:pPr algn="l">
              <a:defRPr sz="1600" b="1">
                <a:solidFill>
                  <a:srgbClr val="2563EB"/>
                </a:solidFill>
              </a:defRPr>
            </a:pPr>
            <a:r>
              <a:t>How it works</a:t>
            </a:r>
          </a:p>
        </p:txBody>
      </p:sp>
      <p:sp>
        <p:nvSpPr>
          <p:cNvPr id="8" name="TextBox 7"/>
          <p:cNvSpPr txBox="1"/>
          <p:nvPr/>
        </p:nvSpPr>
        <p:spPr>
          <a:xfrm>
            <a:off x="6675120" y="1417320"/>
            <a:ext cx="5029200" cy="1645920"/>
          </a:xfrm>
          <a:prstGeom prst="rect">
            <a:avLst/>
          </a:prstGeom>
          <a:noFill/>
        </p:spPr>
        <p:txBody>
          <a:bodyPr wrap="square">
            <a:spAutoFit/>
          </a:bodyPr>
          <a:lstStyle/>
          <a:p>
            <a:pPr algn="l">
              <a:defRPr sz="1200" b="0">
                <a:solidFill>
                  <a:srgbClr val="1F2A37"/>
                </a:solidFill>
              </a:defRPr>
            </a:pPr>
            <a:r>
              <a:t>The satellite image is split into 320x320 tile batches. Tiles are dispatched across all 8 H100 GPUs in round-robin fashion using a ThreadPoolExecutor. CUDA operations release Python's GIL, enabling true parallel execution.</a:t>
            </a:r>
            <a:br/>
            <a:br/>
            <a:r>
              <a:t>BF16 precision nearly doubles throughput on H100 hardware with no measurable accuracy loss. Async prefetch ensures GPUs never idle waiting for data.</a:t>
            </a:r>
          </a:p>
        </p:txBody>
      </p:sp>
      <p:sp>
        <p:nvSpPr>
          <p:cNvPr id="9" name="TextBox 8"/>
          <p:cNvSpPr txBox="1"/>
          <p:nvPr/>
        </p:nvSpPr>
        <p:spPr>
          <a:xfrm>
            <a:off x="731520" y="3383280"/>
            <a:ext cx="10972800" cy="457200"/>
          </a:xfrm>
          <a:prstGeom prst="rect">
            <a:avLst/>
          </a:prstGeom>
          <a:noFill/>
        </p:spPr>
        <p:txBody>
          <a:bodyPr wrap="square">
            <a:spAutoFit/>
          </a:bodyPr>
          <a:lstStyle/>
          <a:p>
            <a:pPr algn="l">
              <a:defRPr sz="1400" b="1">
                <a:solidFill>
                  <a:srgbClr val="2563EB"/>
                </a:solidFill>
              </a:defRPr>
            </a:pPr>
            <a:r>
              <a:t>Hardware: 8x NVIDIA H100 (80 GB each, 640 GB total GPU memory) + 224 CPU cores + 2 TB RAM</a:t>
            </a:r>
          </a:p>
        </p:txBody>
      </p:sp>
      <p:sp>
        <p:nvSpPr>
          <p:cNvPr id="10" name="Rounded Rectangle 9"/>
          <p:cNvSpPr/>
          <p:nvPr/>
        </p:nvSpPr>
        <p:spPr>
          <a:xfrm>
            <a:off x="457200" y="3931920"/>
            <a:ext cx="11430000" cy="2651760"/>
          </a:xfrm>
          <a:prstGeom prst="roundRect">
            <a:avLst/>
          </a:prstGeom>
          <a:solidFill>
            <a:srgbClr val="E5E7EB"/>
          </a:solidFill>
          <a:ln w="12700">
            <a:solidFill>
              <a:srgbClr val="D1D5DB"/>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i="1">
                <a:solidFill>
                  <a:srgbClr val="6B7280"/>
                </a:solidFill>
              </a:defRPr>
            </a:pPr>
            <a:r>
              <a:t>Diagram: Large satellite image → tile grid → round-robin dispatch to 8 GPU chips → tile results → merged output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9144000" cy="457200"/>
          </a:xfrm>
          <a:prstGeom prst="rect">
            <a:avLst/>
          </a:prstGeom>
          <a:noFill/>
        </p:spPr>
        <p:txBody>
          <a:bodyPr wrap="square">
            <a:spAutoFit/>
          </a:bodyPr>
          <a:lstStyle/>
          <a:p>
            <a:pPr algn="l">
              <a:defRPr sz="3000" b="1">
                <a:solidFill>
                  <a:srgbClr val="1F2A37"/>
                </a:solidFill>
              </a:defRPr>
            </a:pPr>
            <a:r>
              <a:t>Post-Processing</a:t>
            </a:r>
          </a:p>
        </p:txBody>
      </p:sp>
      <p:sp>
        <p:nvSpPr>
          <p:cNvPr id="4" name="Rounded Rectangle 3"/>
          <p:cNvSpPr/>
          <p:nvPr/>
        </p:nvSpPr>
        <p:spPr>
          <a:xfrm>
            <a:off x="457200" y="914400"/>
            <a:ext cx="5669280" cy="4114800"/>
          </a:xfrm>
          <a:prstGeom prst="roundRect">
            <a:avLst/>
          </a:prstGeom>
          <a:solidFill>
            <a:srgbClr val="FFFFFF"/>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51560"/>
            <a:ext cx="5029200" cy="365760"/>
          </a:xfrm>
          <a:prstGeom prst="rect">
            <a:avLst/>
          </a:prstGeom>
          <a:noFill/>
        </p:spPr>
        <p:txBody>
          <a:bodyPr wrap="square">
            <a:spAutoFit/>
          </a:bodyPr>
          <a:lstStyle/>
          <a:p>
            <a:pPr algn="l">
              <a:defRPr sz="1600" b="1">
                <a:solidFill>
                  <a:srgbClr val="16A34A"/>
                </a:solidFill>
              </a:defRPr>
            </a:pPr>
            <a:r>
              <a:t>Seven-stage cleanup pipeline</a:t>
            </a:r>
          </a:p>
        </p:txBody>
      </p:sp>
      <p:graphicFrame>
        <p:nvGraphicFramePr>
          <p:cNvPr id="6" name="Table 5"/>
          <p:cNvGraphicFramePr>
            <a:graphicFrameLocks noGrp="1"/>
          </p:cNvGraphicFramePr>
          <p:nvPr/>
        </p:nvGraphicFramePr>
        <p:xfrm>
          <a:off x="640080" y="1463040"/>
          <a:ext cx="5120640" cy="3200400"/>
        </p:xfrm>
        <a:graphic>
          <a:graphicData uri="http://schemas.openxmlformats.org/drawingml/2006/table">
            <a:tbl>
              <a:tblPr firstRow="1" bandRow="1">
                <a:tableStyleId>{5C22544A-7EE6-4342-B048-85BDC9FD1C3A}</a:tableStyleId>
              </a:tblPr>
              <a:tblGrid>
                <a:gridCol w="1828800"/>
                <a:gridCol w="3291840"/>
              </a:tblGrid>
              <a:tr h="400050">
                <a:tc>
                  <a:txBody>
                    <a:bodyPr/>
                    <a:lstStyle/>
                    <a:p>
                      <a:pPr>
                        <a:defRPr sz="1100" b="1">
                          <a:solidFill>
                            <a:srgbClr val="2563EB"/>
                          </a:solidFill>
                        </a:defRPr>
                      </a:pPr>
                      <a:r>
                        <a:t>Stage</a:t>
                      </a:r>
                    </a:p>
                  </a:txBody>
                  <a:tcPr>
                    <a:solidFill>
                      <a:srgbClr val="F0F2F5"/>
                    </a:solidFill>
                  </a:tcPr>
                </a:tc>
                <a:tc>
                  <a:txBody>
                    <a:bodyPr/>
                    <a:lstStyle/>
                    <a:p>
                      <a:pPr>
                        <a:defRPr sz="1100" b="1">
                          <a:solidFill>
                            <a:srgbClr val="2563EB"/>
                          </a:solidFill>
                        </a:defRPr>
                      </a:pPr>
                      <a:r>
                        <a:t>What it does</a:t>
                      </a:r>
                    </a:p>
                  </a:txBody>
                  <a:tcPr>
                    <a:solidFill>
                      <a:srgbClr val="F0F2F5"/>
                    </a:solidFill>
                  </a:tcPr>
                </a:tc>
              </a:tr>
              <a:tr h="400050">
                <a:tc>
                  <a:txBody>
                    <a:bodyPr/>
                    <a:lstStyle/>
                    <a:p>
                      <a:pPr>
                        <a:defRPr sz="1100">
                          <a:solidFill>
                            <a:srgbClr val="1F2A37"/>
                          </a:solidFill>
                        </a:defRPr>
                      </a:pPr>
                      <a:r>
                        <a:t>1. Cross-tile merge</a:t>
                      </a:r>
                    </a:p>
                  </a:txBody>
                  <a:tcPr>
                    <a:solidFill>
                      <a:srgbClr val="FFFFFF"/>
                    </a:solidFill>
                  </a:tcPr>
                </a:tc>
                <a:tc>
                  <a:txBody>
                    <a:bodyPr/>
                    <a:lstStyle/>
                    <a:p>
                      <a:pPr>
                        <a:defRPr sz="1100">
                          <a:solidFill>
                            <a:srgbClr val="1F2A37"/>
                          </a:solidFill>
                        </a:defRPr>
                      </a:pPr>
                      <a:r>
                        <a:t>Stitch predictions at tile boundaries</a:t>
                      </a:r>
                    </a:p>
                  </a:txBody>
                  <a:tcPr>
                    <a:solidFill>
                      <a:srgbClr val="FFFFFF"/>
                    </a:solidFill>
                  </a:tcPr>
                </a:tc>
              </a:tr>
              <a:tr h="400050">
                <a:tc>
                  <a:txBody>
                    <a:bodyPr/>
                    <a:lstStyle/>
                    <a:p>
                      <a:pPr>
                        <a:defRPr sz="1100">
                          <a:solidFill>
                            <a:srgbClr val="1F2A37"/>
                          </a:solidFill>
                        </a:defRPr>
                      </a:pPr>
                      <a:r>
                        <a:t>2. Overlap dissolve</a:t>
                      </a:r>
                    </a:p>
                  </a:txBody>
                  <a:tcPr>
                    <a:solidFill>
                      <a:srgbClr val="F0F2F5"/>
                    </a:solidFill>
                  </a:tcPr>
                </a:tc>
                <a:tc>
                  <a:txBody>
                    <a:bodyPr/>
                    <a:lstStyle/>
                    <a:p>
                      <a:pPr>
                        <a:defRPr sz="1100">
                          <a:solidFill>
                            <a:srgbClr val="1F2A37"/>
                          </a:solidFill>
                        </a:defRPr>
                      </a:pPr>
                      <a:r>
                        <a:t>Union polygons above IoU threshold</a:t>
                      </a:r>
                    </a:p>
                  </a:txBody>
                  <a:tcPr>
                    <a:solidFill>
                      <a:srgbClr val="F0F2F5"/>
                    </a:solidFill>
                  </a:tcPr>
                </a:tc>
              </a:tr>
              <a:tr h="400050">
                <a:tc>
                  <a:txBody>
                    <a:bodyPr/>
                    <a:lstStyle/>
                    <a:p>
                      <a:pPr>
                        <a:defRPr sz="1100">
                          <a:solidFill>
                            <a:srgbClr val="1F2A37"/>
                          </a:solidFill>
                        </a:defRPr>
                      </a:pPr>
                      <a:r>
                        <a:t>3. Area filter</a:t>
                      </a:r>
                    </a:p>
                  </a:txBody>
                  <a:tcPr>
                    <a:solidFill>
                      <a:srgbClr val="FFFFFF"/>
                    </a:solidFill>
                  </a:tcPr>
                </a:tc>
                <a:tc>
                  <a:txBody>
                    <a:bodyPr/>
                    <a:lstStyle/>
                    <a:p>
                      <a:pPr>
                        <a:defRPr sz="1100">
                          <a:solidFill>
                            <a:srgbClr val="1F2A37"/>
                          </a:solidFill>
                        </a:defRPr>
                      </a:pPr>
                      <a:r>
                        <a:t>Remove polygons &lt; 2,500 m²</a:t>
                      </a:r>
                    </a:p>
                  </a:txBody>
                  <a:tcPr>
                    <a:solidFill>
                      <a:srgbClr val="FFFFFF"/>
                    </a:solidFill>
                  </a:tcPr>
                </a:tc>
              </a:tr>
              <a:tr h="400050">
                <a:tc>
                  <a:txBody>
                    <a:bodyPr/>
                    <a:lstStyle/>
                    <a:p>
                      <a:pPr>
                        <a:defRPr sz="1100">
                          <a:solidFill>
                            <a:srgbClr val="1F2A37"/>
                          </a:solidFill>
                        </a:defRPr>
                      </a:pPr>
                      <a:r>
                        <a:t>4. Hole removal</a:t>
                      </a:r>
                    </a:p>
                  </a:txBody>
                  <a:tcPr>
                    <a:solidFill>
                      <a:srgbClr val="F0F2F5"/>
                    </a:solidFill>
                  </a:tcPr>
                </a:tc>
                <a:tc>
                  <a:txBody>
                    <a:bodyPr/>
                    <a:lstStyle/>
                    <a:p>
                      <a:pPr>
                        <a:defRPr sz="1100">
                          <a:solidFill>
                            <a:srgbClr val="1F2A37"/>
                          </a:solidFill>
                        </a:defRPr>
                      </a:pPr>
                      <a:r>
                        <a:t>Fill interior gaps &lt; 2,500 m²</a:t>
                      </a:r>
                    </a:p>
                  </a:txBody>
                  <a:tcPr>
                    <a:solidFill>
                      <a:srgbClr val="F0F2F5"/>
                    </a:solidFill>
                  </a:tcPr>
                </a:tc>
              </a:tr>
              <a:tr h="400050">
                <a:tc>
                  <a:txBody>
                    <a:bodyPr/>
                    <a:lstStyle/>
                    <a:p>
                      <a:pPr>
                        <a:defRPr sz="1100">
                          <a:solidFill>
                            <a:srgbClr val="1F2A37"/>
                          </a:solidFill>
                        </a:defRPr>
                      </a:pPr>
                      <a:r>
                        <a:t>5. LCLU mask</a:t>
                      </a:r>
                    </a:p>
                  </a:txBody>
                  <a:tcPr>
                    <a:solidFill>
                      <a:srgbClr val="FFFFFF"/>
                    </a:solidFill>
                  </a:tcPr>
                </a:tc>
                <a:tc>
                  <a:txBody>
                    <a:bodyPr/>
                    <a:lstStyle/>
                    <a:p>
                      <a:pPr>
                        <a:defRPr sz="1100">
                          <a:solidFill>
                            <a:srgbClr val="1F2A37"/>
                          </a:solidFill>
                        </a:defRPr>
                      </a:pPr>
                      <a:r>
                        <a:t>Tag non-cropland polygons</a:t>
                      </a:r>
                    </a:p>
                  </a:txBody>
                  <a:tcPr>
                    <a:solidFill>
                      <a:srgbClr val="FFFFFF"/>
                    </a:solidFill>
                  </a:tcPr>
                </a:tc>
              </a:tr>
              <a:tr h="400050">
                <a:tc>
                  <a:txBody>
                    <a:bodyPr/>
                    <a:lstStyle/>
                    <a:p>
                      <a:pPr>
                        <a:defRPr sz="1100">
                          <a:solidFill>
                            <a:srgbClr val="1F2A37"/>
                          </a:solidFill>
                        </a:defRPr>
                      </a:pPr>
                      <a:r>
                        <a:t>6. Simplification</a:t>
                      </a:r>
                    </a:p>
                  </a:txBody>
                  <a:tcPr>
                    <a:solidFill>
                      <a:srgbClr val="F0F2F5"/>
                    </a:solidFill>
                  </a:tcPr>
                </a:tc>
                <a:tc>
                  <a:txBody>
                    <a:bodyPr/>
                    <a:lstStyle/>
                    <a:p>
                      <a:pPr>
                        <a:defRPr sz="1100">
                          <a:solidFill>
                            <a:srgbClr val="1F2A37"/>
                          </a:solidFill>
                        </a:defRPr>
                      </a:pPr>
                      <a:r>
                        <a:t>Douglas-Peucker edge smoothing</a:t>
                      </a:r>
                    </a:p>
                  </a:txBody>
                  <a:tcPr>
                    <a:solidFill>
                      <a:srgbClr val="F0F2F5"/>
                    </a:solidFill>
                  </a:tcPr>
                </a:tc>
              </a:tr>
              <a:tr h="400050">
                <a:tc>
                  <a:txBody>
                    <a:bodyPr/>
                    <a:lstStyle/>
                    <a:p>
                      <a:pPr>
                        <a:defRPr sz="1100">
                          <a:solidFill>
                            <a:srgbClr val="1F2A37"/>
                          </a:solidFill>
                        </a:defRPr>
                      </a:pPr>
                      <a:r>
                        <a:t>7. Statistics</a:t>
                      </a:r>
                    </a:p>
                  </a:txBody>
                  <a:tcPr>
                    <a:solidFill>
                      <a:srgbClr val="FFFFFF"/>
                    </a:solidFill>
                  </a:tcPr>
                </a:tc>
                <a:tc>
                  <a:txBody>
                    <a:bodyPr/>
                    <a:lstStyle/>
                    <a:p>
                      <a:pPr>
                        <a:defRPr sz="1100">
                          <a:solidFill>
                            <a:srgbClr val="1F2A37"/>
                          </a:solidFill>
                        </a:defRPr>
                      </a:pPr>
                      <a:r>
                        <a:t>Compute area, perimeter, compactness</a:t>
                      </a:r>
                    </a:p>
                  </a:txBody>
                  <a:tcPr>
                    <a:solidFill>
                      <a:srgbClr val="FFFFFF"/>
                    </a:solidFill>
                  </a:tcPr>
                </a:tc>
              </a:tr>
            </a:tbl>
          </a:graphicData>
        </a:graphic>
      </p:graphicFrame>
      <p:sp>
        <p:nvSpPr>
          <p:cNvPr id="7" name="Rounded Rectangle 6"/>
          <p:cNvSpPr/>
          <p:nvPr/>
        </p:nvSpPr>
        <p:spPr>
          <a:xfrm>
            <a:off x="6400800" y="914400"/>
            <a:ext cx="5486400" cy="4114800"/>
          </a:xfrm>
          <a:prstGeom prst="roundRect">
            <a:avLst/>
          </a:prstGeom>
          <a:solidFill>
            <a:srgbClr val="FFFFFF"/>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1051560"/>
            <a:ext cx="5029200" cy="365760"/>
          </a:xfrm>
          <a:prstGeom prst="rect">
            <a:avLst/>
          </a:prstGeom>
          <a:noFill/>
        </p:spPr>
        <p:txBody>
          <a:bodyPr wrap="square">
            <a:spAutoFit/>
          </a:bodyPr>
          <a:lstStyle/>
          <a:p>
            <a:pPr algn="l">
              <a:defRPr sz="1600" b="1">
                <a:solidFill>
                  <a:srgbClr val="16A34A"/>
                </a:solidFill>
              </a:defRPr>
            </a:pPr>
            <a:r>
              <a:t>Why post-processing is critical</a:t>
            </a:r>
          </a:p>
        </p:txBody>
      </p:sp>
      <p:sp>
        <p:nvSpPr>
          <p:cNvPr id="9" name="TextBox 8"/>
          <p:cNvSpPr txBox="1"/>
          <p:nvPr/>
        </p:nvSpPr>
        <p:spPr>
          <a:xfrm>
            <a:off x="6675120" y="1463040"/>
            <a:ext cx="5029200" cy="3383280"/>
          </a:xfrm>
          <a:prstGeom prst="rect">
            <a:avLst/>
          </a:prstGeom>
          <a:noFill/>
        </p:spPr>
        <p:txBody>
          <a:bodyPr wrap="square">
            <a:spAutoFit/>
          </a:bodyPr>
          <a:lstStyle/>
          <a:p>
            <a:pPr algn="l">
              <a:defRPr sz="1200" b="0">
                <a:solidFill>
                  <a:srgbClr val="1F2A37"/>
                </a:solidFill>
              </a:defRPr>
            </a:pPr>
            <a:r>
              <a:t>Raw model output contains several artifacts that must be cleaned:</a:t>
            </a:r>
            <a:br/>
            <a:br/>
            <a:r>
              <a:t>Tile boundary effects: The model processes 320x320 tiles independently. A field spanning two tiles produces two half-polygons that must be merged.</a:t>
            </a:r>
            <a:br/>
            <a:br/>
            <a:r>
              <a:t>False positives: Small noise detections (&lt; 2,500 m²) are removed. This threshold can be adjusted per-region.</a:t>
            </a:r>
            <a:br/>
            <a:br/>
            <a:r>
              <a:t>Jagged edges: The raster-to-vector conversion produces staircase boundaries. Douglas-Peucker simplification smooths these while preserving field shape.</a:t>
            </a:r>
            <a:br/>
            <a:br/>
            <a:r>
              <a:t>Statistics: Each polygon receives accurate area and perimeter measurements computed in EPSG:6933 (World Cylindrical Equal Area projection), plus a Polsby-Popper compactness score for shape analysis.</a:t>
            </a:r>
          </a:p>
        </p:txBody>
      </p:sp>
      <p:sp>
        <p:nvSpPr>
          <p:cNvPr id="10" name="TextBox 9"/>
          <p:cNvSpPr txBox="1"/>
          <p:nvPr/>
        </p:nvSpPr>
        <p:spPr>
          <a:xfrm>
            <a:off x="731520" y="5212080"/>
            <a:ext cx="10972800" cy="548640"/>
          </a:xfrm>
          <a:prstGeom prst="rect">
            <a:avLst/>
          </a:prstGeom>
          <a:noFill/>
        </p:spPr>
        <p:txBody>
          <a:bodyPr wrap="square">
            <a:spAutoFit/>
          </a:bodyPr>
          <a:lstStyle/>
          <a:p>
            <a:pPr algn="l">
              <a:defRPr sz="1300" b="0">
                <a:solidFill>
                  <a:srgbClr val="6B7280"/>
                </a:solidFill>
              </a:defRPr>
            </a:pPr>
            <a:r>
              <a:t>A standalone post-processor also allows merging results from separate inference runs and re-applying filters with different thresholds without re-running inference.</a:t>
            </a:r>
          </a:p>
        </p:txBody>
      </p:sp>
      <p:sp>
        <p:nvSpPr>
          <p:cNvPr id="11" name="Rounded Rectangle 10"/>
          <p:cNvSpPr/>
          <p:nvPr/>
        </p:nvSpPr>
        <p:spPr>
          <a:xfrm>
            <a:off x="457200" y="5760720"/>
            <a:ext cx="11430000" cy="822960"/>
          </a:xfrm>
          <a:prstGeom prst="roundRect">
            <a:avLst/>
          </a:prstGeom>
          <a:solidFill>
            <a:srgbClr val="E5E7EB"/>
          </a:solidFill>
          <a:ln w="12700">
            <a:solidFill>
              <a:srgbClr val="D1D5DB"/>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i="1">
                <a:solidFill>
                  <a:srgbClr val="6B7280"/>
                </a:solidFill>
              </a:defRPr>
            </a:pPr>
            <a:r>
              <a:t>Before/after: noisy raw polygons → clean smooth field boundaries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9144000" cy="457200"/>
          </a:xfrm>
          <a:prstGeom prst="rect">
            <a:avLst/>
          </a:prstGeom>
          <a:noFill/>
        </p:spPr>
        <p:txBody>
          <a:bodyPr wrap="square">
            <a:spAutoFit/>
          </a:bodyPr>
          <a:lstStyle/>
          <a:p>
            <a:pPr algn="l">
              <a:defRPr sz="3000" b="1">
                <a:solidFill>
                  <a:srgbClr val="1F2A37"/>
                </a:solidFill>
              </a:defRPr>
            </a:pPr>
            <a:r>
              <a:t>Real Results</a:t>
            </a:r>
          </a:p>
        </p:txBody>
      </p:sp>
      <p:sp>
        <p:nvSpPr>
          <p:cNvPr id="4" name="TextBox 3"/>
          <p:cNvSpPr txBox="1"/>
          <p:nvPr/>
        </p:nvSpPr>
        <p:spPr>
          <a:xfrm>
            <a:off x="731520" y="640080"/>
            <a:ext cx="10972800" cy="365760"/>
          </a:xfrm>
          <a:prstGeom prst="rect">
            <a:avLst/>
          </a:prstGeom>
          <a:noFill/>
        </p:spPr>
        <p:txBody>
          <a:bodyPr wrap="square">
            <a:spAutoFit/>
          </a:bodyPr>
          <a:lstStyle/>
          <a:p>
            <a:pPr algn="l">
              <a:defRPr sz="1400" b="0">
                <a:solidFill>
                  <a:srgbClr val="6B7280"/>
                </a:solidFill>
              </a:defRPr>
            </a:pPr>
            <a:r>
              <a:t>Representative outputs from our pipeline across different agricultural contexts.</a:t>
            </a:r>
          </a:p>
        </p:txBody>
      </p:sp>
      <p:sp>
        <p:nvSpPr>
          <p:cNvPr id="5" name="Rounded Rectangle 4"/>
          <p:cNvSpPr/>
          <p:nvPr/>
        </p:nvSpPr>
        <p:spPr>
          <a:xfrm>
            <a:off x="457200" y="1097280"/>
            <a:ext cx="5486400" cy="2468880"/>
          </a:xfrm>
          <a:prstGeom prst="roundRect">
            <a:avLst/>
          </a:prstGeom>
          <a:solidFill>
            <a:srgbClr val="E5E7EB"/>
          </a:solidFill>
          <a:ln w="12700">
            <a:solidFill>
              <a:srgbClr val="D1D5DB"/>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i="1">
                <a:solidFill>
                  <a:srgbClr val="6B7280"/>
                </a:solidFill>
              </a:defRPr>
            </a:pPr>
            <a:r>
              <a:t>Result: Large-scale industrial agriculture with clean boundary detection</a:t>
            </a:r>
          </a:p>
        </p:txBody>
      </p:sp>
      <p:sp>
        <p:nvSpPr>
          <p:cNvPr id="6" name="Rounded Rectangle 5"/>
          <p:cNvSpPr/>
          <p:nvPr/>
        </p:nvSpPr>
        <p:spPr>
          <a:xfrm>
            <a:off x="6217920" y="1097280"/>
            <a:ext cx="5669280" cy="2468880"/>
          </a:xfrm>
          <a:prstGeom prst="roundRect">
            <a:avLst/>
          </a:prstGeom>
          <a:solidFill>
            <a:srgbClr val="E5E7EB"/>
          </a:solidFill>
          <a:ln w="12700">
            <a:solidFill>
              <a:srgbClr val="D1D5DB"/>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i="1">
                <a:solidFill>
                  <a:srgbClr val="6B7280"/>
                </a:solidFill>
              </a:defRPr>
            </a:pPr>
            <a:r>
              <a:t>Result: Medium-scale mixed farming with varied field shapes</a:t>
            </a:r>
          </a:p>
        </p:txBody>
      </p:sp>
      <p:sp>
        <p:nvSpPr>
          <p:cNvPr id="7" name="Rounded Rectangle 6"/>
          <p:cNvSpPr/>
          <p:nvPr/>
        </p:nvSpPr>
        <p:spPr>
          <a:xfrm>
            <a:off x="457200" y="3840480"/>
            <a:ext cx="5486400" cy="2468880"/>
          </a:xfrm>
          <a:prstGeom prst="roundRect">
            <a:avLst/>
          </a:prstGeom>
          <a:solidFill>
            <a:srgbClr val="E5E7EB"/>
          </a:solidFill>
          <a:ln w="12700">
            <a:solidFill>
              <a:srgbClr val="D1D5DB"/>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i="1">
                <a:solidFill>
                  <a:srgbClr val="6B7280"/>
                </a:solidFill>
              </a:defRPr>
            </a:pPr>
            <a:r>
              <a:t>Example: Super-resolution before/after (10m vs 2.5m) on real agricultural area</a:t>
            </a:r>
          </a:p>
        </p:txBody>
      </p:sp>
      <p:sp>
        <p:nvSpPr>
          <p:cNvPr id="8" name="Rounded Rectangle 7"/>
          <p:cNvSpPr/>
          <p:nvPr/>
        </p:nvSpPr>
        <p:spPr>
          <a:xfrm>
            <a:off x="6217920" y="3840480"/>
            <a:ext cx="5669280" cy="2468880"/>
          </a:xfrm>
          <a:prstGeom prst="roundRect">
            <a:avLst/>
          </a:prstGeom>
          <a:solidFill>
            <a:srgbClr val="E5E7EB"/>
          </a:solidFill>
          <a:ln w="12700">
            <a:solidFill>
              <a:srgbClr val="D1D5DB"/>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i="1">
                <a:solidFill>
                  <a:srgbClr val="6B7280"/>
                </a:solidFill>
              </a:defRPr>
            </a:pPr>
            <a:r>
              <a:t>Result: LCLU mask overlay showing crop vs non-crop classification on real terrain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9144000" cy="457200"/>
          </a:xfrm>
          <a:prstGeom prst="rect">
            <a:avLst/>
          </a:prstGeom>
          <a:noFill/>
        </p:spPr>
        <p:txBody>
          <a:bodyPr wrap="square">
            <a:spAutoFit/>
          </a:bodyPr>
          <a:lstStyle/>
          <a:p>
            <a:pPr algn="l">
              <a:defRPr sz="3000" b="1">
                <a:solidFill>
                  <a:srgbClr val="1F2A37"/>
                </a:solidFill>
              </a:defRPr>
            </a:pPr>
            <a:r>
              <a:t>Limitations — The Scale Challenge</a:t>
            </a:r>
          </a:p>
        </p:txBody>
      </p:sp>
      <p:sp>
        <p:nvSpPr>
          <p:cNvPr id="4" name="Rounded Rectangle 3"/>
          <p:cNvSpPr/>
          <p:nvPr/>
        </p:nvSpPr>
        <p:spPr>
          <a:xfrm>
            <a:off x="457200" y="914400"/>
            <a:ext cx="5303520" cy="3200400"/>
          </a:xfrm>
          <a:prstGeom prst="roundRect">
            <a:avLst/>
          </a:prstGeom>
          <a:solidFill>
            <a:srgbClr val="FFFFFF"/>
          </a:solidFill>
          <a:ln w="9525">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51560"/>
            <a:ext cx="4572000" cy="365760"/>
          </a:xfrm>
          <a:prstGeom prst="rect">
            <a:avLst/>
          </a:prstGeom>
          <a:noFill/>
        </p:spPr>
        <p:txBody>
          <a:bodyPr wrap="square">
            <a:spAutoFit/>
          </a:bodyPr>
          <a:lstStyle/>
          <a:p>
            <a:pPr algn="l">
              <a:defRPr sz="1600" b="1">
                <a:solidFill>
                  <a:srgbClr val="16A34A"/>
                </a:solidFill>
              </a:defRPr>
            </a:pPr>
            <a:r>
              <a:t>Industrial agriculture</a:t>
            </a:r>
          </a:p>
        </p:txBody>
      </p:sp>
      <p:sp>
        <p:nvSpPr>
          <p:cNvPr id="6" name="TextBox 5"/>
          <p:cNvSpPr txBox="1"/>
          <p:nvPr/>
        </p:nvSpPr>
        <p:spPr>
          <a:xfrm>
            <a:off x="731520" y="1463040"/>
            <a:ext cx="4846320" cy="2468880"/>
          </a:xfrm>
          <a:prstGeom prst="rect">
            <a:avLst/>
          </a:prstGeom>
          <a:noFill/>
        </p:spPr>
        <p:txBody>
          <a:bodyPr wrap="square">
            <a:spAutoFit/>
          </a:bodyPr>
          <a:lstStyle/>
          <a:p>
            <a:pPr algn="l">
              <a:defRPr sz="1300" b="0">
                <a:solidFill>
                  <a:srgbClr val="1F2A37"/>
                </a:solidFill>
              </a:defRPr>
            </a:pPr>
            <a:r>
              <a:t>Large-scale agricultural regions (e.g., Russia, USA, Argentina) feature fields spanning 50+ hectares with widths exceeding 500 meters.</a:t>
            </a:r>
            <a:br/>
            <a:br/>
            <a:r>
              <a:t>At 10m resolution, these fields are 50+ pixels across. Boundaries are clear, unambiguous, and straightforward for the model to detect.</a:t>
            </a:r>
            <a:br/>
            <a:br/>
            <a:r>
              <a:t>Our pipeline achieves high-precision delineation in these contexts.</a:t>
            </a:r>
          </a:p>
        </p:txBody>
      </p:sp>
      <p:sp>
        <p:nvSpPr>
          <p:cNvPr id="7" name="Rounded Rectangle 6"/>
          <p:cNvSpPr/>
          <p:nvPr/>
        </p:nvSpPr>
        <p:spPr>
          <a:xfrm>
            <a:off x="6217920" y="914400"/>
            <a:ext cx="5669280" cy="3200400"/>
          </a:xfrm>
          <a:prstGeom prst="roundRect">
            <a:avLst/>
          </a:prstGeom>
          <a:solidFill>
            <a:srgbClr val="FFFFFF"/>
          </a:solidFill>
          <a:ln w="9525">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051560"/>
            <a:ext cx="5029200" cy="365760"/>
          </a:xfrm>
          <a:prstGeom prst="rect">
            <a:avLst/>
          </a:prstGeom>
          <a:noFill/>
        </p:spPr>
        <p:txBody>
          <a:bodyPr wrap="square">
            <a:spAutoFit/>
          </a:bodyPr>
          <a:lstStyle/>
          <a:p>
            <a:pPr algn="l">
              <a:defRPr sz="1600" b="1">
                <a:solidFill>
                  <a:srgbClr val="DC2626"/>
                </a:solidFill>
              </a:defRPr>
            </a:pPr>
            <a:r>
              <a:t>Smallholder agriculture</a:t>
            </a:r>
          </a:p>
        </p:txBody>
      </p:sp>
      <p:sp>
        <p:nvSpPr>
          <p:cNvPr id="9" name="TextBox 8"/>
          <p:cNvSpPr txBox="1"/>
          <p:nvPr/>
        </p:nvSpPr>
        <p:spPr>
          <a:xfrm>
            <a:off x="6492240" y="1463040"/>
            <a:ext cx="5212080" cy="2468880"/>
          </a:xfrm>
          <a:prstGeom prst="rect">
            <a:avLst/>
          </a:prstGeom>
          <a:noFill/>
        </p:spPr>
        <p:txBody>
          <a:bodyPr wrap="square">
            <a:spAutoFit/>
          </a:bodyPr>
          <a:lstStyle/>
          <a:p>
            <a:pPr algn="l">
              <a:defRPr sz="1300" b="0">
                <a:solidFill>
                  <a:srgbClr val="1F2A37"/>
                </a:solidFill>
              </a:defRPr>
            </a:pPr>
            <a:r>
              <a:t>Smallholder regions (e.g., Rwanda, Uganda, parts of India) feature irregular plots under 0.5 hectares, often just 20-30 meters across.</a:t>
            </a:r>
            <a:br/>
            <a:br/>
            <a:r>
              <a:t>At 10m resolution, this is only 2-3 pixels wide. Mixed pixels blur boundaries, and adjacent plots with similar crops become indistinguishable.</a:t>
            </a:r>
            <a:br/>
            <a:br/>
            <a:r>
              <a:t>This is the fundamental resolution limitation of Sentinel-2 for detailed smallholder delineation.</a:t>
            </a:r>
          </a:p>
        </p:txBody>
      </p:sp>
      <p:sp>
        <p:nvSpPr>
          <p:cNvPr id="10" name="Rounded Rectangle 9"/>
          <p:cNvSpPr/>
          <p:nvPr/>
        </p:nvSpPr>
        <p:spPr>
          <a:xfrm>
            <a:off x="457200" y="4389120"/>
            <a:ext cx="11430000" cy="1371600"/>
          </a:xfrm>
          <a:prstGeom prst="roundRect">
            <a:avLst/>
          </a:prstGeom>
          <a:solidFill>
            <a:srgbClr val="F0F2F5"/>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480560"/>
            <a:ext cx="4572000" cy="365760"/>
          </a:xfrm>
          <a:prstGeom prst="rect">
            <a:avLst/>
          </a:prstGeom>
          <a:noFill/>
        </p:spPr>
        <p:txBody>
          <a:bodyPr wrap="square">
            <a:spAutoFit/>
          </a:bodyPr>
          <a:lstStyle/>
          <a:p>
            <a:pPr algn="l">
              <a:defRPr sz="1600" b="1">
                <a:solidFill>
                  <a:srgbClr val="1F2A37"/>
                </a:solidFill>
              </a:defRPr>
            </a:pPr>
            <a:r>
              <a:t>Mitigation strategies</a:t>
            </a:r>
          </a:p>
        </p:txBody>
      </p:sp>
      <p:sp>
        <p:nvSpPr>
          <p:cNvPr id="12" name="TextBox 11"/>
          <p:cNvSpPr txBox="1"/>
          <p:nvPr/>
        </p:nvSpPr>
        <p:spPr>
          <a:xfrm>
            <a:off x="731520" y="4846320"/>
            <a:ext cx="5029200" cy="731520"/>
          </a:xfrm>
          <a:prstGeom prst="rect">
            <a:avLst/>
          </a:prstGeom>
          <a:noFill/>
        </p:spPr>
        <p:txBody>
          <a:bodyPr wrap="square">
            <a:spAutoFit/>
          </a:bodyPr>
          <a:lstStyle/>
          <a:p>
            <a:pPr>
              <a:spcAft>
                <a:spcPts val="400"/>
              </a:spcAft>
              <a:defRPr sz="1200">
                <a:solidFill>
                  <a:srgbClr val="1F2A37"/>
                </a:solidFill>
              </a:defRPr>
            </a:pPr>
            <a:r>
              <a:t>Super resolution (10m to 2.5m) via sen2sr — 4x more pixels per field</a:t>
            </a:r>
          </a:p>
          <a:p>
            <a:pPr>
              <a:spcAft>
                <a:spcPts val="400"/>
              </a:spcAft>
              <a:defRPr sz="1200">
                <a:solidFill>
                  <a:srgbClr val="1F2A37"/>
                </a:solidFill>
              </a:defRPr>
            </a:pPr>
            <a:r>
              <a:t>Region-specific fine-tuning with local annotated training data</a:t>
            </a:r>
          </a:p>
        </p:txBody>
      </p:sp>
      <p:sp>
        <p:nvSpPr>
          <p:cNvPr id="13" name="TextBox 12"/>
          <p:cNvSpPr txBox="1"/>
          <p:nvPr/>
        </p:nvSpPr>
        <p:spPr>
          <a:xfrm>
            <a:off x="6400800" y="4846320"/>
            <a:ext cx="5029200" cy="731520"/>
          </a:xfrm>
          <a:prstGeom prst="rect">
            <a:avLst/>
          </a:prstGeom>
          <a:noFill/>
        </p:spPr>
        <p:txBody>
          <a:bodyPr wrap="square">
            <a:spAutoFit/>
          </a:bodyPr>
          <a:lstStyle/>
          <a:p>
            <a:pPr>
              <a:spcAft>
                <a:spcPts val="400"/>
              </a:spcAft>
              <a:defRPr sz="1200">
                <a:solidFill>
                  <a:srgbClr val="1F2A37"/>
                </a:solidFill>
              </a:defRPr>
            </a:pPr>
            <a:r>
              <a:t>Higher-resolution imagery (Planet 3m, very high-res drone data)</a:t>
            </a:r>
          </a:p>
          <a:p>
            <a:pPr>
              <a:spcAft>
                <a:spcPts val="400"/>
              </a:spcAft>
              <a:defRPr sz="1200">
                <a:solidFill>
                  <a:srgbClr val="1F2A37"/>
                </a:solidFill>
              </a:defRPr>
            </a:pPr>
            <a:r>
              <a:t>Multi-pass inference with different tile sizes for different field scales</a:t>
            </a:r>
          </a:p>
        </p:txBody>
      </p:sp>
      <p:sp>
        <p:nvSpPr>
          <p:cNvPr id="14" name="Rounded Rectangle 13"/>
          <p:cNvSpPr/>
          <p:nvPr/>
        </p:nvSpPr>
        <p:spPr>
          <a:xfrm>
            <a:off x="457200" y="5943600"/>
            <a:ext cx="11430000" cy="640080"/>
          </a:xfrm>
          <a:prstGeom prst="roundRect">
            <a:avLst/>
          </a:prstGeom>
          <a:solidFill>
            <a:srgbClr val="E5E7EB"/>
          </a:solidFill>
          <a:ln w="12700">
            <a:solidFill>
              <a:srgbClr val="D1D5DB"/>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i="1">
                <a:solidFill>
                  <a:srgbClr val="6B7280"/>
                </a:solidFill>
              </a:defRPr>
            </a:pPr>
            <a:r>
              <a:t>Split: Large fields with clean boundaries vs. dense smallholder plots with uncertain pixelated boundaries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9144000" cy="457200"/>
          </a:xfrm>
          <a:prstGeom prst="rect">
            <a:avLst/>
          </a:prstGeom>
          <a:noFill/>
        </p:spPr>
        <p:txBody>
          <a:bodyPr wrap="square">
            <a:spAutoFit/>
          </a:bodyPr>
          <a:lstStyle/>
          <a:p>
            <a:pPr algn="l">
              <a:defRPr sz="3000" b="1">
                <a:solidFill>
                  <a:srgbClr val="1F2A37"/>
                </a:solidFill>
              </a:defRPr>
            </a:pPr>
            <a:r>
              <a:t>Why All These Preparation Steps?</a:t>
            </a:r>
          </a:p>
        </p:txBody>
      </p:sp>
      <p:sp>
        <p:nvSpPr>
          <p:cNvPr id="4" name="TextBox 3"/>
          <p:cNvSpPr txBox="1"/>
          <p:nvPr/>
        </p:nvSpPr>
        <p:spPr>
          <a:xfrm>
            <a:off x="731520" y="640080"/>
            <a:ext cx="10972800" cy="457200"/>
          </a:xfrm>
          <a:prstGeom prst="rect">
            <a:avLst/>
          </a:prstGeom>
          <a:noFill/>
        </p:spPr>
        <p:txBody>
          <a:bodyPr wrap="square">
            <a:spAutoFit/>
          </a:bodyPr>
          <a:lstStyle/>
          <a:p>
            <a:pPr algn="l">
              <a:defRPr sz="1400" b="0">
                <a:solidFill>
                  <a:srgbClr val="6B7280"/>
                </a:solidFill>
              </a:defRPr>
            </a:pPr>
            <a:r>
              <a:t>Seasonal mosaicing, super resolution, and LCLU integration are not optional enhancements — they are essential preparation steps that directly determine the quality of the final delineation.</a:t>
            </a:r>
          </a:p>
        </p:txBody>
      </p:sp>
      <p:sp>
        <p:nvSpPr>
          <p:cNvPr id="5" name="Rounded Rectangle 4"/>
          <p:cNvSpPr/>
          <p:nvPr/>
        </p:nvSpPr>
        <p:spPr>
          <a:xfrm>
            <a:off x="457200" y="1280160"/>
            <a:ext cx="3474720" cy="3017520"/>
          </a:xfrm>
          <a:prstGeom prst="roundRect">
            <a:avLst/>
          </a:prstGeom>
          <a:solidFill>
            <a:srgbClr val="FFFFFF"/>
          </a:solidFill>
          <a:ln w="9525">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17320"/>
            <a:ext cx="3017520" cy="365760"/>
          </a:xfrm>
          <a:prstGeom prst="rect">
            <a:avLst/>
          </a:prstGeom>
          <a:noFill/>
        </p:spPr>
        <p:txBody>
          <a:bodyPr wrap="square">
            <a:spAutoFit/>
          </a:bodyPr>
          <a:lstStyle/>
          <a:p>
            <a:pPr algn="l">
              <a:defRPr sz="1600" b="1">
                <a:solidFill>
                  <a:srgbClr val="16A34A"/>
                </a:solidFill>
              </a:defRPr>
            </a:pPr>
            <a:r>
              <a:t>Cloudless Mosaics</a:t>
            </a:r>
          </a:p>
        </p:txBody>
      </p:sp>
      <p:sp>
        <p:nvSpPr>
          <p:cNvPr id="7" name="TextBox 6"/>
          <p:cNvSpPr txBox="1"/>
          <p:nvPr/>
        </p:nvSpPr>
        <p:spPr>
          <a:xfrm>
            <a:off x="731520" y="1828800"/>
            <a:ext cx="3017520" cy="2286000"/>
          </a:xfrm>
          <a:prstGeom prst="rect">
            <a:avLst/>
          </a:prstGeom>
          <a:noFill/>
        </p:spPr>
        <p:txBody>
          <a:bodyPr wrap="square">
            <a:spAutoFit/>
          </a:bodyPr>
          <a:lstStyle/>
          <a:p>
            <a:pPr algn="l">
              <a:defRPr sz="1200" b="0">
                <a:solidFill>
                  <a:srgbClr val="1F2A37"/>
                </a:solidFill>
              </a:defRPr>
            </a:pPr>
            <a:r>
              <a:t>Without mosaicing, every cloud pixel is a gap in our data. The model cannot delineate what it cannot see.</a:t>
            </a:r>
            <a:br/>
            <a:br/>
            <a:r>
              <a:t>NDVI prioritization ensures we capture each field at its peak vegetation state — when boundaries between adjacent parcels are most visible. A single cloudy image would miss up to 80% of fields in tropical regions.</a:t>
            </a:r>
          </a:p>
        </p:txBody>
      </p:sp>
      <p:sp>
        <p:nvSpPr>
          <p:cNvPr id="8" name="Rounded Rectangle 7"/>
          <p:cNvSpPr/>
          <p:nvPr/>
        </p:nvSpPr>
        <p:spPr>
          <a:xfrm>
            <a:off x="4206240" y="1280160"/>
            <a:ext cx="3474720" cy="3017520"/>
          </a:xfrm>
          <a:prstGeom prst="roundRect">
            <a:avLst/>
          </a:prstGeom>
          <a:solidFill>
            <a:srgbClr val="FFFFFF"/>
          </a:solidFill>
          <a:ln w="952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1417320"/>
            <a:ext cx="3017520" cy="365760"/>
          </a:xfrm>
          <a:prstGeom prst="rect">
            <a:avLst/>
          </a:prstGeom>
          <a:noFill/>
        </p:spPr>
        <p:txBody>
          <a:bodyPr wrap="square">
            <a:spAutoFit/>
          </a:bodyPr>
          <a:lstStyle/>
          <a:p>
            <a:pPr algn="l">
              <a:defRPr sz="1600" b="1">
                <a:solidFill>
                  <a:srgbClr val="7C3AED"/>
                </a:solidFill>
              </a:defRPr>
            </a:pPr>
            <a:r>
              <a:t>Super Resolution</a:t>
            </a:r>
          </a:p>
        </p:txBody>
      </p:sp>
      <p:sp>
        <p:nvSpPr>
          <p:cNvPr id="10" name="TextBox 9"/>
          <p:cNvSpPr txBox="1"/>
          <p:nvPr/>
        </p:nvSpPr>
        <p:spPr>
          <a:xfrm>
            <a:off x="4480560" y="1828800"/>
            <a:ext cx="3017520" cy="2286000"/>
          </a:xfrm>
          <a:prstGeom prst="rect">
            <a:avLst/>
          </a:prstGeom>
          <a:noFill/>
        </p:spPr>
        <p:txBody>
          <a:bodyPr wrap="square">
            <a:spAutoFit/>
          </a:bodyPr>
          <a:lstStyle/>
          <a:p>
            <a:pPr algn="l">
              <a:defRPr sz="1200" b="0">
                <a:solidFill>
                  <a:srgbClr val="1F2A37"/>
                </a:solidFill>
              </a:defRPr>
            </a:pPr>
            <a:r>
              <a:t>At 10m, a 30-meter-wide field is just 3 pixels across. The boundary between two such fields is a single mixed pixel — invisible to the model.</a:t>
            </a:r>
            <a:br/>
            <a:br/>
            <a:r>
              <a:t>At 2.5m after sen2sr, the same field is 12 pixels wide with a clear 2-3 pixel boundary. This transforms an impossible detection task into a tractable one.</a:t>
            </a:r>
          </a:p>
        </p:txBody>
      </p:sp>
      <p:sp>
        <p:nvSpPr>
          <p:cNvPr id="11" name="Rounded Rectangle 10"/>
          <p:cNvSpPr/>
          <p:nvPr/>
        </p:nvSpPr>
        <p:spPr>
          <a:xfrm>
            <a:off x="7955279" y="1280160"/>
            <a:ext cx="3931920" cy="3017520"/>
          </a:xfrm>
          <a:prstGeom prst="roundRect">
            <a:avLst/>
          </a:prstGeom>
          <a:solidFill>
            <a:srgbClr val="FFFFFF"/>
          </a:solidFill>
          <a:ln w="9525">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417320"/>
            <a:ext cx="3474720" cy="365760"/>
          </a:xfrm>
          <a:prstGeom prst="rect">
            <a:avLst/>
          </a:prstGeom>
          <a:noFill/>
        </p:spPr>
        <p:txBody>
          <a:bodyPr wrap="square">
            <a:spAutoFit/>
          </a:bodyPr>
          <a:lstStyle/>
          <a:p>
            <a:pPr algn="l">
              <a:defRPr sz="1600" b="1">
                <a:solidFill>
                  <a:srgbClr val="EA580C"/>
                </a:solidFill>
              </a:defRPr>
            </a:pPr>
            <a:r>
              <a:t>LCLU Masking</a:t>
            </a:r>
          </a:p>
        </p:txBody>
      </p:sp>
      <p:sp>
        <p:nvSpPr>
          <p:cNvPr id="13" name="TextBox 12"/>
          <p:cNvSpPr txBox="1"/>
          <p:nvPr/>
        </p:nvSpPr>
        <p:spPr>
          <a:xfrm>
            <a:off x="8229600" y="1828800"/>
            <a:ext cx="3474720" cy="2286000"/>
          </a:xfrm>
          <a:prstGeom prst="rect">
            <a:avLst/>
          </a:prstGeom>
          <a:noFill/>
        </p:spPr>
        <p:txBody>
          <a:bodyPr wrap="square">
            <a:spAutoFit/>
          </a:bodyPr>
          <a:lstStyle/>
          <a:p>
            <a:pPr algn="l">
              <a:defRPr sz="1200" b="0">
                <a:solidFill>
                  <a:srgbClr val="1F2A37"/>
                </a:solidFill>
              </a:defRPr>
            </a:pPr>
            <a:r>
              <a:t>Without LCLU masking, the model wastes GPU time processing forests, water bodies, and urban areas — and produces false positives in these non-agricultural zones.</a:t>
            </a:r>
            <a:br/>
            <a:br/>
            <a:r>
              <a:t>Masking constrains inference to known cropland, reducing computation by 40-70% in mixed landscapes while eliminating an entire category of detection errors.</a:t>
            </a:r>
          </a:p>
        </p:txBody>
      </p:sp>
      <p:sp>
        <p:nvSpPr>
          <p:cNvPr id="14" name="Rounded Rectangle 13"/>
          <p:cNvSpPr/>
          <p:nvPr/>
        </p:nvSpPr>
        <p:spPr>
          <a:xfrm>
            <a:off x="457200" y="4663440"/>
            <a:ext cx="11430000" cy="1920240"/>
          </a:xfrm>
          <a:prstGeom prst="roundRect">
            <a:avLst/>
          </a:prstGeom>
          <a:solidFill>
            <a:srgbClr val="F0F2F5"/>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846320"/>
            <a:ext cx="10972800" cy="365760"/>
          </a:xfrm>
          <a:prstGeom prst="rect">
            <a:avLst/>
          </a:prstGeom>
          <a:noFill/>
        </p:spPr>
        <p:txBody>
          <a:bodyPr wrap="square">
            <a:spAutoFit/>
          </a:bodyPr>
          <a:lstStyle/>
          <a:p>
            <a:pPr algn="l">
              <a:defRPr sz="1600" b="1">
                <a:solidFill>
                  <a:srgbClr val="1F2A37"/>
                </a:solidFill>
              </a:defRPr>
            </a:pPr>
            <a:r>
              <a:t>The combined effect</a:t>
            </a:r>
          </a:p>
        </p:txBody>
      </p:sp>
      <p:sp>
        <p:nvSpPr>
          <p:cNvPr id="16" name="TextBox 15"/>
          <p:cNvSpPr txBox="1"/>
          <p:nvPr/>
        </p:nvSpPr>
        <p:spPr>
          <a:xfrm>
            <a:off x="731520" y="5212080"/>
            <a:ext cx="10972800" cy="1188720"/>
          </a:xfrm>
          <a:prstGeom prst="rect">
            <a:avLst/>
          </a:prstGeom>
          <a:noFill/>
        </p:spPr>
        <p:txBody>
          <a:bodyPr wrap="square">
            <a:spAutoFit/>
          </a:bodyPr>
          <a:lstStyle/>
          <a:p>
            <a:pPr algn="l">
              <a:defRPr sz="1300" b="0">
                <a:solidFill>
                  <a:srgbClr val="1F2A37"/>
                </a:solidFill>
              </a:defRPr>
            </a:pPr>
            <a:r>
              <a:t>Each preparation step removes a specific source of error or ambiguity. Together, they deliver the model an input where field boundaries are visible, sharp, and confined to agricultural areas. Skipping any of these steps produces measurably worse delineation results — more missed fields, more false positives, and less precise boundaries. The quality of the final vector product is fundamentally determined by the quality of these upstream preparations.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9144000" cy="457200"/>
          </a:xfrm>
          <a:prstGeom prst="rect">
            <a:avLst/>
          </a:prstGeom>
          <a:noFill/>
        </p:spPr>
        <p:txBody>
          <a:bodyPr wrap="square">
            <a:spAutoFit/>
          </a:bodyPr>
          <a:lstStyle/>
          <a:p>
            <a:pPr algn="l">
              <a:defRPr sz="3000" b="1">
                <a:solidFill>
                  <a:srgbClr val="1F2A37"/>
                </a:solidFill>
              </a:defRPr>
            </a:pPr>
            <a:r>
              <a:t>Open Challenges</a:t>
            </a:r>
          </a:p>
        </p:txBody>
      </p:sp>
      <p:sp>
        <p:nvSpPr>
          <p:cNvPr id="4" name="TextBox 3"/>
          <p:cNvSpPr txBox="1"/>
          <p:nvPr/>
        </p:nvSpPr>
        <p:spPr>
          <a:xfrm>
            <a:off x="731520" y="640080"/>
            <a:ext cx="10972800" cy="365760"/>
          </a:xfrm>
          <a:prstGeom prst="rect">
            <a:avLst/>
          </a:prstGeom>
          <a:noFill/>
        </p:spPr>
        <p:txBody>
          <a:bodyPr wrap="square">
            <a:spAutoFit/>
          </a:bodyPr>
          <a:lstStyle/>
          <a:p>
            <a:pPr algn="l">
              <a:defRPr sz="1400" b="0">
                <a:solidFill>
                  <a:srgbClr val="6B7280"/>
                </a:solidFill>
              </a:defRPr>
            </a:pPr>
            <a:r>
              <a:t>Beyond resolution limitations, field delineation faces deeper structural challenges.</a:t>
            </a:r>
          </a:p>
        </p:txBody>
      </p:sp>
      <p:sp>
        <p:nvSpPr>
          <p:cNvPr id="5" name="Rounded Rectangle 4"/>
          <p:cNvSpPr/>
          <p:nvPr/>
        </p:nvSpPr>
        <p:spPr>
          <a:xfrm>
            <a:off x="457200" y="1188720"/>
            <a:ext cx="5669280" cy="2926080"/>
          </a:xfrm>
          <a:prstGeom prst="roundRect">
            <a:avLst/>
          </a:prstGeom>
          <a:solidFill>
            <a:srgbClr val="FFFFFF"/>
          </a:solidFill>
          <a:ln w="9525">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25880"/>
            <a:ext cx="5029200" cy="365760"/>
          </a:xfrm>
          <a:prstGeom prst="rect">
            <a:avLst/>
          </a:prstGeom>
          <a:noFill/>
        </p:spPr>
        <p:txBody>
          <a:bodyPr wrap="square">
            <a:spAutoFit/>
          </a:bodyPr>
          <a:lstStyle/>
          <a:p>
            <a:pPr algn="l">
              <a:defRPr sz="1600" b="1">
                <a:solidFill>
                  <a:srgbClr val="DC2626"/>
                </a:solidFill>
              </a:defRPr>
            </a:pPr>
            <a:r>
              <a:t>Temporal dynamics of land boundaries</a:t>
            </a:r>
          </a:p>
        </p:txBody>
      </p:sp>
      <p:sp>
        <p:nvSpPr>
          <p:cNvPr id="7" name="TextBox 6"/>
          <p:cNvSpPr txBox="1"/>
          <p:nvPr/>
        </p:nvSpPr>
        <p:spPr>
          <a:xfrm>
            <a:off x="731520" y="1737360"/>
            <a:ext cx="5212080" cy="2286000"/>
          </a:xfrm>
          <a:prstGeom prst="rect">
            <a:avLst/>
          </a:prstGeom>
          <a:noFill/>
        </p:spPr>
        <p:txBody>
          <a:bodyPr wrap="square">
            <a:spAutoFit/>
          </a:bodyPr>
          <a:lstStyle/>
          <a:p>
            <a:pPr algn="l">
              <a:defRPr sz="1200" b="0">
                <a:solidFill>
                  <a:srgbClr val="1F2A37"/>
                </a:solidFill>
              </a:defRPr>
            </a:pPr>
            <a:r>
              <a:t>Current delineation assumes static field boundaries — but this assumption is only valid within a short period of time. Beyond that window, land use change increases and the detection made at time T may no longer be valid at time T+5.</a:t>
            </a:r>
            <a:br/>
            <a:br/>
            <a:r>
              <a:t>Changes take multiple forms: fields may appear or disappear between seasons (fallow rotation), large parcels may be subdivided into smaller plots (land division), or adjacent plots may be merged into one (consolidation). Each type of change invalidates previous boundaries differently.</a:t>
            </a:r>
            <a:br/>
            <a:br/>
            <a:r>
              <a:t>A robust system must not only detect fields at one point in time, but track how boundaries evolve — distinguishing between real land use changes and seasonal visibility variations.</a:t>
            </a:r>
          </a:p>
        </p:txBody>
      </p:sp>
      <p:sp>
        <p:nvSpPr>
          <p:cNvPr id="8" name="Rounded Rectangle 7"/>
          <p:cNvSpPr/>
          <p:nvPr/>
        </p:nvSpPr>
        <p:spPr>
          <a:xfrm>
            <a:off x="6400800" y="1188720"/>
            <a:ext cx="5486400" cy="2926080"/>
          </a:xfrm>
          <a:prstGeom prst="roundRect">
            <a:avLst/>
          </a:prstGeom>
          <a:solidFill>
            <a:srgbClr val="FFFFFF"/>
          </a:solidFill>
          <a:ln w="9525">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1325880"/>
            <a:ext cx="5029200" cy="365760"/>
          </a:xfrm>
          <a:prstGeom prst="rect">
            <a:avLst/>
          </a:prstGeom>
          <a:noFill/>
        </p:spPr>
        <p:txBody>
          <a:bodyPr wrap="square">
            <a:spAutoFit/>
          </a:bodyPr>
          <a:lstStyle/>
          <a:p>
            <a:pPr algn="l">
              <a:defRPr sz="1600" b="1">
                <a:solidFill>
                  <a:srgbClr val="EA580C"/>
                </a:solidFill>
              </a:defRPr>
            </a:pPr>
            <a:r>
              <a:t>Annotation ambiguity and validation</a:t>
            </a:r>
          </a:p>
        </p:txBody>
      </p:sp>
      <p:sp>
        <p:nvSpPr>
          <p:cNvPr id="10" name="TextBox 9"/>
          <p:cNvSpPr txBox="1"/>
          <p:nvPr/>
        </p:nvSpPr>
        <p:spPr>
          <a:xfrm>
            <a:off x="6675120" y="1737360"/>
            <a:ext cx="5029200" cy="2286000"/>
          </a:xfrm>
          <a:prstGeom prst="rect">
            <a:avLst/>
          </a:prstGeom>
          <a:noFill/>
        </p:spPr>
        <p:txBody>
          <a:bodyPr wrap="square">
            <a:spAutoFit/>
          </a:bodyPr>
          <a:lstStyle/>
          <a:p>
            <a:pPr algn="l">
              <a:defRPr sz="1200" b="0">
                <a:solidFill>
                  <a:srgbClr val="1F2A37"/>
                </a:solidFill>
              </a:defRPr>
            </a:pPr>
            <a:r>
              <a:t>There is a fundamental challenge with training data: there is no single "correct" boundary for a field in the strictest sense. The same parcel can have multiple valid boundary interpretations.</a:t>
            </a:r>
            <a:br/>
            <a:br/>
            <a:r>
              <a:t>At the pixel level, the model must choose which pixels belong to a field boundary. A shift of just one pixel (10 meters) in either direction can produce an equally valid delineation. This makes conventional accuracy metrics (IoU, mAP) somewhat ambiguous — a prediction shifted by one pixel may score lower than a different shape that happens to overlap more.</a:t>
            </a:r>
            <a:br/>
            <a:br/>
            <a:r>
              <a:t>Validating delineation quality therefore requires metrics that account for boundary tolerance, not just strict pixel overlap.</a:t>
            </a:r>
          </a:p>
        </p:txBody>
      </p:sp>
      <p:sp>
        <p:nvSpPr>
          <p:cNvPr id="11" name="Rounded Rectangle 10"/>
          <p:cNvSpPr/>
          <p:nvPr/>
        </p:nvSpPr>
        <p:spPr>
          <a:xfrm>
            <a:off x="457200" y="4389120"/>
            <a:ext cx="11430000" cy="2194560"/>
          </a:xfrm>
          <a:prstGeom prst="roundRect">
            <a:avLst/>
          </a:prstGeom>
          <a:solidFill>
            <a:srgbClr val="F0F2F5"/>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572000"/>
            <a:ext cx="10972800" cy="365760"/>
          </a:xfrm>
          <a:prstGeom prst="rect">
            <a:avLst/>
          </a:prstGeom>
          <a:noFill/>
        </p:spPr>
        <p:txBody>
          <a:bodyPr wrap="square">
            <a:spAutoFit/>
          </a:bodyPr>
          <a:lstStyle/>
          <a:p>
            <a:pPr algn="l">
              <a:defRPr sz="1600" b="1">
                <a:solidFill>
                  <a:srgbClr val="1F2A37"/>
                </a:solidFill>
              </a:defRPr>
            </a:pPr>
            <a:r>
              <a:t>Implications for the pipeline</a:t>
            </a:r>
          </a:p>
        </p:txBody>
      </p:sp>
      <p:sp>
        <p:nvSpPr>
          <p:cNvPr id="13" name="TextBox 12"/>
          <p:cNvSpPr txBox="1"/>
          <p:nvPr/>
        </p:nvSpPr>
        <p:spPr>
          <a:xfrm>
            <a:off x="731520" y="4937760"/>
            <a:ext cx="5029200" cy="1463040"/>
          </a:xfrm>
          <a:prstGeom prst="rect">
            <a:avLst/>
          </a:prstGeom>
          <a:noFill/>
        </p:spPr>
        <p:txBody>
          <a:bodyPr wrap="square">
            <a:spAutoFit/>
          </a:bodyPr>
          <a:lstStyle/>
          <a:p>
            <a:pPr algn="l">
              <a:defRPr sz="1200" b="0">
                <a:solidFill>
                  <a:srgbClr val="1F2A37"/>
                </a:solidFill>
              </a:defRPr>
            </a:pPr>
            <a:r>
              <a:t>Temporal dimension</a:t>
            </a:r>
            <a:br/>
            <a:r>
              <a:t>Future work must incorporate multi-temporal analysis to distinguish between stable boundaries, seasonal variations, and genuine land use changes. The pipeline should produce time-stamped boundary versions rather than a single static map.</a:t>
            </a:r>
          </a:p>
        </p:txBody>
      </p:sp>
      <p:sp>
        <p:nvSpPr>
          <p:cNvPr id="14" name="TextBox 13"/>
          <p:cNvSpPr txBox="1"/>
          <p:nvPr/>
        </p:nvSpPr>
        <p:spPr>
          <a:xfrm>
            <a:off x="6400800" y="4937760"/>
            <a:ext cx="5029200" cy="1463040"/>
          </a:xfrm>
          <a:prstGeom prst="rect">
            <a:avLst/>
          </a:prstGeom>
          <a:noFill/>
        </p:spPr>
        <p:txBody>
          <a:bodyPr wrap="square">
            <a:spAutoFit/>
          </a:bodyPr>
          <a:lstStyle/>
          <a:p>
            <a:pPr algn="l">
              <a:defRPr sz="1200" b="0">
                <a:solidFill>
                  <a:srgbClr val="1F2A37"/>
                </a:solidFill>
              </a:defRPr>
            </a:pPr>
            <a:r>
              <a:t>Validation framework</a:t>
            </a:r>
            <a:br/>
            <a:r>
              <a:t>We need evaluation metrics that tolerate small boundary shifts — for example, using a buffer-based accuracy measure instead of strict pixel IoU. The training data itself must acknowledge that multiple boundary versions can be equally correct for the same field.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C"/>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9144000" cy="457200"/>
          </a:xfrm>
          <a:prstGeom prst="rect">
            <a:avLst/>
          </a:prstGeom>
          <a:noFill/>
        </p:spPr>
        <p:txBody>
          <a:bodyPr wrap="square">
            <a:spAutoFit/>
          </a:bodyPr>
          <a:lstStyle/>
          <a:p>
            <a:pPr algn="l">
              <a:defRPr sz="3000" b="1">
                <a:solidFill>
                  <a:srgbClr val="1F2A37"/>
                </a:solidFill>
              </a:defRPr>
            </a:pPr>
            <a:r>
              <a:t>Next Steps</a:t>
            </a:r>
          </a:p>
        </p:txBody>
      </p:sp>
      <p:sp>
        <p:nvSpPr>
          <p:cNvPr id="4" name="Rounded Rectangle 3"/>
          <p:cNvSpPr/>
          <p:nvPr/>
        </p:nvSpPr>
        <p:spPr>
          <a:xfrm>
            <a:off x="457200" y="914400"/>
            <a:ext cx="3657600" cy="5029200"/>
          </a:xfrm>
          <a:prstGeom prst="roundRect">
            <a:avLst/>
          </a:prstGeom>
          <a:solidFill>
            <a:srgbClr val="FFFFFF"/>
          </a:solidFill>
          <a:ln w="952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51560"/>
            <a:ext cx="3200400" cy="365760"/>
          </a:xfrm>
          <a:prstGeom prst="rect">
            <a:avLst/>
          </a:prstGeom>
          <a:noFill/>
        </p:spPr>
        <p:txBody>
          <a:bodyPr wrap="square">
            <a:spAutoFit/>
          </a:bodyPr>
          <a:lstStyle/>
          <a:p>
            <a:pPr algn="l">
              <a:defRPr sz="1800" b="1">
                <a:solidFill>
                  <a:srgbClr val="2563EB"/>
                </a:solidFill>
              </a:defRPr>
            </a:pPr>
            <a:r>
              <a:t>Short-term</a:t>
            </a:r>
          </a:p>
        </p:txBody>
      </p:sp>
      <p:sp>
        <p:nvSpPr>
          <p:cNvPr id="6" name="TextBox 5"/>
          <p:cNvSpPr txBox="1"/>
          <p:nvPr/>
        </p:nvSpPr>
        <p:spPr>
          <a:xfrm>
            <a:off x="731520" y="1463040"/>
            <a:ext cx="3200400" cy="4114800"/>
          </a:xfrm>
          <a:prstGeom prst="rect">
            <a:avLst/>
          </a:prstGeom>
          <a:noFill/>
        </p:spPr>
        <p:txBody>
          <a:bodyPr wrap="square">
            <a:spAutoFit/>
          </a:bodyPr>
          <a:lstStyle/>
          <a:p>
            <a:pPr algn="l">
              <a:defRPr sz="1200" b="0">
                <a:solidFill>
                  <a:srgbClr val="1F2A37"/>
                </a:solidFill>
              </a:defRPr>
            </a:pPr>
            <a:r>
              <a:t>Expand training data</a:t>
            </a:r>
            <a:br/>
            <a:r>
              <a:t>Include more agricultural regions, crop types, and growing seasons to improve model generalization.</a:t>
            </a:r>
            <a:br/>
            <a:br/>
            <a:r>
              <a:t>Integrate sen2sr</a:t>
            </a:r>
            <a:br/>
            <a:r>
              <a:t>Embed super resolution directly into the automated pipeline as a preprocessing step.</a:t>
            </a:r>
            <a:br/>
            <a:br/>
            <a:r>
              <a:t>Benchmark accuracy</a:t>
            </a:r>
            <a:br/>
            <a:r>
              <a:t>Quantitative comparison of our mAP against published results on standard evaluation datasets.</a:t>
            </a:r>
          </a:p>
        </p:txBody>
      </p:sp>
      <p:sp>
        <p:nvSpPr>
          <p:cNvPr id="7" name="Rounded Rectangle 6"/>
          <p:cNvSpPr/>
          <p:nvPr/>
        </p:nvSpPr>
        <p:spPr>
          <a:xfrm>
            <a:off x="4389120" y="914400"/>
            <a:ext cx="3657600" cy="5029200"/>
          </a:xfrm>
          <a:prstGeom prst="roundRect">
            <a:avLst/>
          </a:prstGeom>
          <a:solidFill>
            <a:srgbClr val="FFFFFF"/>
          </a:solidFill>
          <a:ln w="9525">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1051560"/>
            <a:ext cx="3200400" cy="365760"/>
          </a:xfrm>
          <a:prstGeom prst="rect">
            <a:avLst/>
          </a:prstGeom>
          <a:noFill/>
        </p:spPr>
        <p:txBody>
          <a:bodyPr wrap="square">
            <a:spAutoFit/>
          </a:bodyPr>
          <a:lstStyle/>
          <a:p>
            <a:pPr algn="l">
              <a:defRPr sz="1800" b="1">
                <a:solidFill>
                  <a:srgbClr val="EA580C"/>
                </a:solidFill>
              </a:defRPr>
            </a:pPr>
            <a:r>
              <a:t>Mid-term</a:t>
            </a:r>
          </a:p>
        </p:txBody>
      </p:sp>
      <p:sp>
        <p:nvSpPr>
          <p:cNvPr id="9" name="TextBox 8"/>
          <p:cNvSpPr txBox="1"/>
          <p:nvPr/>
        </p:nvSpPr>
        <p:spPr>
          <a:xfrm>
            <a:off x="4663440" y="1463040"/>
            <a:ext cx="3200400" cy="4114800"/>
          </a:xfrm>
          <a:prstGeom prst="rect">
            <a:avLst/>
          </a:prstGeom>
          <a:noFill/>
        </p:spPr>
        <p:txBody>
          <a:bodyPr wrap="square">
            <a:spAutoFit/>
          </a:bodyPr>
          <a:lstStyle/>
          <a:p>
            <a:pPr algn="l">
              <a:defRPr sz="1200" b="0">
                <a:solidFill>
                  <a:srgbClr val="1F2A37"/>
                </a:solidFill>
              </a:defRPr>
            </a:pPr>
            <a:r>
              <a:t>Temporal tracking</a:t>
            </a:r>
            <a:br/>
            <a:r>
              <a:t>Monitor how field boundaries change across seasons and years — detecting land use change and agricultural expansion.</a:t>
            </a:r>
            <a:br/>
            <a:br/>
            <a:r>
              <a:t>Country-scale deployment</a:t>
            </a:r>
            <a:br/>
            <a:r>
              <a:t>Process entire countries using our multi-GPU infrastructure. Full Sentinel-2 tile coverage at national level.</a:t>
            </a:r>
            <a:br/>
            <a:br/>
            <a:r>
              <a:t>Semi-supervised labeling</a:t>
            </a:r>
            <a:br/>
            <a:r>
              <a:t>Use initial model outputs to accelerate annotation of new regions — human-in-the-loop refinement.</a:t>
            </a:r>
          </a:p>
        </p:txBody>
      </p:sp>
      <p:sp>
        <p:nvSpPr>
          <p:cNvPr id="10" name="Rounded Rectangle 9"/>
          <p:cNvSpPr/>
          <p:nvPr/>
        </p:nvSpPr>
        <p:spPr>
          <a:xfrm>
            <a:off x="8321040" y="914400"/>
            <a:ext cx="3657600" cy="5029200"/>
          </a:xfrm>
          <a:prstGeom prst="roundRect">
            <a:avLst/>
          </a:prstGeom>
          <a:solidFill>
            <a:srgbClr val="FFFFFF"/>
          </a:solidFill>
          <a:ln w="9525">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0" y="1051560"/>
            <a:ext cx="3200400" cy="365760"/>
          </a:xfrm>
          <a:prstGeom prst="rect">
            <a:avLst/>
          </a:prstGeom>
          <a:noFill/>
        </p:spPr>
        <p:txBody>
          <a:bodyPr wrap="square">
            <a:spAutoFit/>
          </a:bodyPr>
          <a:lstStyle/>
          <a:p>
            <a:pPr algn="l">
              <a:defRPr sz="1800" b="1">
                <a:solidFill>
                  <a:srgbClr val="16A34A"/>
                </a:solidFill>
              </a:defRPr>
            </a:pPr>
            <a:r>
              <a:t>Long-term</a:t>
            </a:r>
          </a:p>
        </p:txBody>
      </p:sp>
      <p:sp>
        <p:nvSpPr>
          <p:cNvPr id="12" name="TextBox 11"/>
          <p:cNvSpPr txBox="1"/>
          <p:nvPr/>
        </p:nvSpPr>
        <p:spPr>
          <a:xfrm>
            <a:off x="8595360" y="1463040"/>
            <a:ext cx="3200400" cy="4114800"/>
          </a:xfrm>
          <a:prstGeom prst="rect">
            <a:avLst/>
          </a:prstGeom>
          <a:noFill/>
        </p:spPr>
        <p:txBody>
          <a:bodyPr wrap="square">
            <a:spAutoFit/>
          </a:bodyPr>
          <a:lstStyle/>
          <a:p>
            <a:pPr algn="l">
              <a:defRPr sz="1200" b="0">
                <a:solidFill>
                  <a:srgbClr val="1F2A37"/>
                </a:solidFill>
              </a:defRPr>
            </a:pPr>
            <a:r>
              <a:t>Streaming pipeline</a:t>
            </a:r>
            <a:br/>
            <a:r>
              <a:t>Automatically process new Sentinel-2 acquisitions as they become available — near-real-time field boundary updates.</a:t>
            </a:r>
            <a:br/>
            <a:br/>
            <a:r>
              <a:t>Web visualization</a:t>
            </a:r>
            <a:br/>
            <a:r>
              <a:t>Browser-based interface for viewing, validating, and editing field boundaries over basemaps.</a:t>
            </a:r>
            <a:br/>
            <a:br/>
            <a:r>
              <a:t>Delineation API</a:t>
            </a:r>
            <a:br/>
            <a:r>
              <a:t>RESTful service for on-demand field boundary extraction from arbitrary regions and imagery sources.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