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0"/>
  </p:normalViewPr>
  <p:slideViewPr>
    <p:cSldViewPr snapToGrid="0" snapToObjects="1">
      <p:cViewPr varScale="1">
        <p:scale>
          <a:sx n="118" d="100"/>
          <a:sy n="118" d="100"/>
        </p:scale>
        <p:origin x="552"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7558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compare the two models side by side.</a:t>
            </a:r>
          </a:p>
          <a:p>
            <a:endParaRPr/>
          </a:p>
          <a:p>
            <a:r>
              <a:t>YOLO through Ultralytics is a single-stage real-time detector — one of the state of the art for real-time detection tasks, which makes it very suitable for processing large volumes of satellite imagery fast. It's pre-trained on FBIS-22M, over 22 million instances, so it works immediately — we don't need to train anything because the model already learned from a massive dataset.</a:t>
            </a:r>
          </a:p>
          <a:p>
            <a:endParaRPr/>
          </a:p>
          <a:p>
            <a:r>
              <a:t>Mask R-CNN through Detectron2 is a two-stage model. We fine-tuned it on a dataset downloaded from Roboflow. The dataset is smaller than FBIS-22M, but targets our specific regions. Both models produce segmentation masks — the key difference is architecture and licensing.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critical. The licensing difference is the main strategic reason we invested in building our own pipeline.</a:t>
            </a:r>
          </a:p>
          <a:p>
            <a:endParaRPr/>
          </a:p>
          <a:p>
            <a:r>
              <a:t>AGPL v3, which covers Delineate-Anything and Ultralytics YOLO, is a strong copyleft license. If we modify the code or deploy it as part of a service, all derivative work must be open-sourced under the same license. This is fine when the model is only a data preparation step — for example, generating intermediate results that feed into another system. That was our initial intention.</a:t>
            </a:r>
          </a:p>
          <a:p>
            <a:endParaRPr/>
          </a:p>
          <a:p>
            <a:r>
              <a:t>BUT — the moment we decide to monetize the pipeline, this becomes a problem. If YOLO is part of the commercial offering, we must either open-source everything, or purchase a commercial license from Ultralytics.</a:t>
            </a:r>
          </a:p>
          <a:p>
            <a:endParaRPr/>
          </a:p>
          <a:p>
            <a:r>
              <a:t>Apache-2.0, which covers Detectron2, has no such restriction. We can use it freely in commercial products, keep our code proprietary, and never worry about licensing constraints. That's why we made the investment to fine-tune our own Mask R-CNN model.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a lot of people get tripped up. There are three different things people confuse.</a:t>
            </a:r>
          </a:p>
          <a:p>
            <a:endParaRPr/>
          </a:p>
          <a:p>
            <a:r>
              <a:t>First, the YOLO architecture — the idea described in research papers. This is public knowledge, anyone can reimplement it. No license issues.</a:t>
            </a:r>
          </a:p>
          <a:p>
            <a:endParaRPr/>
          </a:p>
          <a:p>
            <a:r>
              <a:t>Second, the code implementation. This is where it gets tricky. Ultralytics YOLO is AGPL-3.0. If we modify their code or use it in a networked service like an API, we may need to open-source our entire application. This is usually not acceptable for enterprise.</a:t>
            </a:r>
          </a:p>
          <a:p>
            <a:endParaRPr/>
          </a:p>
          <a:p>
            <a:r>
              <a:t>Third, pretrained weights. They inherit the license of the code that produced them. Even if we only use the .pt file and write no Ultralytics code ourselves, the AGPL implications can still apply.</a:t>
            </a:r>
          </a:p>
          <a:p>
            <a:endParaRPr/>
          </a:p>
          <a:p>
            <a:r>
              <a:t>Simple rule: Architecture is free. Code — check the license. Weights — inherit the license risk.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do companies actually do in practice?</a:t>
            </a:r>
          </a:p>
          <a:p>
            <a:endParaRPr/>
          </a:p>
          <a:p>
            <a:r>
              <a:t>Option A is the most common: use a YOLO implementation with a permissive license. YOLOX and YOLO-NAS are both Apache-2.0, fully safe for commercial use.</a:t>
            </a:r>
          </a:p>
          <a:p>
            <a:endParaRPr/>
          </a:p>
          <a:p>
            <a:r>
              <a:t>Option B: if we really want Ultralytics specifically, buy their commercial license. It removes all AGPL obligations.</a:t>
            </a:r>
          </a:p>
          <a:p>
            <a:endParaRPr/>
          </a:p>
          <a:p>
            <a:r>
              <a:t>Option C: reimplement from scratch. Clean IP, but the engineering effort is massive and we need our own training infrastructure.</a:t>
            </a:r>
          </a:p>
          <a:p>
            <a:endParaRPr/>
          </a:p>
          <a:p>
            <a:r>
              <a:t>The table shows the main alternatives. Notice YOLOv7 is also GPL, so not all alternative YOLOs are safe — we still need to check the specific license.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is the practical summary. Green means safe, red means risky.</a:t>
            </a:r>
          </a:p>
          <a:p>
            <a:endParaRPr/>
          </a:p>
          <a:p>
            <a:r>
              <a:t>The key nuance: using AGPL code as an internal tool or data prep step is a gray area. If we never distribute it or expose it as a service, we're probably fine. But the moment we deploy it as part of a commercial pipeline, we're in AGPL territory.</a:t>
            </a:r>
          </a:p>
          <a:p>
            <a:endParaRPr/>
          </a:p>
          <a:p>
            <a:r>
              <a:t>Our approach: we started with Ultralytics YOLO for prototyping — perfectly fine for internal research. When we decided to potentially monetize the pipeline, we switched to Detectron2 to avoid any legal ambiguity. We don't claim it's better — we claim it's legally clean.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9" name="TextBox 8">
            <a:extLst>
              <a:ext uri="{FF2B5EF4-FFF2-40B4-BE49-F238E27FC236}">
                <a16:creationId xmlns:a16="http://schemas.microsoft.com/office/drawing/2014/main" id="{63A0E89A-FC0A-0D83-771D-BA6F0FCA97EA}"/>
              </a:ext>
            </a:extLst>
          </p:cNvPr>
          <p:cNvSpPr txBox="1"/>
          <p:nvPr userDrawn="1">
            <p:extLst>
              <p:ext uri="{1162E1C5-73C7-4A58-AE30-91384D911F3F}">
                <p184:classification xmlns:p184="http://schemas.microsoft.com/office/powerpoint/2018/4/main" val="hdr"/>
              </p:ext>
            </p:extLst>
          </p:nvPr>
        </p:nvSpPr>
        <p:spPr>
          <a:xfrm>
            <a:off x="63500" y="63500"/>
            <a:ext cx="270986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Confidential - Oracle Restricted \Employees Only</a:t>
            </a:r>
          </a:p>
        </p:txBody>
      </p:sp>
      <p:sp>
        <p:nvSpPr>
          <p:cNvPr id="10" name="TextBox 9">
            <a:extLst>
              <a:ext uri="{FF2B5EF4-FFF2-40B4-BE49-F238E27FC236}">
                <a16:creationId xmlns:a16="http://schemas.microsoft.com/office/drawing/2014/main" id="{8E12DCC6-A125-5032-3668-63BA228DCC06}"/>
              </a:ext>
            </a:extLst>
          </p:cNvPr>
          <p:cNvSpPr txBox="1"/>
          <p:nvPr userDrawn="1">
            <p:extLst>
              <p:ext uri="{1162E1C5-73C7-4A58-AE30-91384D911F3F}">
                <p184:classification xmlns:p184="http://schemas.microsoft.com/office/powerpoint/2018/4/main" val="ftr"/>
              </p:ext>
            </p:extLst>
          </p:nvPr>
        </p:nvSpPr>
        <p:spPr>
          <a:xfrm>
            <a:off x="63500" y="6642100"/>
            <a:ext cx="270986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Confidential - Oracle Restricted \Employees Only</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972800" cy="457200"/>
          </a:xfrm>
          <a:prstGeom prst="rect">
            <a:avLst/>
          </a:prstGeom>
          <a:noFill/>
        </p:spPr>
        <p:txBody>
          <a:bodyPr wrap="square">
            <a:spAutoFit/>
          </a:bodyPr>
          <a:lstStyle/>
          <a:p>
            <a:pPr algn="l">
              <a:defRPr sz="2800" b="1">
                <a:solidFill>
                  <a:srgbClr val="1F2A37"/>
                </a:solidFill>
              </a:defRPr>
            </a:pPr>
            <a:r>
              <a:t>YOLO (Ultralytics) vs Mask R-CNN (Detectron2)</a:t>
            </a:r>
          </a:p>
        </p:txBody>
      </p:sp>
      <p:sp>
        <p:nvSpPr>
          <p:cNvPr id="4" name="TextBox 3"/>
          <p:cNvSpPr txBox="1"/>
          <p:nvPr/>
        </p:nvSpPr>
        <p:spPr>
          <a:xfrm>
            <a:off x="731520" y="685800"/>
            <a:ext cx="10972800" cy="365760"/>
          </a:xfrm>
          <a:prstGeom prst="rect">
            <a:avLst/>
          </a:prstGeom>
          <a:noFill/>
        </p:spPr>
        <p:txBody>
          <a:bodyPr wrap="square">
            <a:spAutoFit/>
          </a:bodyPr>
          <a:lstStyle/>
          <a:p>
            <a:pPr algn="l">
              <a:defRPr sz="1400" b="0">
                <a:solidFill>
                  <a:srgbClr val="6B7280"/>
                </a:solidFill>
              </a:defRPr>
            </a:pPr>
            <a:r>
              <a:t>Training approach, dataset, and key differences between the two models.</a:t>
            </a:r>
          </a:p>
        </p:txBody>
      </p:sp>
      <p:sp>
        <p:nvSpPr>
          <p:cNvPr id="5" name="Rounded Rectangle 4"/>
          <p:cNvSpPr/>
          <p:nvPr/>
        </p:nvSpPr>
        <p:spPr>
          <a:xfrm>
            <a:off x="457200" y="1188720"/>
            <a:ext cx="5486400" cy="530352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5029200" cy="457200"/>
          </a:xfrm>
          <a:prstGeom prst="rect">
            <a:avLst/>
          </a:prstGeom>
          <a:noFill/>
        </p:spPr>
        <p:txBody>
          <a:bodyPr wrap="square">
            <a:spAutoFit/>
          </a:bodyPr>
          <a:lstStyle/>
          <a:p>
            <a:pPr algn="l">
              <a:defRPr sz="2200" b="1">
                <a:solidFill>
                  <a:srgbClr val="EA580C"/>
                </a:solidFill>
              </a:defRPr>
            </a:pPr>
            <a:r>
              <a:t>YOLO — Ultralytics</a:t>
            </a:r>
          </a:p>
        </p:txBody>
      </p:sp>
      <p:sp>
        <p:nvSpPr>
          <p:cNvPr id="7" name="TextBox 6"/>
          <p:cNvSpPr txBox="1"/>
          <p:nvPr/>
        </p:nvSpPr>
        <p:spPr>
          <a:xfrm>
            <a:off x="731520" y="1828800"/>
            <a:ext cx="5029200" cy="365760"/>
          </a:xfrm>
          <a:prstGeom prst="rect">
            <a:avLst/>
          </a:prstGeom>
          <a:noFill/>
        </p:spPr>
        <p:txBody>
          <a:bodyPr wrap="square">
            <a:spAutoFit/>
          </a:bodyPr>
          <a:lstStyle/>
          <a:p>
            <a:pPr algn="l">
              <a:defRPr sz="1400" b="1">
                <a:solidFill>
                  <a:srgbClr val="2563EB"/>
                </a:solidFill>
              </a:defRPr>
            </a:pPr>
            <a:r>
              <a:t>Architecture</a:t>
            </a:r>
          </a:p>
        </p:txBody>
      </p:sp>
      <p:sp>
        <p:nvSpPr>
          <p:cNvPr id="8" name="TextBox 7"/>
          <p:cNvSpPr txBox="1"/>
          <p:nvPr/>
        </p:nvSpPr>
        <p:spPr>
          <a:xfrm>
            <a:off x="731520" y="2148840"/>
            <a:ext cx="5029200" cy="1097280"/>
          </a:xfrm>
          <a:prstGeom prst="rect">
            <a:avLst/>
          </a:prstGeom>
          <a:noFill/>
        </p:spPr>
        <p:txBody>
          <a:bodyPr wrap="square">
            <a:spAutoFit/>
          </a:bodyPr>
          <a:lstStyle/>
          <a:p>
            <a:pPr algn="l">
              <a:defRPr sz="1200" b="0">
                <a:solidFill>
                  <a:srgbClr val="1F2A37"/>
                </a:solidFill>
              </a:defRPr>
            </a:pPr>
            <a:r>
              <a:t>Single-stage real-time detector with segmentation support (YOLOv8-seg). One of the state-of-the-art architectures for real-time detection — very suitable for our case where we need fast inference over large satellite scenes.</a:t>
            </a:r>
          </a:p>
        </p:txBody>
      </p:sp>
      <p:sp>
        <p:nvSpPr>
          <p:cNvPr id="9" name="TextBox 8"/>
          <p:cNvSpPr txBox="1"/>
          <p:nvPr/>
        </p:nvSpPr>
        <p:spPr>
          <a:xfrm>
            <a:off x="731520" y="3017520"/>
            <a:ext cx="5029200" cy="365760"/>
          </a:xfrm>
          <a:prstGeom prst="rect">
            <a:avLst/>
          </a:prstGeom>
          <a:noFill/>
        </p:spPr>
        <p:txBody>
          <a:bodyPr wrap="square">
            <a:spAutoFit/>
          </a:bodyPr>
          <a:lstStyle/>
          <a:p>
            <a:pPr algn="l">
              <a:defRPr sz="1400" b="1">
                <a:solidFill>
                  <a:srgbClr val="2563EB"/>
                </a:solidFill>
              </a:defRPr>
            </a:pPr>
            <a:r>
              <a:t>Training &amp; Dataset</a:t>
            </a:r>
          </a:p>
        </p:txBody>
      </p:sp>
      <p:sp>
        <p:nvSpPr>
          <p:cNvPr id="10" name="TextBox 9"/>
          <p:cNvSpPr txBox="1"/>
          <p:nvPr/>
        </p:nvSpPr>
        <p:spPr>
          <a:xfrm>
            <a:off x="731520" y="3337560"/>
            <a:ext cx="5029200" cy="1097280"/>
          </a:xfrm>
          <a:prstGeom prst="rect">
            <a:avLst/>
          </a:prstGeom>
          <a:noFill/>
        </p:spPr>
        <p:txBody>
          <a:bodyPr wrap="square">
            <a:spAutoFit/>
          </a:bodyPr>
          <a:lstStyle/>
          <a:p>
            <a:pPr algn="l">
              <a:defRPr sz="1200" b="0">
                <a:solidFill>
                  <a:srgbClr val="1F2A37"/>
                </a:solidFill>
              </a:defRPr>
            </a:pPr>
            <a:r>
              <a:t>Pre-trained on FBIS-22M — a massive dataset with over 22 million field boundary instances from diverse agricultural regions worldwide. Works immediately with no fine-tuning because it is already pre-trained on a very large and varied dataset.</a:t>
            </a:r>
          </a:p>
        </p:txBody>
      </p:sp>
      <p:sp>
        <p:nvSpPr>
          <p:cNvPr id="11" name="TextBox 10"/>
          <p:cNvSpPr txBox="1"/>
          <p:nvPr/>
        </p:nvSpPr>
        <p:spPr>
          <a:xfrm>
            <a:off x="731520" y="4389120"/>
            <a:ext cx="2286000" cy="365760"/>
          </a:xfrm>
          <a:prstGeom prst="rect">
            <a:avLst/>
          </a:prstGeom>
          <a:noFill/>
        </p:spPr>
        <p:txBody>
          <a:bodyPr wrap="square">
            <a:spAutoFit/>
          </a:bodyPr>
          <a:lstStyle/>
          <a:p>
            <a:pPr algn="l">
              <a:defRPr sz="1400" b="1">
                <a:solidFill>
                  <a:srgbClr val="16A34A"/>
                </a:solidFill>
              </a:defRPr>
            </a:pPr>
            <a:r>
              <a:t>Pros</a:t>
            </a:r>
          </a:p>
        </p:txBody>
      </p:sp>
      <p:sp>
        <p:nvSpPr>
          <p:cNvPr id="12" name="TextBox 11"/>
          <p:cNvSpPr txBox="1"/>
          <p:nvPr/>
        </p:nvSpPr>
        <p:spPr>
          <a:xfrm>
            <a:off x="731520" y="4663440"/>
            <a:ext cx="2286000" cy="1277273"/>
          </a:xfrm>
          <a:prstGeom prst="rect">
            <a:avLst/>
          </a:prstGeom>
          <a:noFill/>
        </p:spPr>
        <p:txBody>
          <a:bodyPr wrap="square">
            <a:spAutoFit/>
          </a:bodyPr>
          <a:lstStyle/>
          <a:p>
            <a:pPr>
              <a:defRPr sz="1100" b="0">
                <a:solidFill>
                  <a:srgbClr val="1F2A37"/>
                </a:solidFill>
              </a:defRPr>
            </a:pPr>
            <a:r>
              <a:rPr lang="en-US" dirty="0"/>
              <a:t>- No training needed</a:t>
            </a:r>
          </a:p>
          <a:p>
            <a:pPr>
              <a:defRPr sz="1100" b="0">
                <a:solidFill>
                  <a:srgbClr val="1F2A37"/>
                </a:solidFill>
              </a:defRPr>
            </a:pPr>
            <a:r>
              <a:rPr lang="en-US" dirty="0"/>
              <a:t>- Trained on FBIS-22M data (but </a:t>
            </a:r>
            <a:r>
              <a:rPr lang="en-US" dirty="0" err="1"/>
              <a:t>Skysat</a:t>
            </a:r>
            <a:r>
              <a:rPr lang="en-US" dirty="0"/>
              <a:t> images are unavailable to download)</a:t>
            </a:r>
            <a:br>
              <a:rPr lang="en-US" dirty="0"/>
            </a:br>
            <a:r>
              <a:rPr lang="en-US" dirty="0"/>
              <a:t>- Fast inference (real-time)</a:t>
            </a:r>
            <a:br>
              <a:rPr lang="en-US" dirty="0"/>
            </a:br>
            <a:r>
              <a:rPr lang="en-US" dirty="0"/>
              <a:t>- Resolution-agnostic</a:t>
            </a:r>
            <a:br>
              <a:rPr lang="en-US" dirty="0"/>
            </a:br>
            <a:r>
              <a:rPr lang="en-US" dirty="0"/>
              <a:t>- Compact model (17-125 MB)</a:t>
            </a:r>
          </a:p>
        </p:txBody>
      </p:sp>
      <p:sp>
        <p:nvSpPr>
          <p:cNvPr id="13" name="TextBox 12"/>
          <p:cNvSpPr txBox="1"/>
          <p:nvPr/>
        </p:nvSpPr>
        <p:spPr>
          <a:xfrm>
            <a:off x="3200400" y="4389120"/>
            <a:ext cx="2560320" cy="365760"/>
          </a:xfrm>
          <a:prstGeom prst="rect">
            <a:avLst/>
          </a:prstGeom>
          <a:noFill/>
        </p:spPr>
        <p:txBody>
          <a:bodyPr wrap="square">
            <a:spAutoFit/>
          </a:bodyPr>
          <a:lstStyle/>
          <a:p>
            <a:pPr algn="l">
              <a:defRPr sz="1400" b="1">
                <a:solidFill>
                  <a:srgbClr val="DC2626"/>
                </a:solidFill>
              </a:defRPr>
            </a:pPr>
            <a:r>
              <a:t>Cons</a:t>
            </a:r>
          </a:p>
        </p:txBody>
      </p:sp>
      <p:sp>
        <p:nvSpPr>
          <p:cNvPr id="14" name="TextBox 13"/>
          <p:cNvSpPr txBox="1"/>
          <p:nvPr/>
        </p:nvSpPr>
        <p:spPr>
          <a:xfrm>
            <a:off x="3200400" y="4663440"/>
            <a:ext cx="2560320" cy="430887"/>
          </a:xfrm>
          <a:prstGeom prst="rect">
            <a:avLst/>
          </a:prstGeom>
          <a:noFill/>
        </p:spPr>
        <p:txBody>
          <a:bodyPr wrap="square">
            <a:spAutoFit/>
          </a:bodyPr>
          <a:lstStyle/>
          <a:p>
            <a:pPr algn="l">
              <a:defRPr sz="1100" b="0">
                <a:solidFill>
                  <a:srgbClr val="1F2A37"/>
                </a:solidFill>
              </a:defRPr>
            </a:pPr>
            <a:r>
              <a:rPr dirty="0"/>
              <a:t>- AGPL v3 license (copyleft)</a:t>
            </a:r>
            <a:br>
              <a:rPr dirty="0"/>
            </a:br>
            <a:endParaRPr dirty="0"/>
          </a:p>
        </p:txBody>
      </p:sp>
      <p:sp>
        <p:nvSpPr>
          <p:cNvPr id="15" name="Rounded Rectangle 14"/>
          <p:cNvSpPr/>
          <p:nvPr/>
        </p:nvSpPr>
        <p:spPr>
          <a:xfrm>
            <a:off x="6217920" y="1188720"/>
            <a:ext cx="5669280" cy="5303520"/>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1325880"/>
            <a:ext cx="5029200" cy="457200"/>
          </a:xfrm>
          <a:prstGeom prst="rect">
            <a:avLst/>
          </a:prstGeom>
          <a:noFill/>
        </p:spPr>
        <p:txBody>
          <a:bodyPr wrap="square">
            <a:spAutoFit/>
          </a:bodyPr>
          <a:lstStyle/>
          <a:p>
            <a:pPr algn="l">
              <a:defRPr sz="2200" b="1">
                <a:solidFill>
                  <a:srgbClr val="2563EB"/>
                </a:solidFill>
              </a:defRPr>
            </a:pPr>
            <a:r>
              <a:t>Mask R-CNN — Detectron2</a:t>
            </a:r>
          </a:p>
        </p:txBody>
      </p:sp>
      <p:sp>
        <p:nvSpPr>
          <p:cNvPr id="17" name="TextBox 16"/>
          <p:cNvSpPr txBox="1"/>
          <p:nvPr/>
        </p:nvSpPr>
        <p:spPr>
          <a:xfrm>
            <a:off x="6492240" y="1828800"/>
            <a:ext cx="5029200" cy="365760"/>
          </a:xfrm>
          <a:prstGeom prst="rect">
            <a:avLst/>
          </a:prstGeom>
          <a:noFill/>
        </p:spPr>
        <p:txBody>
          <a:bodyPr wrap="square">
            <a:spAutoFit/>
          </a:bodyPr>
          <a:lstStyle/>
          <a:p>
            <a:pPr algn="l">
              <a:defRPr sz="1400" b="1">
                <a:solidFill>
                  <a:srgbClr val="2563EB"/>
                </a:solidFill>
              </a:defRPr>
            </a:pPr>
            <a:r>
              <a:t>Architecture</a:t>
            </a:r>
          </a:p>
        </p:txBody>
      </p:sp>
      <p:sp>
        <p:nvSpPr>
          <p:cNvPr id="18" name="TextBox 17"/>
          <p:cNvSpPr txBox="1"/>
          <p:nvPr/>
        </p:nvSpPr>
        <p:spPr>
          <a:xfrm>
            <a:off x="6492240" y="2148840"/>
            <a:ext cx="5029200" cy="1097280"/>
          </a:xfrm>
          <a:prstGeom prst="rect">
            <a:avLst/>
          </a:prstGeom>
          <a:noFill/>
        </p:spPr>
        <p:txBody>
          <a:bodyPr wrap="square">
            <a:spAutoFit/>
          </a:bodyPr>
          <a:lstStyle/>
          <a:p>
            <a:pPr algn="l">
              <a:defRPr sz="1200" b="0">
                <a:solidFill>
                  <a:srgbClr val="1F2A37"/>
                </a:solidFill>
              </a:defRPr>
            </a:pPr>
            <a:r>
              <a:t>Two-stage instance segmentation model (ResNet-101 + FPN backbone). First proposes candidate regions, then classifies and generates a pixel-level mask for each instance. Both YOLO and Mask R-CNN produce segmentation masks — the difference is architectural approach.</a:t>
            </a:r>
          </a:p>
        </p:txBody>
      </p:sp>
      <p:sp>
        <p:nvSpPr>
          <p:cNvPr id="19" name="TextBox 18"/>
          <p:cNvSpPr txBox="1"/>
          <p:nvPr/>
        </p:nvSpPr>
        <p:spPr>
          <a:xfrm>
            <a:off x="6492240" y="3017520"/>
            <a:ext cx="5029200" cy="365760"/>
          </a:xfrm>
          <a:prstGeom prst="rect">
            <a:avLst/>
          </a:prstGeom>
          <a:noFill/>
        </p:spPr>
        <p:txBody>
          <a:bodyPr wrap="square">
            <a:spAutoFit/>
          </a:bodyPr>
          <a:lstStyle/>
          <a:p>
            <a:pPr algn="l">
              <a:defRPr sz="1400" b="1">
                <a:solidFill>
                  <a:srgbClr val="2563EB"/>
                </a:solidFill>
              </a:defRPr>
            </a:pPr>
            <a:r>
              <a:t>Training &amp; Dataset</a:t>
            </a:r>
          </a:p>
        </p:txBody>
      </p:sp>
      <p:sp>
        <p:nvSpPr>
          <p:cNvPr id="20" name="TextBox 19"/>
          <p:cNvSpPr txBox="1"/>
          <p:nvPr/>
        </p:nvSpPr>
        <p:spPr>
          <a:xfrm>
            <a:off x="6492240" y="3337560"/>
            <a:ext cx="5029200" cy="1097280"/>
          </a:xfrm>
          <a:prstGeom prst="rect">
            <a:avLst/>
          </a:prstGeom>
          <a:noFill/>
        </p:spPr>
        <p:txBody>
          <a:bodyPr wrap="square">
            <a:spAutoFit/>
          </a:bodyPr>
          <a:lstStyle/>
          <a:p>
            <a:pPr algn="l">
              <a:defRPr sz="1200" b="0">
                <a:solidFill>
                  <a:srgbClr val="1F2A37"/>
                </a:solidFill>
              </a:defRPr>
            </a:pPr>
            <a:r>
              <a:rPr dirty="0"/>
              <a:t>Fine-tuned from COCO-pretrained weights on a dataset downloaded from </a:t>
            </a:r>
            <a:r>
              <a:rPr dirty="0" err="1"/>
              <a:t>Roboflow</a:t>
            </a:r>
            <a:r>
              <a:rPr dirty="0"/>
              <a:t>. Smaller dataset compared to FBIS-22M, but with pixel-level segmentation mask annotations targeting our specific agricultural regions.</a:t>
            </a:r>
          </a:p>
        </p:txBody>
      </p:sp>
      <p:sp>
        <p:nvSpPr>
          <p:cNvPr id="21" name="TextBox 20"/>
          <p:cNvSpPr txBox="1"/>
          <p:nvPr/>
        </p:nvSpPr>
        <p:spPr>
          <a:xfrm>
            <a:off x="6492240" y="4389120"/>
            <a:ext cx="2286000" cy="365760"/>
          </a:xfrm>
          <a:prstGeom prst="rect">
            <a:avLst/>
          </a:prstGeom>
          <a:noFill/>
        </p:spPr>
        <p:txBody>
          <a:bodyPr wrap="square">
            <a:spAutoFit/>
          </a:bodyPr>
          <a:lstStyle/>
          <a:p>
            <a:pPr algn="l">
              <a:defRPr sz="1400" b="1">
                <a:solidFill>
                  <a:srgbClr val="16A34A"/>
                </a:solidFill>
              </a:defRPr>
            </a:pPr>
            <a:r>
              <a:t>Pros</a:t>
            </a:r>
          </a:p>
        </p:txBody>
      </p:sp>
      <p:sp>
        <p:nvSpPr>
          <p:cNvPr id="22" name="TextBox 21"/>
          <p:cNvSpPr txBox="1"/>
          <p:nvPr/>
        </p:nvSpPr>
        <p:spPr>
          <a:xfrm>
            <a:off x="6492240" y="4663440"/>
            <a:ext cx="2286000" cy="1371600"/>
          </a:xfrm>
          <a:prstGeom prst="rect">
            <a:avLst/>
          </a:prstGeom>
          <a:noFill/>
        </p:spPr>
        <p:txBody>
          <a:bodyPr wrap="square">
            <a:spAutoFit/>
          </a:bodyPr>
          <a:lstStyle/>
          <a:p>
            <a:pPr algn="l">
              <a:defRPr sz="1100" b="0">
                <a:solidFill>
                  <a:srgbClr val="1F2A37"/>
                </a:solidFill>
              </a:defRPr>
            </a:pPr>
            <a:r>
              <a:t>- Pixel-level instance masks</a:t>
            </a:r>
            <a:br/>
            <a:r>
              <a:t>- Full model control</a:t>
            </a:r>
            <a:br/>
            <a:r>
              <a:t>- MLflow experiment tracking</a:t>
            </a:r>
            <a:br/>
            <a:r>
              <a:t>- Apache-2.0 license</a:t>
            </a:r>
          </a:p>
        </p:txBody>
      </p:sp>
      <p:sp>
        <p:nvSpPr>
          <p:cNvPr id="23" name="TextBox 22"/>
          <p:cNvSpPr txBox="1"/>
          <p:nvPr/>
        </p:nvSpPr>
        <p:spPr>
          <a:xfrm>
            <a:off x="8961120" y="4389120"/>
            <a:ext cx="2743200" cy="365760"/>
          </a:xfrm>
          <a:prstGeom prst="rect">
            <a:avLst/>
          </a:prstGeom>
          <a:noFill/>
        </p:spPr>
        <p:txBody>
          <a:bodyPr wrap="square">
            <a:spAutoFit/>
          </a:bodyPr>
          <a:lstStyle/>
          <a:p>
            <a:pPr algn="l">
              <a:defRPr sz="1400" b="1">
                <a:solidFill>
                  <a:srgbClr val="DC2626"/>
                </a:solidFill>
              </a:defRPr>
            </a:pPr>
            <a:r>
              <a:t>Cons</a:t>
            </a:r>
          </a:p>
        </p:txBody>
      </p:sp>
      <p:sp>
        <p:nvSpPr>
          <p:cNvPr id="24" name="TextBox 23"/>
          <p:cNvSpPr txBox="1"/>
          <p:nvPr/>
        </p:nvSpPr>
        <p:spPr>
          <a:xfrm>
            <a:off x="8961120" y="4663440"/>
            <a:ext cx="2743200" cy="938719"/>
          </a:xfrm>
          <a:prstGeom prst="rect">
            <a:avLst/>
          </a:prstGeom>
          <a:noFill/>
        </p:spPr>
        <p:txBody>
          <a:bodyPr wrap="square">
            <a:spAutoFit/>
          </a:bodyPr>
          <a:lstStyle/>
          <a:p>
            <a:pPr>
              <a:defRPr sz="1100" b="0">
                <a:solidFill>
                  <a:srgbClr val="1F2A37"/>
                </a:solidFill>
              </a:defRPr>
            </a:pPr>
            <a:r>
              <a:rPr lang="en-US" dirty="0"/>
              <a:t>- Requires more training data to boost performance further</a:t>
            </a:r>
            <a:br>
              <a:rPr lang="en-US" dirty="0"/>
            </a:br>
            <a:r>
              <a:rPr lang="en-US" dirty="0"/>
              <a:t>- Smaller dataset</a:t>
            </a:r>
            <a:br>
              <a:rPr lang="en-US" dirty="0"/>
            </a:br>
            <a:r>
              <a:rPr lang="en-US" dirty="0"/>
              <a:t>- Larger model (~350 MB)</a:t>
            </a:r>
            <a:br>
              <a:rPr lang="en-US" dirty="0"/>
            </a:br>
            <a:r>
              <a:rPr lang="en-US" dirty="0"/>
              <a:t>- Slower per-tile since it works in a two stage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972800" cy="457200"/>
          </a:xfrm>
          <a:prstGeom prst="rect">
            <a:avLst/>
          </a:prstGeom>
          <a:noFill/>
        </p:spPr>
        <p:txBody>
          <a:bodyPr wrap="square">
            <a:spAutoFit/>
          </a:bodyPr>
          <a:lstStyle/>
          <a:p>
            <a:pPr algn="l">
              <a:defRPr sz="2800" b="1">
                <a:solidFill>
                  <a:srgbClr val="1F2A37"/>
                </a:solidFill>
              </a:defRPr>
            </a:pPr>
            <a:r>
              <a:t>Licensing: AGPL v3 vs Apache-2.0</a:t>
            </a:r>
          </a:p>
        </p:txBody>
      </p:sp>
      <p:sp>
        <p:nvSpPr>
          <p:cNvPr id="4" name="TextBox 3"/>
          <p:cNvSpPr txBox="1"/>
          <p:nvPr/>
        </p:nvSpPr>
        <p:spPr>
          <a:xfrm>
            <a:off x="731520" y="685800"/>
            <a:ext cx="10972800" cy="365760"/>
          </a:xfrm>
          <a:prstGeom prst="rect">
            <a:avLst/>
          </a:prstGeom>
          <a:noFill/>
        </p:spPr>
        <p:txBody>
          <a:bodyPr wrap="square">
            <a:spAutoFit/>
          </a:bodyPr>
          <a:lstStyle/>
          <a:p>
            <a:pPr algn="l">
              <a:defRPr sz="1400" b="0">
                <a:solidFill>
                  <a:srgbClr val="6B7280"/>
                </a:solidFill>
              </a:defRPr>
            </a:pPr>
            <a:r>
              <a:t>The license determines when and how we can use each model commercially.</a:t>
            </a:r>
          </a:p>
        </p:txBody>
      </p:sp>
      <p:sp>
        <p:nvSpPr>
          <p:cNvPr id="5" name="Rounded Rectangle 4"/>
          <p:cNvSpPr/>
          <p:nvPr/>
        </p:nvSpPr>
        <p:spPr>
          <a:xfrm>
            <a:off x="457200" y="1014548"/>
            <a:ext cx="5486400" cy="3200400"/>
          </a:xfrm>
          <a:prstGeom prst="roundRect">
            <a:avLst/>
          </a:prstGeom>
          <a:solidFill>
            <a:srgbClr val="FFFFFF"/>
          </a:solidFill>
          <a:ln w="9525">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151708"/>
            <a:ext cx="5029200" cy="457200"/>
          </a:xfrm>
          <a:prstGeom prst="rect">
            <a:avLst/>
          </a:prstGeom>
          <a:noFill/>
        </p:spPr>
        <p:txBody>
          <a:bodyPr wrap="square">
            <a:spAutoFit/>
          </a:bodyPr>
          <a:lstStyle/>
          <a:p>
            <a:pPr algn="l">
              <a:defRPr sz="1800" b="1">
                <a:solidFill>
                  <a:srgbClr val="DC2626"/>
                </a:solidFill>
              </a:defRPr>
            </a:pPr>
            <a:r>
              <a:t>AGPL v3 — Delineate-Anything / Ultralytics</a:t>
            </a:r>
          </a:p>
        </p:txBody>
      </p:sp>
      <p:sp>
        <p:nvSpPr>
          <p:cNvPr id="7" name="TextBox 6"/>
          <p:cNvSpPr txBox="1"/>
          <p:nvPr/>
        </p:nvSpPr>
        <p:spPr>
          <a:xfrm>
            <a:off x="731520" y="1458683"/>
            <a:ext cx="5029200" cy="2286000"/>
          </a:xfrm>
          <a:prstGeom prst="rect">
            <a:avLst/>
          </a:prstGeom>
          <a:noFill/>
        </p:spPr>
        <p:txBody>
          <a:bodyPr wrap="square">
            <a:spAutoFit/>
          </a:bodyPr>
          <a:lstStyle/>
          <a:p>
            <a:pPr algn="l">
              <a:defRPr sz="1200" b="0">
                <a:solidFill>
                  <a:srgbClr val="1F2A37"/>
                </a:solidFill>
              </a:defRPr>
            </a:pPr>
            <a:r>
              <a:rPr dirty="0"/>
              <a:t>Strong copyleft license. If we modify the code or use it as part of a service, any derivative work must also be released under AGPL v3 — meaning our entire codebase must be open-sourced.</a:t>
            </a:r>
            <a:br>
              <a:rPr dirty="0"/>
            </a:br>
            <a:br>
              <a:rPr dirty="0"/>
            </a:br>
            <a:r>
              <a:rPr dirty="0"/>
              <a:t>Safe to use when:</a:t>
            </a:r>
            <a:br>
              <a:rPr dirty="0"/>
            </a:br>
            <a:r>
              <a:rPr dirty="0"/>
              <a:t>The model is only used as a data preparation step in the pipeline, not as the core commercial product. This was our initial intention.</a:t>
            </a:r>
            <a:br>
              <a:rPr dirty="0"/>
            </a:br>
            <a:br>
              <a:rPr dirty="0"/>
            </a:br>
            <a:r>
              <a:rPr dirty="0"/>
              <a:t>Risky when:</a:t>
            </a:r>
            <a:br>
              <a:rPr dirty="0"/>
            </a:br>
            <a:r>
              <a:rPr dirty="0"/>
              <a:t>We decide to monetize the pipeline itself. The moment the AGPL component is part of a commercial offering, we must open-source the derivative work — or obtain a commercial license from </a:t>
            </a:r>
            <a:r>
              <a:rPr dirty="0" err="1"/>
              <a:t>Ultralytics</a:t>
            </a:r>
            <a:r>
              <a:rPr dirty="0"/>
              <a:t>.</a:t>
            </a:r>
          </a:p>
        </p:txBody>
      </p:sp>
      <p:sp>
        <p:nvSpPr>
          <p:cNvPr id="8" name="Rounded Rectangle 7"/>
          <p:cNvSpPr/>
          <p:nvPr/>
        </p:nvSpPr>
        <p:spPr>
          <a:xfrm>
            <a:off x="6217920" y="1014548"/>
            <a:ext cx="5669280" cy="3603172"/>
          </a:xfrm>
          <a:prstGeom prst="roundRect">
            <a:avLst/>
          </a:prstGeom>
          <a:solidFill>
            <a:srgbClr val="FFFFFF"/>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151708"/>
            <a:ext cx="5029200" cy="457200"/>
          </a:xfrm>
          <a:prstGeom prst="rect">
            <a:avLst/>
          </a:prstGeom>
          <a:noFill/>
        </p:spPr>
        <p:txBody>
          <a:bodyPr wrap="square">
            <a:spAutoFit/>
          </a:bodyPr>
          <a:lstStyle/>
          <a:p>
            <a:pPr algn="l">
              <a:defRPr sz="1800" b="1">
                <a:solidFill>
                  <a:srgbClr val="16A34A"/>
                </a:solidFill>
              </a:defRPr>
            </a:pPr>
            <a:r>
              <a:t>Apache-2.0 — Detectron2 / Our Pipeline</a:t>
            </a:r>
          </a:p>
        </p:txBody>
      </p:sp>
      <p:sp>
        <p:nvSpPr>
          <p:cNvPr id="10" name="TextBox 9"/>
          <p:cNvSpPr txBox="1"/>
          <p:nvPr/>
        </p:nvSpPr>
        <p:spPr>
          <a:xfrm>
            <a:off x="6492240" y="1458683"/>
            <a:ext cx="5029200" cy="2286000"/>
          </a:xfrm>
          <a:prstGeom prst="rect">
            <a:avLst/>
          </a:prstGeom>
          <a:noFill/>
        </p:spPr>
        <p:txBody>
          <a:bodyPr wrap="square">
            <a:spAutoFit/>
          </a:bodyPr>
          <a:lstStyle/>
          <a:p>
            <a:pPr algn="l">
              <a:defRPr sz="1200" b="0">
                <a:solidFill>
                  <a:srgbClr val="1F2A37"/>
                </a:solidFill>
              </a:defRPr>
            </a:pPr>
            <a:r>
              <a:rPr dirty="0"/>
              <a:t>Permissive license. We can use, modify, and distribute the code freely — including in commercial, closed-source products. No requirement to open-source our work.</a:t>
            </a:r>
            <a:br>
              <a:rPr dirty="0"/>
            </a:br>
            <a:br>
              <a:rPr dirty="0"/>
            </a:br>
            <a:r>
              <a:rPr dirty="0"/>
              <a:t>Safe to use:</a:t>
            </a:r>
            <a:br>
              <a:rPr dirty="0"/>
            </a:br>
            <a:r>
              <a:rPr dirty="0"/>
              <a:t>Always. No restrictions on commercial use, modification, or redistribution. Only requirement: include the original license notice.</a:t>
            </a:r>
            <a:br>
              <a:rPr dirty="0"/>
            </a:br>
            <a:br>
              <a:rPr dirty="0"/>
            </a:br>
            <a:r>
              <a:rPr dirty="0"/>
              <a:t>This is why we chose Detectron2:</a:t>
            </a:r>
            <a:br>
              <a:rPr dirty="0"/>
            </a:br>
            <a:r>
              <a:rPr dirty="0"/>
              <a:t>Full commercial freedom — no legal risk regardless of how the pipeline evolves or whether we monetize it.</a:t>
            </a:r>
            <a:br>
              <a:rPr dirty="0"/>
            </a:br>
            <a:br>
              <a:rPr dirty="0"/>
            </a:br>
            <a:r>
              <a:rPr dirty="0"/>
              <a:t>But do we guarantee better performance than YOLO?</a:t>
            </a:r>
            <a:br>
              <a:rPr dirty="0"/>
            </a:br>
            <a:r>
              <a:rPr dirty="0"/>
              <a:t>Not necessarily — neither in inference time nor in detection quality. YOLO is faster and trained on a much larger dataset. The choice was driven by licensing, not by a performance advantage.</a:t>
            </a:r>
          </a:p>
        </p:txBody>
      </p:sp>
      <p:graphicFrame>
        <p:nvGraphicFramePr>
          <p:cNvPr id="11" name="Table 10"/>
          <p:cNvGraphicFramePr>
            <a:graphicFrameLocks noGrp="1"/>
          </p:cNvGraphicFramePr>
          <p:nvPr/>
        </p:nvGraphicFramePr>
        <p:xfrm>
          <a:off x="274320" y="4663440"/>
          <a:ext cx="11612880" cy="20116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287382">
                <a:tc>
                  <a:txBody>
                    <a:bodyPr/>
                    <a:lstStyle/>
                    <a:p>
                      <a:pPr>
                        <a:defRPr sz="1200" b="1">
                          <a:solidFill>
                            <a:srgbClr val="2563EB"/>
                          </a:solidFill>
                        </a:defRPr>
                      </a:pPr>
                      <a:endParaRPr/>
                    </a:p>
                  </a:txBody>
                  <a:tcPr>
                    <a:solidFill>
                      <a:srgbClr val="F0F2F5"/>
                    </a:solidFill>
                  </a:tcPr>
                </a:tc>
                <a:tc>
                  <a:txBody>
                    <a:bodyPr/>
                    <a:lstStyle/>
                    <a:p>
                      <a:pPr>
                        <a:defRPr sz="1200" b="1">
                          <a:solidFill>
                            <a:srgbClr val="2563EB"/>
                          </a:solidFill>
                        </a:defRPr>
                      </a:pPr>
                      <a:r>
                        <a:t>AGPL v3 (YOLO / Ultralytics)</a:t>
                      </a:r>
                    </a:p>
                  </a:txBody>
                  <a:tcPr>
                    <a:solidFill>
                      <a:srgbClr val="F0F2F5"/>
                    </a:solidFill>
                  </a:tcPr>
                </a:tc>
                <a:tc>
                  <a:txBody>
                    <a:bodyPr/>
                    <a:lstStyle/>
                    <a:p>
                      <a:pPr>
                        <a:defRPr sz="1200" b="1">
                          <a:solidFill>
                            <a:srgbClr val="2563EB"/>
                          </a:solidFill>
                        </a:defRPr>
                      </a:pPr>
                      <a:r>
                        <a:t>Apache-2.0 (Detectron2)</a:t>
                      </a:r>
                    </a:p>
                  </a:txBody>
                  <a:tcPr>
                    <a:solidFill>
                      <a:srgbClr val="F0F2F5"/>
                    </a:solidFill>
                  </a:tcPr>
                </a:tc>
                <a:extLst>
                  <a:ext uri="{0D108BD9-81ED-4DB2-BD59-A6C34878D82A}">
                    <a16:rowId xmlns:a16="http://schemas.microsoft.com/office/drawing/2014/main" val="10000"/>
                  </a:ext>
                </a:extLst>
              </a:tr>
              <a:tr h="287382">
                <a:tc>
                  <a:txBody>
                    <a:bodyPr/>
                    <a:lstStyle/>
                    <a:p>
                      <a:pPr>
                        <a:defRPr sz="1200" b="1">
                          <a:solidFill>
                            <a:srgbClr val="1F2A37"/>
                          </a:solidFill>
                        </a:defRPr>
                      </a:pPr>
                      <a:r>
                        <a:t>Modify &amp; use internally</a:t>
                      </a:r>
                    </a:p>
                  </a:txBody>
                  <a:tcPr>
                    <a:solidFill>
                      <a:srgbClr val="FFFFFF"/>
                    </a:solidFill>
                  </a:tcPr>
                </a:tc>
                <a:tc>
                  <a:txBody>
                    <a:bodyPr/>
                    <a:lstStyle/>
                    <a:p>
                      <a:pPr>
                        <a:defRPr sz="1200">
                          <a:solidFill>
                            <a:srgbClr val="1F2A37"/>
                          </a:solidFill>
                        </a:defRPr>
                      </a:pPr>
                      <a:r>
                        <a:t>Allowed</a:t>
                      </a:r>
                    </a:p>
                  </a:txBody>
                  <a:tcPr>
                    <a:solidFill>
                      <a:srgbClr val="FFFFFF"/>
                    </a:solidFill>
                  </a:tcPr>
                </a:tc>
                <a:tc>
                  <a:txBody>
                    <a:bodyPr/>
                    <a:lstStyle/>
                    <a:p>
                      <a:pPr>
                        <a:defRPr sz="1200">
                          <a:solidFill>
                            <a:srgbClr val="1F2A37"/>
                          </a:solidFill>
                        </a:defRPr>
                      </a:pPr>
                      <a:r>
                        <a:t>Allowed</a:t>
                      </a:r>
                    </a:p>
                  </a:txBody>
                  <a:tcPr>
                    <a:solidFill>
                      <a:srgbClr val="FFFFFF"/>
                    </a:solidFill>
                  </a:tcPr>
                </a:tc>
                <a:extLst>
                  <a:ext uri="{0D108BD9-81ED-4DB2-BD59-A6C34878D82A}">
                    <a16:rowId xmlns:a16="http://schemas.microsoft.com/office/drawing/2014/main" val="10001"/>
                  </a:ext>
                </a:extLst>
              </a:tr>
              <a:tr h="287382">
                <a:tc>
                  <a:txBody>
                    <a:bodyPr/>
                    <a:lstStyle/>
                    <a:p>
                      <a:pPr>
                        <a:defRPr sz="1200" b="1">
                          <a:solidFill>
                            <a:srgbClr val="1F2A37"/>
                          </a:solidFill>
                        </a:defRPr>
                      </a:pPr>
                      <a:r>
                        <a:t>Use as data prep step</a:t>
                      </a:r>
                    </a:p>
                  </a:txBody>
                  <a:tcPr>
                    <a:solidFill>
                      <a:srgbClr val="F0F2F5"/>
                    </a:solidFill>
                  </a:tcPr>
                </a:tc>
                <a:tc>
                  <a:txBody>
                    <a:bodyPr/>
                    <a:lstStyle/>
                    <a:p>
                      <a:pPr>
                        <a:defRPr sz="1200">
                          <a:solidFill>
                            <a:srgbClr val="1F2A37"/>
                          </a:solidFill>
                        </a:defRPr>
                      </a:pPr>
                      <a:r>
                        <a:t>Allowed (if not distributed)</a:t>
                      </a:r>
                    </a:p>
                  </a:txBody>
                  <a:tcPr>
                    <a:solidFill>
                      <a:srgbClr val="F0F2F5"/>
                    </a:solidFill>
                  </a:tcPr>
                </a:tc>
                <a:tc>
                  <a:txBody>
                    <a:bodyPr/>
                    <a:lstStyle/>
                    <a:p>
                      <a:pPr>
                        <a:defRPr sz="1200">
                          <a:solidFill>
                            <a:srgbClr val="1F2A37"/>
                          </a:solidFill>
                        </a:defRPr>
                      </a:pPr>
                      <a:r>
                        <a:t>Allowed</a:t>
                      </a:r>
                    </a:p>
                  </a:txBody>
                  <a:tcPr>
                    <a:solidFill>
                      <a:srgbClr val="F0F2F5"/>
                    </a:solidFill>
                  </a:tcPr>
                </a:tc>
                <a:extLst>
                  <a:ext uri="{0D108BD9-81ED-4DB2-BD59-A6C34878D82A}">
                    <a16:rowId xmlns:a16="http://schemas.microsoft.com/office/drawing/2014/main" val="10002"/>
                  </a:ext>
                </a:extLst>
              </a:tr>
              <a:tr h="287382">
                <a:tc>
                  <a:txBody>
                    <a:bodyPr/>
                    <a:lstStyle/>
                    <a:p>
                      <a:pPr>
                        <a:defRPr sz="1200" b="1">
                          <a:solidFill>
                            <a:srgbClr val="1F2A37"/>
                          </a:solidFill>
                        </a:defRPr>
                      </a:pPr>
                      <a:r>
                        <a:t>Distribute modified code</a:t>
                      </a:r>
                    </a:p>
                  </a:txBody>
                  <a:tcPr>
                    <a:solidFill>
                      <a:srgbClr val="FFFFFF"/>
                    </a:solidFill>
                  </a:tcPr>
                </a:tc>
                <a:tc>
                  <a:txBody>
                    <a:bodyPr/>
                    <a:lstStyle/>
                    <a:p>
                      <a:pPr>
                        <a:defRPr sz="1200">
                          <a:solidFill>
                            <a:srgbClr val="1F2A37"/>
                          </a:solidFill>
                        </a:defRPr>
                      </a:pPr>
                      <a:r>
                        <a:t>Must open-source under AGPL</a:t>
                      </a:r>
                    </a:p>
                  </a:txBody>
                  <a:tcPr>
                    <a:solidFill>
                      <a:srgbClr val="FFFFFF"/>
                    </a:solidFill>
                  </a:tcPr>
                </a:tc>
                <a:tc>
                  <a:txBody>
                    <a:bodyPr/>
                    <a:lstStyle/>
                    <a:p>
                      <a:pPr>
                        <a:defRPr sz="1200">
                          <a:solidFill>
                            <a:srgbClr val="1F2A37"/>
                          </a:solidFill>
                        </a:defRPr>
                      </a:pPr>
                      <a:r>
                        <a:t>No restriction</a:t>
                      </a:r>
                    </a:p>
                  </a:txBody>
                  <a:tcPr>
                    <a:solidFill>
                      <a:srgbClr val="FFFFFF"/>
                    </a:solidFill>
                  </a:tcPr>
                </a:tc>
                <a:extLst>
                  <a:ext uri="{0D108BD9-81ED-4DB2-BD59-A6C34878D82A}">
                    <a16:rowId xmlns:a16="http://schemas.microsoft.com/office/drawing/2014/main" val="10003"/>
                  </a:ext>
                </a:extLst>
              </a:tr>
              <a:tr h="287382">
                <a:tc>
                  <a:txBody>
                    <a:bodyPr/>
                    <a:lstStyle/>
                    <a:p>
                      <a:pPr>
                        <a:defRPr sz="1200" b="1">
                          <a:solidFill>
                            <a:srgbClr val="1F2A37"/>
                          </a:solidFill>
                        </a:defRPr>
                      </a:pPr>
                      <a:r>
                        <a:t>Offer as a paid service</a:t>
                      </a:r>
                    </a:p>
                  </a:txBody>
                  <a:tcPr>
                    <a:solidFill>
                      <a:srgbClr val="F0F2F5"/>
                    </a:solidFill>
                  </a:tcPr>
                </a:tc>
                <a:tc>
                  <a:txBody>
                    <a:bodyPr/>
                    <a:lstStyle/>
                    <a:p>
                      <a:pPr>
                        <a:defRPr sz="1200">
                          <a:solidFill>
                            <a:srgbClr val="1F2A37"/>
                          </a:solidFill>
                        </a:defRPr>
                      </a:pPr>
                      <a:r>
                        <a:t>Must open-source derivatives</a:t>
                      </a:r>
                    </a:p>
                  </a:txBody>
                  <a:tcPr>
                    <a:solidFill>
                      <a:srgbClr val="F0F2F5"/>
                    </a:solidFill>
                  </a:tcPr>
                </a:tc>
                <a:tc>
                  <a:txBody>
                    <a:bodyPr/>
                    <a:lstStyle/>
                    <a:p>
                      <a:pPr>
                        <a:defRPr sz="1200">
                          <a:solidFill>
                            <a:srgbClr val="1F2A37"/>
                          </a:solidFill>
                        </a:defRPr>
                      </a:pPr>
                      <a:r>
                        <a:t>No restriction</a:t>
                      </a:r>
                    </a:p>
                  </a:txBody>
                  <a:tcPr>
                    <a:solidFill>
                      <a:srgbClr val="F0F2F5"/>
                    </a:solidFill>
                  </a:tcPr>
                </a:tc>
                <a:extLst>
                  <a:ext uri="{0D108BD9-81ED-4DB2-BD59-A6C34878D82A}">
                    <a16:rowId xmlns:a16="http://schemas.microsoft.com/office/drawing/2014/main" val="10004"/>
                  </a:ext>
                </a:extLst>
              </a:tr>
              <a:tr h="287382">
                <a:tc>
                  <a:txBody>
                    <a:bodyPr/>
                    <a:lstStyle/>
                    <a:p>
                      <a:pPr>
                        <a:defRPr sz="1200" b="1">
                          <a:solidFill>
                            <a:srgbClr val="1F2A37"/>
                          </a:solidFill>
                        </a:defRPr>
                      </a:pPr>
                      <a:r>
                        <a:t>Build commercial product</a:t>
                      </a:r>
                    </a:p>
                  </a:txBody>
                  <a:tcPr>
                    <a:solidFill>
                      <a:srgbClr val="FFFFFF"/>
                    </a:solidFill>
                  </a:tcPr>
                </a:tc>
                <a:tc>
                  <a:txBody>
                    <a:bodyPr/>
                    <a:lstStyle/>
                    <a:p>
                      <a:pPr>
                        <a:defRPr sz="1200">
                          <a:solidFill>
                            <a:srgbClr val="1F2A37"/>
                          </a:solidFill>
                        </a:defRPr>
                      </a:pPr>
                      <a:r>
                        <a:t>Must open-source or buy license</a:t>
                      </a:r>
                    </a:p>
                  </a:txBody>
                  <a:tcPr>
                    <a:solidFill>
                      <a:srgbClr val="FFFFFF"/>
                    </a:solidFill>
                  </a:tcPr>
                </a:tc>
                <a:tc>
                  <a:txBody>
                    <a:bodyPr/>
                    <a:lstStyle/>
                    <a:p>
                      <a:pPr>
                        <a:defRPr sz="1200">
                          <a:solidFill>
                            <a:srgbClr val="1F2A37"/>
                          </a:solidFill>
                        </a:defRPr>
                      </a:pPr>
                      <a:r>
                        <a:t>No restriction</a:t>
                      </a:r>
                    </a:p>
                  </a:txBody>
                  <a:tcPr>
                    <a:solidFill>
                      <a:srgbClr val="FFFFFF"/>
                    </a:solidFill>
                  </a:tcPr>
                </a:tc>
                <a:extLst>
                  <a:ext uri="{0D108BD9-81ED-4DB2-BD59-A6C34878D82A}">
                    <a16:rowId xmlns:a16="http://schemas.microsoft.com/office/drawing/2014/main" val="10005"/>
                  </a:ext>
                </a:extLst>
              </a:tr>
              <a:tr h="287388">
                <a:tc>
                  <a:txBody>
                    <a:bodyPr/>
                    <a:lstStyle/>
                    <a:p>
                      <a:pPr>
                        <a:defRPr sz="1200" b="1">
                          <a:solidFill>
                            <a:srgbClr val="1F2A37"/>
                          </a:solidFill>
                        </a:defRPr>
                      </a:pPr>
                      <a:r>
                        <a:t>Closed-source derivative</a:t>
                      </a:r>
                    </a:p>
                  </a:txBody>
                  <a:tcPr>
                    <a:solidFill>
                      <a:srgbClr val="F0F2F5"/>
                    </a:solidFill>
                  </a:tcPr>
                </a:tc>
                <a:tc>
                  <a:txBody>
                    <a:bodyPr/>
                    <a:lstStyle/>
                    <a:p>
                      <a:pPr>
                        <a:defRPr sz="1200">
                          <a:solidFill>
                            <a:srgbClr val="1F2A37"/>
                          </a:solidFill>
                        </a:defRPr>
                      </a:pPr>
                      <a:r>
                        <a:rPr dirty="0"/>
                        <a:t>Not allowed</a:t>
                      </a:r>
                    </a:p>
                  </a:txBody>
                  <a:tcPr>
                    <a:solidFill>
                      <a:srgbClr val="F0F2F5"/>
                    </a:solidFill>
                  </a:tcPr>
                </a:tc>
                <a:tc>
                  <a:txBody>
                    <a:bodyPr/>
                    <a:lstStyle/>
                    <a:p>
                      <a:pPr>
                        <a:defRPr sz="1200">
                          <a:solidFill>
                            <a:srgbClr val="1F2A37"/>
                          </a:solidFill>
                        </a:defRPr>
                      </a:pPr>
                      <a:r>
                        <a:rPr dirty="0"/>
                        <a:t>Allowed</a:t>
                      </a:r>
                    </a:p>
                  </a:txBody>
                  <a:tcPr>
                    <a:solidFill>
                      <a:srgbClr val="F0F2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972800" cy="457200"/>
          </a:xfrm>
          <a:prstGeom prst="rect">
            <a:avLst/>
          </a:prstGeom>
          <a:noFill/>
        </p:spPr>
        <p:txBody>
          <a:bodyPr wrap="square">
            <a:spAutoFit/>
          </a:bodyPr>
          <a:lstStyle/>
          <a:p>
            <a:pPr algn="l">
              <a:defRPr sz="2800" b="1">
                <a:solidFill>
                  <a:srgbClr val="1F2A37"/>
                </a:solidFill>
              </a:defRPr>
            </a:pPr>
            <a:r>
              <a:t>Architecture vs Code vs Weights</a:t>
            </a:r>
          </a:p>
        </p:txBody>
      </p:sp>
      <p:sp>
        <p:nvSpPr>
          <p:cNvPr id="4" name="TextBox 3"/>
          <p:cNvSpPr txBox="1"/>
          <p:nvPr/>
        </p:nvSpPr>
        <p:spPr>
          <a:xfrm>
            <a:off x="731520" y="685800"/>
            <a:ext cx="10972800" cy="365760"/>
          </a:xfrm>
          <a:prstGeom prst="rect">
            <a:avLst/>
          </a:prstGeom>
          <a:noFill/>
        </p:spPr>
        <p:txBody>
          <a:bodyPr wrap="square">
            <a:spAutoFit/>
          </a:bodyPr>
          <a:lstStyle/>
          <a:p>
            <a:pPr algn="l">
              <a:defRPr sz="1400" b="0">
                <a:solidFill>
                  <a:srgbClr val="6B7280"/>
                </a:solidFill>
              </a:defRPr>
            </a:pPr>
            <a:r>
              <a:t>Three different things that people often confuse — each with different licensing implications.</a:t>
            </a:r>
          </a:p>
        </p:txBody>
      </p:sp>
      <p:sp>
        <p:nvSpPr>
          <p:cNvPr id="5" name="Rounded Rectangle 4"/>
          <p:cNvSpPr/>
          <p:nvPr/>
        </p:nvSpPr>
        <p:spPr>
          <a:xfrm>
            <a:off x="457200" y="1188720"/>
            <a:ext cx="3474720" cy="3474720"/>
          </a:xfrm>
          <a:prstGeom prst="roundRect">
            <a:avLst/>
          </a:prstGeom>
          <a:solidFill>
            <a:srgbClr val="FFFFFF"/>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3017520" cy="457200"/>
          </a:xfrm>
          <a:prstGeom prst="rect">
            <a:avLst/>
          </a:prstGeom>
          <a:noFill/>
        </p:spPr>
        <p:txBody>
          <a:bodyPr wrap="square">
            <a:spAutoFit/>
          </a:bodyPr>
          <a:lstStyle/>
          <a:p>
            <a:pPr algn="l">
              <a:defRPr sz="1800" b="1">
                <a:solidFill>
                  <a:srgbClr val="16A34A"/>
                </a:solidFill>
              </a:defRPr>
            </a:pPr>
            <a:r>
              <a:t>1. The YOLO Architecture</a:t>
            </a:r>
          </a:p>
        </p:txBody>
      </p:sp>
      <p:sp>
        <p:nvSpPr>
          <p:cNvPr id="7" name="TextBox 6"/>
          <p:cNvSpPr txBox="1"/>
          <p:nvPr/>
        </p:nvSpPr>
        <p:spPr>
          <a:xfrm>
            <a:off x="731520" y="1783080"/>
            <a:ext cx="3017520" cy="274320"/>
          </a:xfrm>
          <a:prstGeom prst="rect">
            <a:avLst/>
          </a:prstGeom>
          <a:noFill/>
        </p:spPr>
        <p:txBody>
          <a:bodyPr wrap="square">
            <a:spAutoFit/>
          </a:bodyPr>
          <a:lstStyle/>
          <a:p>
            <a:pPr algn="l">
              <a:defRPr sz="1200" b="0">
                <a:solidFill>
                  <a:srgbClr val="6B7280"/>
                </a:solidFill>
              </a:defRPr>
            </a:pPr>
            <a:r>
              <a:t>The idea / concept</a:t>
            </a:r>
          </a:p>
        </p:txBody>
      </p:sp>
      <p:sp>
        <p:nvSpPr>
          <p:cNvPr id="8" name="TextBox 7"/>
          <p:cNvSpPr txBox="1"/>
          <p:nvPr/>
        </p:nvSpPr>
        <p:spPr>
          <a:xfrm>
            <a:off x="731520" y="2148840"/>
            <a:ext cx="3017520" cy="2286000"/>
          </a:xfrm>
          <a:prstGeom prst="rect">
            <a:avLst/>
          </a:prstGeom>
          <a:noFill/>
        </p:spPr>
        <p:txBody>
          <a:bodyPr wrap="square">
            <a:spAutoFit/>
          </a:bodyPr>
          <a:lstStyle/>
          <a:p>
            <a:pPr algn="l">
              <a:defRPr sz="1200" b="0">
                <a:solidFill>
                  <a:srgbClr val="1F2A37"/>
                </a:solidFill>
              </a:defRPr>
            </a:pPr>
            <a:r>
              <a:t>YOLO is a published research idea described in papers. The concept itself is not restricted.</a:t>
            </a:r>
            <a:br/>
            <a:br/>
            <a:r>
              <a:t>We are free to:</a:t>
            </a:r>
            <a:br/>
            <a:r>
              <a:t>- Reimplement it from scratch</a:t>
            </a:r>
            <a:br/>
            <a:r>
              <a:t>- Modify the architecture</a:t>
            </a:r>
            <a:br/>
            <a:r>
              <a:t>- Use it in any enterprise product</a:t>
            </a:r>
            <a:br/>
            <a:br/>
            <a:r>
              <a:t>No license issues here.</a:t>
            </a:r>
          </a:p>
        </p:txBody>
      </p:sp>
      <p:sp>
        <p:nvSpPr>
          <p:cNvPr id="9" name="Rounded Rectangle 8"/>
          <p:cNvSpPr/>
          <p:nvPr/>
        </p:nvSpPr>
        <p:spPr>
          <a:xfrm>
            <a:off x="4206240" y="1188720"/>
            <a:ext cx="3840480" cy="3474720"/>
          </a:xfrm>
          <a:prstGeom prst="roundRect">
            <a:avLst/>
          </a:prstGeom>
          <a:solidFill>
            <a:srgbClr val="FFFFFF"/>
          </a:solidFill>
          <a:ln w="9525">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1325880"/>
            <a:ext cx="3383280" cy="457200"/>
          </a:xfrm>
          <a:prstGeom prst="rect">
            <a:avLst/>
          </a:prstGeom>
          <a:noFill/>
        </p:spPr>
        <p:txBody>
          <a:bodyPr wrap="square">
            <a:spAutoFit/>
          </a:bodyPr>
          <a:lstStyle/>
          <a:p>
            <a:pPr algn="l">
              <a:defRPr sz="1800" b="1">
                <a:solidFill>
                  <a:srgbClr val="DC2626"/>
                </a:solidFill>
              </a:defRPr>
            </a:pPr>
            <a:r>
              <a:t>2. The Code Implementation</a:t>
            </a:r>
          </a:p>
        </p:txBody>
      </p:sp>
      <p:sp>
        <p:nvSpPr>
          <p:cNvPr id="11" name="TextBox 10"/>
          <p:cNvSpPr txBox="1"/>
          <p:nvPr/>
        </p:nvSpPr>
        <p:spPr>
          <a:xfrm>
            <a:off x="4480560" y="1783080"/>
            <a:ext cx="3383280" cy="274320"/>
          </a:xfrm>
          <a:prstGeom prst="rect">
            <a:avLst/>
          </a:prstGeom>
          <a:noFill/>
        </p:spPr>
        <p:txBody>
          <a:bodyPr wrap="square">
            <a:spAutoFit/>
          </a:bodyPr>
          <a:lstStyle/>
          <a:p>
            <a:pPr algn="l">
              <a:defRPr sz="1200" b="0">
                <a:solidFill>
                  <a:srgbClr val="6B7280"/>
                </a:solidFill>
              </a:defRPr>
            </a:pPr>
            <a:r>
              <a:t>The repo / framework</a:t>
            </a:r>
          </a:p>
        </p:txBody>
      </p:sp>
      <p:sp>
        <p:nvSpPr>
          <p:cNvPr id="12" name="TextBox 11"/>
          <p:cNvSpPr txBox="1"/>
          <p:nvPr/>
        </p:nvSpPr>
        <p:spPr>
          <a:xfrm>
            <a:off x="4480560" y="2148840"/>
            <a:ext cx="3383280" cy="2286000"/>
          </a:xfrm>
          <a:prstGeom prst="rect">
            <a:avLst/>
          </a:prstGeom>
          <a:noFill/>
        </p:spPr>
        <p:txBody>
          <a:bodyPr wrap="square">
            <a:spAutoFit/>
          </a:bodyPr>
          <a:lstStyle/>
          <a:p>
            <a:pPr algn="l">
              <a:defRPr sz="1200" b="0">
                <a:solidFill>
                  <a:srgbClr val="1F2A37"/>
                </a:solidFill>
              </a:defRPr>
            </a:pPr>
            <a:r>
              <a:t>This is where licensing matters.</a:t>
            </a:r>
            <a:br/>
            <a:br/>
            <a:r>
              <a:t>Ultralytics YOLO (v5, v8):</a:t>
            </a:r>
            <a:br/>
            <a:r>
              <a:t>License: AGPL-3.0 (very restrictive)</a:t>
            </a:r>
            <a:br/>
            <a:br/>
            <a:r>
              <a:t>If we modify the code OR use it in a networked service (API, SaaS), we may be required to open-source our entire application.</a:t>
            </a:r>
            <a:br/>
            <a:br/>
            <a:r>
              <a:t>Usually NOT acceptable for enterprise.</a:t>
            </a:r>
          </a:p>
        </p:txBody>
      </p:sp>
      <p:sp>
        <p:nvSpPr>
          <p:cNvPr id="13" name="Rounded Rectangle 12"/>
          <p:cNvSpPr/>
          <p:nvPr/>
        </p:nvSpPr>
        <p:spPr>
          <a:xfrm>
            <a:off x="8321040" y="1188720"/>
            <a:ext cx="3657600" cy="347472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0" y="1325880"/>
            <a:ext cx="3200400" cy="457200"/>
          </a:xfrm>
          <a:prstGeom prst="rect">
            <a:avLst/>
          </a:prstGeom>
          <a:noFill/>
        </p:spPr>
        <p:txBody>
          <a:bodyPr wrap="square">
            <a:spAutoFit/>
          </a:bodyPr>
          <a:lstStyle/>
          <a:p>
            <a:pPr algn="l">
              <a:defRPr sz="1800" b="1">
                <a:solidFill>
                  <a:srgbClr val="EA580C"/>
                </a:solidFill>
              </a:defRPr>
            </a:pPr>
            <a:r>
              <a:t>3. Pretrained Weights</a:t>
            </a:r>
          </a:p>
        </p:txBody>
      </p:sp>
      <p:sp>
        <p:nvSpPr>
          <p:cNvPr id="15" name="TextBox 14"/>
          <p:cNvSpPr txBox="1"/>
          <p:nvPr/>
        </p:nvSpPr>
        <p:spPr>
          <a:xfrm>
            <a:off x="8595360" y="1783080"/>
            <a:ext cx="3200400" cy="274320"/>
          </a:xfrm>
          <a:prstGeom prst="rect">
            <a:avLst/>
          </a:prstGeom>
          <a:noFill/>
        </p:spPr>
        <p:txBody>
          <a:bodyPr wrap="square">
            <a:spAutoFit/>
          </a:bodyPr>
          <a:lstStyle/>
          <a:p>
            <a:pPr algn="l">
              <a:defRPr sz="1200" b="0">
                <a:solidFill>
                  <a:srgbClr val="6B7280"/>
                </a:solidFill>
              </a:defRPr>
            </a:pPr>
            <a:r>
              <a:t>The .pt / .onnx files</a:t>
            </a:r>
          </a:p>
        </p:txBody>
      </p:sp>
      <p:sp>
        <p:nvSpPr>
          <p:cNvPr id="16" name="TextBox 15"/>
          <p:cNvSpPr txBox="1"/>
          <p:nvPr/>
        </p:nvSpPr>
        <p:spPr>
          <a:xfrm>
            <a:off x="8595360" y="2148840"/>
            <a:ext cx="3200400" cy="2286000"/>
          </a:xfrm>
          <a:prstGeom prst="rect">
            <a:avLst/>
          </a:prstGeom>
          <a:noFill/>
        </p:spPr>
        <p:txBody>
          <a:bodyPr wrap="square">
            <a:spAutoFit/>
          </a:bodyPr>
          <a:lstStyle/>
          <a:p>
            <a:pPr algn="l">
              <a:defRPr sz="1200" b="0">
                <a:solidFill>
                  <a:srgbClr val="1F2A37"/>
                </a:solidFill>
              </a:defRPr>
            </a:pPr>
            <a:r>
              <a:t>Pretrained weights are usually tied to the repo license.</a:t>
            </a:r>
            <a:br/>
            <a:br/>
            <a:r>
              <a:t>Ultralytics weights:</a:t>
            </a:r>
            <a:br/>
            <a:r>
              <a:t>AGPL implications apply.</a:t>
            </a:r>
            <a:br/>
            <a:br/>
            <a:r>
              <a:t>Even if we only use weights (no code modifications), if they come from AGPL code, it can still trigger obligations.</a:t>
            </a:r>
            <a:br/>
            <a:br/>
            <a:r>
              <a:t>Weights inherit license risk.</a:t>
            </a:r>
          </a:p>
        </p:txBody>
      </p:sp>
      <p:sp>
        <p:nvSpPr>
          <p:cNvPr id="17" name="Rounded Rectangle 16"/>
          <p:cNvSpPr/>
          <p:nvPr/>
        </p:nvSpPr>
        <p:spPr>
          <a:xfrm>
            <a:off x="457200" y="4937760"/>
            <a:ext cx="11430000" cy="1645920"/>
          </a:xfrm>
          <a:prstGeom prst="roundRect">
            <a:avLst/>
          </a:prstGeom>
          <a:solidFill>
            <a:srgbClr val="F0F2F5"/>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074920"/>
            <a:ext cx="10972800" cy="365760"/>
          </a:xfrm>
          <a:prstGeom prst="rect">
            <a:avLst/>
          </a:prstGeom>
          <a:noFill/>
        </p:spPr>
        <p:txBody>
          <a:bodyPr wrap="square">
            <a:spAutoFit/>
          </a:bodyPr>
          <a:lstStyle/>
          <a:p>
            <a:pPr algn="l">
              <a:defRPr sz="1800" b="1">
                <a:solidFill>
                  <a:srgbClr val="1F2A37"/>
                </a:solidFill>
              </a:defRPr>
            </a:pPr>
            <a:r>
              <a:t>Simple rule of thumb</a:t>
            </a:r>
          </a:p>
        </p:txBody>
      </p:sp>
      <p:sp>
        <p:nvSpPr>
          <p:cNvPr id="19" name="TextBox 18"/>
          <p:cNvSpPr txBox="1"/>
          <p:nvPr/>
        </p:nvSpPr>
        <p:spPr>
          <a:xfrm>
            <a:off x="731520" y="5486400"/>
            <a:ext cx="3200400" cy="457200"/>
          </a:xfrm>
          <a:prstGeom prst="rect">
            <a:avLst/>
          </a:prstGeom>
          <a:noFill/>
        </p:spPr>
        <p:txBody>
          <a:bodyPr wrap="square">
            <a:spAutoFit/>
          </a:bodyPr>
          <a:lstStyle/>
          <a:p>
            <a:pPr algn="l">
              <a:defRPr sz="1600" b="1">
                <a:solidFill>
                  <a:srgbClr val="16A34A"/>
                </a:solidFill>
              </a:defRPr>
            </a:pPr>
            <a:r>
              <a:t>Architecture = free</a:t>
            </a:r>
          </a:p>
        </p:txBody>
      </p:sp>
      <p:sp>
        <p:nvSpPr>
          <p:cNvPr id="20" name="TextBox 19"/>
          <p:cNvSpPr txBox="1"/>
          <p:nvPr/>
        </p:nvSpPr>
        <p:spPr>
          <a:xfrm>
            <a:off x="4206240" y="5486400"/>
            <a:ext cx="3200400" cy="457200"/>
          </a:xfrm>
          <a:prstGeom prst="rect">
            <a:avLst/>
          </a:prstGeom>
          <a:noFill/>
        </p:spPr>
        <p:txBody>
          <a:bodyPr wrap="square">
            <a:spAutoFit/>
          </a:bodyPr>
          <a:lstStyle/>
          <a:p>
            <a:pPr algn="l">
              <a:defRPr sz="1600" b="1">
                <a:solidFill>
                  <a:srgbClr val="DC2626"/>
                </a:solidFill>
              </a:defRPr>
            </a:pPr>
            <a:r>
              <a:t>Code = check license</a:t>
            </a:r>
          </a:p>
        </p:txBody>
      </p:sp>
      <p:sp>
        <p:nvSpPr>
          <p:cNvPr id="21" name="TextBox 20"/>
          <p:cNvSpPr txBox="1"/>
          <p:nvPr/>
        </p:nvSpPr>
        <p:spPr>
          <a:xfrm>
            <a:off x="7772400" y="5486400"/>
            <a:ext cx="3657600" cy="457200"/>
          </a:xfrm>
          <a:prstGeom prst="rect">
            <a:avLst/>
          </a:prstGeom>
          <a:noFill/>
        </p:spPr>
        <p:txBody>
          <a:bodyPr wrap="square">
            <a:spAutoFit/>
          </a:bodyPr>
          <a:lstStyle/>
          <a:p>
            <a:pPr algn="l">
              <a:defRPr sz="1600" b="1">
                <a:solidFill>
                  <a:srgbClr val="EA580C"/>
                </a:solidFill>
              </a:defRPr>
            </a:pPr>
            <a:r>
              <a:t>Weights = inherit license risk</a:t>
            </a:r>
          </a:p>
        </p:txBody>
      </p:sp>
      <p:sp>
        <p:nvSpPr>
          <p:cNvPr id="22" name="TextBox 21"/>
          <p:cNvSpPr txBox="1"/>
          <p:nvPr/>
        </p:nvSpPr>
        <p:spPr>
          <a:xfrm>
            <a:off x="731520" y="5943600"/>
            <a:ext cx="10972800" cy="457200"/>
          </a:xfrm>
          <a:prstGeom prst="rect">
            <a:avLst/>
          </a:prstGeom>
          <a:noFill/>
        </p:spPr>
        <p:txBody>
          <a:bodyPr wrap="square">
            <a:spAutoFit/>
          </a:bodyPr>
          <a:lstStyle/>
          <a:p>
            <a:pPr algn="l">
              <a:defRPr sz="1200" b="0">
                <a:solidFill>
                  <a:srgbClr val="6B7280"/>
                </a:solidFill>
              </a:defRPr>
            </a:pPr>
            <a:r>
              <a:t>What matters is not the model name — it's who wrote the code you're running and where the weights came from.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57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972800" cy="457200"/>
          </a:xfrm>
          <a:prstGeom prst="rect">
            <a:avLst/>
          </a:prstGeom>
          <a:noFill/>
        </p:spPr>
        <p:txBody>
          <a:bodyPr wrap="square">
            <a:spAutoFit/>
          </a:bodyPr>
          <a:lstStyle/>
          <a:p>
            <a:pPr algn="l">
              <a:defRPr sz="2800" b="1">
                <a:solidFill>
                  <a:srgbClr val="1F2A37"/>
                </a:solidFill>
              </a:defRPr>
            </a:pPr>
            <a:r>
              <a:t>Enterprise-Safe Approaches</a:t>
            </a:r>
          </a:p>
        </p:txBody>
      </p:sp>
      <p:sp>
        <p:nvSpPr>
          <p:cNvPr id="4" name="TextBox 3"/>
          <p:cNvSpPr txBox="1"/>
          <p:nvPr/>
        </p:nvSpPr>
        <p:spPr>
          <a:xfrm>
            <a:off x="731520" y="685800"/>
            <a:ext cx="10972800" cy="365760"/>
          </a:xfrm>
          <a:prstGeom prst="rect">
            <a:avLst/>
          </a:prstGeom>
          <a:noFill/>
        </p:spPr>
        <p:txBody>
          <a:bodyPr wrap="square">
            <a:spAutoFit/>
          </a:bodyPr>
          <a:lstStyle/>
          <a:p>
            <a:pPr algn="l">
              <a:defRPr sz="1400" b="0">
                <a:solidFill>
                  <a:srgbClr val="6B7280"/>
                </a:solidFill>
              </a:defRPr>
            </a:pPr>
            <a:r>
              <a:t>What companies actually do to avoid AGPL risk — and alternative YOLO implementations.</a:t>
            </a:r>
          </a:p>
        </p:txBody>
      </p:sp>
      <p:sp>
        <p:nvSpPr>
          <p:cNvPr id="5" name="Rounded Rectangle 4"/>
          <p:cNvSpPr/>
          <p:nvPr/>
        </p:nvSpPr>
        <p:spPr>
          <a:xfrm>
            <a:off x="457200" y="1188720"/>
            <a:ext cx="3474720" cy="2286000"/>
          </a:xfrm>
          <a:prstGeom prst="roundRect">
            <a:avLst/>
          </a:prstGeom>
          <a:solidFill>
            <a:srgbClr val="FFFFFF"/>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3017520" cy="457200"/>
          </a:xfrm>
          <a:prstGeom prst="rect">
            <a:avLst/>
          </a:prstGeom>
          <a:noFill/>
        </p:spPr>
        <p:txBody>
          <a:bodyPr wrap="square">
            <a:spAutoFit/>
          </a:bodyPr>
          <a:lstStyle/>
          <a:p>
            <a:pPr algn="l">
              <a:defRPr sz="1800" b="1">
                <a:solidFill>
                  <a:srgbClr val="16A34A"/>
                </a:solidFill>
              </a:defRPr>
            </a:pPr>
            <a:r>
              <a:t>Option A — Most common</a:t>
            </a:r>
          </a:p>
        </p:txBody>
      </p:sp>
      <p:sp>
        <p:nvSpPr>
          <p:cNvPr id="7" name="TextBox 6"/>
          <p:cNvSpPr txBox="1"/>
          <p:nvPr/>
        </p:nvSpPr>
        <p:spPr>
          <a:xfrm>
            <a:off x="731520" y="1783080"/>
            <a:ext cx="3017520" cy="1371600"/>
          </a:xfrm>
          <a:prstGeom prst="rect">
            <a:avLst/>
          </a:prstGeom>
          <a:noFill/>
        </p:spPr>
        <p:txBody>
          <a:bodyPr wrap="square">
            <a:spAutoFit/>
          </a:bodyPr>
          <a:lstStyle/>
          <a:p>
            <a:pPr algn="l">
              <a:defRPr sz="1200" b="0">
                <a:solidFill>
                  <a:srgbClr val="1F2A37"/>
                </a:solidFill>
              </a:defRPr>
            </a:pPr>
            <a:r>
              <a:t>Use an open-license YOLO implementation (MIT or Apache-2.0).</a:t>
            </a:r>
            <a:br/>
            <a:br/>
            <a:r>
              <a:t>Train our own model or use weights that come with a permissive license.</a:t>
            </a:r>
            <a:br/>
            <a:br/>
            <a:r>
              <a:t>Examples: YOLOX, YOLOv7, YOLO-NAS</a:t>
            </a:r>
          </a:p>
        </p:txBody>
      </p:sp>
      <p:sp>
        <p:nvSpPr>
          <p:cNvPr id="8" name="Rounded Rectangle 7"/>
          <p:cNvSpPr/>
          <p:nvPr/>
        </p:nvSpPr>
        <p:spPr>
          <a:xfrm>
            <a:off x="4206240" y="1188720"/>
            <a:ext cx="3840480" cy="2286000"/>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0" y="1325880"/>
            <a:ext cx="3383280" cy="457200"/>
          </a:xfrm>
          <a:prstGeom prst="rect">
            <a:avLst/>
          </a:prstGeom>
          <a:noFill/>
        </p:spPr>
        <p:txBody>
          <a:bodyPr wrap="square">
            <a:spAutoFit/>
          </a:bodyPr>
          <a:lstStyle/>
          <a:p>
            <a:pPr algn="l">
              <a:defRPr sz="1800" b="1">
                <a:solidFill>
                  <a:srgbClr val="2563EB"/>
                </a:solidFill>
              </a:defRPr>
            </a:pPr>
            <a:r>
              <a:t>Option B — Buy license</a:t>
            </a:r>
          </a:p>
        </p:txBody>
      </p:sp>
      <p:sp>
        <p:nvSpPr>
          <p:cNvPr id="10" name="TextBox 9"/>
          <p:cNvSpPr txBox="1"/>
          <p:nvPr/>
        </p:nvSpPr>
        <p:spPr>
          <a:xfrm>
            <a:off x="4480560" y="1783080"/>
            <a:ext cx="3383280" cy="1371600"/>
          </a:xfrm>
          <a:prstGeom prst="rect">
            <a:avLst/>
          </a:prstGeom>
          <a:noFill/>
        </p:spPr>
        <p:txBody>
          <a:bodyPr wrap="square">
            <a:spAutoFit/>
          </a:bodyPr>
          <a:lstStyle/>
          <a:p>
            <a:pPr algn="l">
              <a:defRPr sz="1200" b="0">
                <a:solidFill>
                  <a:srgbClr val="1F2A37"/>
                </a:solidFill>
              </a:defRPr>
            </a:pPr>
            <a:r>
              <a:t>Keep using Ultralytics YOLO.</a:t>
            </a:r>
            <a:br/>
            <a:br/>
            <a:r>
              <a:t>Purchase an enterprise / commercial license from Ultralytics directly.</a:t>
            </a:r>
            <a:br/>
            <a:br/>
            <a:r>
              <a:t>This removes all AGPL obligations.</a:t>
            </a:r>
          </a:p>
        </p:txBody>
      </p:sp>
      <p:sp>
        <p:nvSpPr>
          <p:cNvPr id="11" name="Rounded Rectangle 10"/>
          <p:cNvSpPr/>
          <p:nvPr/>
        </p:nvSpPr>
        <p:spPr>
          <a:xfrm>
            <a:off x="8321040" y="1188720"/>
            <a:ext cx="3657600" cy="228600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0" y="1325880"/>
            <a:ext cx="3200400" cy="457200"/>
          </a:xfrm>
          <a:prstGeom prst="rect">
            <a:avLst/>
          </a:prstGeom>
          <a:noFill/>
        </p:spPr>
        <p:txBody>
          <a:bodyPr wrap="square">
            <a:spAutoFit/>
          </a:bodyPr>
          <a:lstStyle/>
          <a:p>
            <a:pPr algn="l">
              <a:defRPr sz="1800" b="1">
                <a:solidFill>
                  <a:srgbClr val="EA580C"/>
                </a:solidFill>
              </a:defRPr>
            </a:pPr>
            <a:r>
              <a:t>Option C — Reimplement</a:t>
            </a:r>
          </a:p>
        </p:txBody>
      </p:sp>
      <p:sp>
        <p:nvSpPr>
          <p:cNvPr id="13" name="TextBox 12"/>
          <p:cNvSpPr txBox="1"/>
          <p:nvPr/>
        </p:nvSpPr>
        <p:spPr>
          <a:xfrm>
            <a:off x="8595360" y="1783080"/>
            <a:ext cx="3200400" cy="1371600"/>
          </a:xfrm>
          <a:prstGeom prst="rect">
            <a:avLst/>
          </a:prstGeom>
          <a:noFill/>
        </p:spPr>
        <p:txBody>
          <a:bodyPr wrap="square">
            <a:spAutoFit/>
          </a:bodyPr>
          <a:lstStyle/>
          <a:p>
            <a:pPr algn="l">
              <a:defRPr sz="1200" b="0">
                <a:solidFill>
                  <a:srgbClr val="1F2A37"/>
                </a:solidFill>
              </a:defRPr>
            </a:pPr>
            <a:r>
              <a:t>Reimplement YOLO internally from the published papers.</a:t>
            </a:r>
            <a:br/>
            <a:br/>
            <a:r>
              <a:t>Train from scratch on our own data.</a:t>
            </a:r>
            <a:br/>
            <a:br/>
            <a:r>
              <a:t>Clean IP, but huge engineering effort.</a:t>
            </a:r>
          </a:p>
        </p:txBody>
      </p:sp>
      <p:graphicFrame>
        <p:nvGraphicFramePr>
          <p:cNvPr id="14" name="Table 13"/>
          <p:cNvGraphicFramePr>
            <a:graphicFrameLocks noGrp="1"/>
          </p:cNvGraphicFramePr>
          <p:nvPr/>
        </p:nvGraphicFramePr>
        <p:xfrm>
          <a:off x="274320" y="3749039"/>
          <a:ext cx="11612880" cy="22860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326571">
                <a:tc>
                  <a:txBody>
                    <a:bodyPr/>
                    <a:lstStyle/>
                    <a:p>
                      <a:pPr>
                        <a:defRPr sz="1200" b="1">
                          <a:solidFill>
                            <a:srgbClr val="2563EB"/>
                          </a:solidFill>
                        </a:defRPr>
                      </a:pPr>
                      <a:r>
                        <a:t>Implementation</a:t>
                      </a:r>
                    </a:p>
                  </a:txBody>
                  <a:tcPr>
                    <a:solidFill>
                      <a:srgbClr val="F0F2F5"/>
                    </a:solidFill>
                  </a:tcPr>
                </a:tc>
                <a:tc>
                  <a:txBody>
                    <a:bodyPr/>
                    <a:lstStyle/>
                    <a:p>
                      <a:pPr>
                        <a:defRPr sz="1200" b="1">
                          <a:solidFill>
                            <a:srgbClr val="2563EB"/>
                          </a:solidFill>
                        </a:defRPr>
                      </a:pPr>
                      <a:r>
                        <a:t>License</a:t>
                      </a:r>
                    </a:p>
                  </a:txBody>
                  <a:tcPr>
                    <a:solidFill>
                      <a:srgbClr val="F0F2F5"/>
                    </a:solidFill>
                  </a:tcPr>
                </a:tc>
                <a:tc>
                  <a:txBody>
                    <a:bodyPr/>
                    <a:lstStyle/>
                    <a:p>
                      <a:pPr>
                        <a:defRPr sz="1200" b="1">
                          <a:solidFill>
                            <a:srgbClr val="2563EB"/>
                          </a:solidFill>
                        </a:defRPr>
                      </a:pPr>
                      <a:r>
                        <a:t>Safe for enterprise?</a:t>
                      </a:r>
                    </a:p>
                  </a:txBody>
                  <a:tcPr>
                    <a:solidFill>
                      <a:srgbClr val="F0F2F5"/>
                    </a:solidFill>
                  </a:tcPr>
                </a:tc>
                <a:extLst>
                  <a:ext uri="{0D108BD9-81ED-4DB2-BD59-A6C34878D82A}">
                    <a16:rowId xmlns:a16="http://schemas.microsoft.com/office/drawing/2014/main" val="10000"/>
                  </a:ext>
                </a:extLst>
              </a:tr>
              <a:tr h="326571">
                <a:tc>
                  <a:txBody>
                    <a:bodyPr/>
                    <a:lstStyle/>
                    <a:p>
                      <a:pPr>
                        <a:defRPr sz="1200" b="1">
                          <a:solidFill>
                            <a:srgbClr val="1F2A37"/>
                          </a:solidFill>
                        </a:defRPr>
                      </a:pPr>
                      <a:r>
                        <a:t>Ultralytics (YOLOv5/v8)</a:t>
                      </a:r>
                    </a:p>
                  </a:txBody>
                  <a:tcPr>
                    <a:solidFill>
                      <a:srgbClr val="FFFFFF"/>
                    </a:solidFill>
                  </a:tcPr>
                </a:tc>
                <a:tc>
                  <a:txBody>
                    <a:bodyPr/>
                    <a:lstStyle/>
                    <a:p>
                      <a:pPr>
                        <a:defRPr sz="1200">
                          <a:solidFill>
                            <a:srgbClr val="1F2A37"/>
                          </a:solidFill>
                        </a:defRPr>
                      </a:pPr>
                      <a:r>
                        <a:t>AGPL-3.0</a:t>
                      </a:r>
                    </a:p>
                  </a:txBody>
                  <a:tcPr>
                    <a:solidFill>
                      <a:srgbClr val="FFFFFF"/>
                    </a:solidFill>
                  </a:tcPr>
                </a:tc>
                <a:tc>
                  <a:txBody>
                    <a:bodyPr/>
                    <a:lstStyle/>
                    <a:p>
                      <a:pPr>
                        <a:defRPr sz="1200">
                          <a:solidFill>
                            <a:srgbClr val="1F2A37"/>
                          </a:solidFill>
                        </a:defRPr>
                      </a:pPr>
                      <a:r>
                        <a:t>No (unless licensed)</a:t>
                      </a:r>
                    </a:p>
                  </a:txBody>
                  <a:tcPr>
                    <a:solidFill>
                      <a:srgbClr val="FFFFFF"/>
                    </a:solidFill>
                  </a:tcPr>
                </a:tc>
                <a:extLst>
                  <a:ext uri="{0D108BD9-81ED-4DB2-BD59-A6C34878D82A}">
                    <a16:rowId xmlns:a16="http://schemas.microsoft.com/office/drawing/2014/main" val="10001"/>
                  </a:ext>
                </a:extLst>
              </a:tr>
              <a:tr h="326571">
                <a:tc>
                  <a:txBody>
                    <a:bodyPr/>
                    <a:lstStyle/>
                    <a:p>
                      <a:pPr>
                        <a:defRPr sz="1200" b="1">
                          <a:solidFill>
                            <a:srgbClr val="1F2A37"/>
                          </a:solidFill>
                        </a:defRPr>
                      </a:pPr>
                      <a:r>
                        <a:t>YOLOX (Megvii)</a:t>
                      </a:r>
                    </a:p>
                  </a:txBody>
                  <a:tcPr>
                    <a:solidFill>
                      <a:srgbClr val="F0F2F5"/>
                    </a:solidFill>
                  </a:tcPr>
                </a:tc>
                <a:tc>
                  <a:txBody>
                    <a:bodyPr/>
                    <a:lstStyle/>
                    <a:p>
                      <a:pPr>
                        <a:defRPr sz="1200">
                          <a:solidFill>
                            <a:srgbClr val="1F2A37"/>
                          </a:solidFill>
                        </a:defRPr>
                      </a:pPr>
                      <a:r>
                        <a:t>Apache-2.0</a:t>
                      </a:r>
                    </a:p>
                  </a:txBody>
                  <a:tcPr>
                    <a:solidFill>
                      <a:srgbClr val="F0F2F5"/>
                    </a:solidFill>
                  </a:tcPr>
                </a:tc>
                <a:tc>
                  <a:txBody>
                    <a:bodyPr/>
                    <a:lstStyle/>
                    <a:p>
                      <a:pPr>
                        <a:defRPr sz="1200">
                          <a:solidFill>
                            <a:srgbClr val="1F2A37"/>
                          </a:solidFill>
                        </a:defRPr>
                      </a:pPr>
                      <a:r>
                        <a:t>Yes</a:t>
                      </a:r>
                    </a:p>
                  </a:txBody>
                  <a:tcPr>
                    <a:solidFill>
                      <a:srgbClr val="F0F2F5"/>
                    </a:solidFill>
                  </a:tcPr>
                </a:tc>
                <a:extLst>
                  <a:ext uri="{0D108BD9-81ED-4DB2-BD59-A6C34878D82A}">
                    <a16:rowId xmlns:a16="http://schemas.microsoft.com/office/drawing/2014/main" val="10002"/>
                  </a:ext>
                </a:extLst>
              </a:tr>
              <a:tr h="326571">
                <a:tc>
                  <a:txBody>
                    <a:bodyPr/>
                    <a:lstStyle/>
                    <a:p>
                      <a:pPr>
                        <a:defRPr sz="1200" b="1">
                          <a:solidFill>
                            <a:srgbClr val="1F2A37"/>
                          </a:solidFill>
                        </a:defRPr>
                      </a:pPr>
                      <a:r>
                        <a:t>YOLOv7 (WongKinYiu)</a:t>
                      </a:r>
                    </a:p>
                  </a:txBody>
                  <a:tcPr>
                    <a:solidFill>
                      <a:srgbClr val="FFFFFF"/>
                    </a:solidFill>
                  </a:tcPr>
                </a:tc>
                <a:tc>
                  <a:txBody>
                    <a:bodyPr/>
                    <a:lstStyle/>
                    <a:p>
                      <a:pPr>
                        <a:defRPr sz="1200">
                          <a:solidFill>
                            <a:srgbClr val="1F2A37"/>
                          </a:solidFill>
                        </a:defRPr>
                      </a:pPr>
                      <a:r>
                        <a:t>GPL-3.0</a:t>
                      </a:r>
                    </a:p>
                  </a:txBody>
                  <a:tcPr>
                    <a:solidFill>
                      <a:srgbClr val="FFFFFF"/>
                    </a:solidFill>
                  </a:tcPr>
                </a:tc>
                <a:tc>
                  <a:txBody>
                    <a:bodyPr/>
                    <a:lstStyle/>
                    <a:p>
                      <a:pPr>
                        <a:defRPr sz="1200">
                          <a:solidFill>
                            <a:srgbClr val="1F2A37"/>
                          </a:solidFill>
                        </a:defRPr>
                      </a:pPr>
                      <a:r>
                        <a:t>No (copyleft)</a:t>
                      </a:r>
                    </a:p>
                  </a:txBody>
                  <a:tcPr>
                    <a:solidFill>
                      <a:srgbClr val="FFFFFF"/>
                    </a:solidFill>
                  </a:tcPr>
                </a:tc>
                <a:extLst>
                  <a:ext uri="{0D108BD9-81ED-4DB2-BD59-A6C34878D82A}">
                    <a16:rowId xmlns:a16="http://schemas.microsoft.com/office/drawing/2014/main" val="10003"/>
                  </a:ext>
                </a:extLst>
              </a:tr>
              <a:tr h="326571">
                <a:tc>
                  <a:txBody>
                    <a:bodyPr/>
                    <a:lstStyle/>
                    <a:p>
                      <a:pPr>
                        <a:defRPr sz="1200" b="1">
                          <a:solidFill>
                            <a:srgbClr val="1F2A37"/>
                          </a:solidFill>
                        </a:defRPr>
                      </a:pPr>
                      <a:r>
                        <a:t>YOLO-NAS (Deci AI)</a:t>
                      </a:r>
                    </a:p>
                  </a:txBody>
                  <a:tcPr>
                    <a:solidFill>
                      <a:srgbClr val="F0F2F5"/>
                    </a:solidFill>
                  </a:tcPr>
                </a:tc>
                <a:tc>
                  <a:txBody>
                    <a:bodyPr/>
                    <a:lstStyle/>
                    <a:p>
                      <a:pPr>
                        <a:defRPr sz="1200">
                          <a:solidFill>
                            <a:srgbClr val="1F2A37"/>
                          </a:solidFill>
                        </a:defRPr>
                      </a:pPr>
                      <a:r>
                        <a:t>Apache-2.0 (super-gradients)</a:t>
                      </a:r>
                    </a:p>
                  </a:txBody>
                  <a:tcPr>
                    <a:solidFill>
                      <a:srgbClr val="F0F2F5"/>
                    </a:solidFill>
                  </a:tcPr>
                </a:tc>
                <a:tc>
                  <a:txBody>
                    <a:bodyPr/>
                    <a:lstStyle/>
                    <a:p>
                      <a:pPr>
                        <a:defRPr sz="1200">
                          <a:solidFill>
                            <a:srgbClr val="1F2A37"/>
                          </a:solidFill>
                        </a:defRPr>
                      </a:pPr>
                      <a:r>
                        <a:t>Yes</a:t>
                      </a:r>
                    </a:p>
                  </a:txBody>
                  <a:tcPr>
                    <a:solidFill>
                      <a:srgbClr val="F0F2F5"/>
                    </a:solidFill>
                  </a:tcPr>
                </a:tc>
                <a:extLst>
                  <a:ext uri="{0D108BD9-81ED-4DB2-BD59-A6C34878D82A}">
                    <a16:rowId xmlns:a16="http://schemas.microsoft.com/office/drawing/2014/main" val="10004"/>
                  </a:ext>
                </a:extLst>
              </a:tr>
              <a:tr h="326571">
                <a:tc>
                  <a:txBody>
                    <a:bodyPr/>
                    <a:lstStyle/>
                    <a:p>
                      <a:pPr>
                        <a:defRPr sz="1200" b="1">
                          <a:solidFill>
                            <a:srgbClr val="1F2A37"/>
                          </a:solidFill>
                        </a:defRPr>
                      </a:pPr>
                      <a:r>
                        <a:t>YOLOv4 (Darknet)</a:t>
                      </a:r>
                    </a:p>
                  </a:txBody>
                  <a:tcPr>
                    <a:solidFill>
                      <a:srgbClr val="FFFFFF"/>
                    </a:solidFill>
                  </a:tcPr>
                </a:tc>
                <a:tc>
                  <a:txBody>
                    <a:bodyPr/>
                    <a:lstStyle/>
                    <a:p>
                      <a:pPr>
                        <a:defRPr sz="1200">
                          <a:solidFill>
                            <a:srgbClr val="1F2A37"/>
                          </a:solidFill>
                        </a:defRPr>
                      </a:pPr>
                      <a:r>
                        <a:t>Custom / public domain</a:t>
                      </a:r>
                    </a:p>
                  </a:txBody>
                  <a:tcPr>
                    <a:solidFill>
                      <a:srgbClr val="FFFFFF"/>
                    </a:solidFill>
                  </a:tcPr>
                </a:tc>
                <a:tc>
                  <a:txBody>
                    <a:bodyPr/>
                    <a:lstStyle/>
                    <a:p>
                      <a:pPr>
                        <a:defRPr sz="1200">
                          <a:solidFill>
                            <a:srgbClr val="1F2A37"/>
                          </a:solidFill>
                        </a:defRPr>
                      </a:pPr>
                      <a:r>
                        <a:t>Generally yes</a:t>
                      </a:r>
                    </a:p>
                  </a:txBody>
                  <a:tcPr>
                    <a:solidFill>
                      <a:srgbClr val="FFFFFF"/>
                    </a:solidFill>
                  </a:tcPr>
                </a:tc>
                <a:extLst>
                  <a:ext uri="{0D108BD9-81ED-4DB2-BD59-A6C34878D82A}">
                    <a16:rowId xmlns:a16="http://schemas.microsoft.com/office/drawing/2014/main" val="10005"/>
                  </a:ext>
                </a:extLst>
              </a:tr>
              <a:tr h="326574">
                <a:tc>
                  <a:txBody>
                    <a:bodyPr/>
                    <a:lstStyle/>
                    <a:p>
                      <a:pPr>
                        <a:defRPr sz="1200" b="1">
                          <a:solidFill>
                            <a:srgbClr val="1F2A37"/>
                          </a:solidFill>
                        </a:defRPr>
                      </a:pPr>
                      <a:r>
                        <a:t>Detectron2 (Meta)</a:t>
                      </a:r>
                    </a:p>
                  </a:txBody>
                  <a:tcPr>
                    <a:solidFill>
                      <a:srgbClr val="F0F2F5"/>
                    </a:solidFill>
                  </a:tcPr>
                </a:tc>
                <a:tc>
                  <a:txBody>
                    <a:bodyPr/>
                    <a:lstStyle/>
                    <a:p>
                      <a:pPr>
                        <a:defRPr sz="1200">
                          <a:solidFill>
                            <a:srgbClr val="1F2A37"/>
                          </a:solidFill>
                        </a:defRPr>
                      </a:pPr>
                      <a:r>
                        <a:t>Apache-2.0</a:t>
                      </a:r>
                    </a:p>
                  </a:txBody>
                  <a:tcPr>
                    <a:solidFill>
                      <a:srgbClr val="F0F2F5"/>
                    </a:solidFill>
                  </a:tcPr>
                </a:tc>
                <a:tc>
                  <a:txBody>
                    <a:bodyPr/>
                    <a:lstStyle/>
                    <a:p>
                      <a:pPr>
                        <a:defRPr sz="1200">
                          <a:solidFill>
                            <a:srgbClr val="1F2A37"/>
                          </a:solidFill>
                        </a:defRPr>
                      </a:pPr>
                      <a:r>
                        <a:t>Yes</a:t>
                      </a:r>
                    </a:p>
                  </a:txBody>
                  <a:tcPr>
                    <a:solidFill>
                      <a:srgbClr val="F0F2F5"/>
                    </a:solidFill>
                  </a:tcPr>
                </a:tc>
                <a:extLst>
                  <a:ext uri="{0D108BD9-81ED-4DB2-BD59-A6C34878D82A}">
                    <a16:rowId xmlns:a16="http://schemas.microsoft.com/office/drawing/2014/main" val="10006"/>
                  </a:ext>
                </a:extLst>
              </a:tr>
            </a:tbl>
          </a:graphicData>
        </a:graphic>
      </p:graphicFrame>
      <p:sp>
        <p:nvSpPr>
          <p:cNvPr id="15" name="TextBox 14"/>
          <p:cNvSpPr txBox="1"/>
          <p:nvPr/>
        </p:nvSpPr>
        <p:spPr>
          <a:xfrm>
            <a:off x="731520" y="6172200"/>
            <a:ext cx="10972800" cy="457200"/>
          </a:xfrm>
          <a:prstGeom prst="rect">
            <a:avLst/>
          </a:prstGeom>
          <a:noFill/>
        </p:spPr>
        <p:txBody>
          <a:bodyPr wrap="square">
            <a:spAutoFit/>
          </a:bodyPr>
          <a:lstStyle/>
          <a:p>
            <a:pPr algn="l">
              <a:defRPr sz="1200" b="0">
                <a:solidFill>
                  <a:srgbClr val="6B7280"/>
                </a:solidFill>
              </a:defRPr>
            </a:pPr>
            <a:r>
              <a:t>In practice, enterprises avoid AGPL unless they open-source their system or buy a commercial license.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972800" cy="457200"/>
          </a:xfrm>
          <a:prstGeom prst="rect">
            <a:avLst/>
          </a:prstGeom>
          <a:noFill/>
        </p:spPr>
        <p:txBody>
          <a:bodyPr wrap="square">
            <a:spAutoFit/>
          </a:bodyPr>
          <a:lstStyle/>
          <a:p>
            <a:pPr algn="l">
              <a:defRPr sz="2800" b="1">
                <a:solidFill>
                  <a:srgbClr val="1F2A37"/>
                </a:solidFill>
              </a:defRPr>
            </a:pPr>
            <a:r>
              <a:rPr dirty="0"/>
              <a:t>Quick Decision Guide</a:t>
            </a:r>
          </a:p>
        </p:txBody>
      </p:sp>
      <p:sp>
        <p:nvSpPr>
          <p:cNvPr id="4" name="TextBox 3"/>
          <p:cNvSpPr txBox="1"/>
          <p:nvPr/>
        </p:nvSpPr>
        <p:spPr>
          <a:xfrm>
            <a:off x="731520" y="685800"/>
            <a:ext cx="10972800" cy="365760"/>
          </a:xfrm>
          <a:prstGeom prst="rect">
            <a:avLst/>
          </a:prstGeom>
          <a:noFill/>
        </p:spPr>
        <p:txBody>
          <a:bodyPr wrap="square">
            <a:spAutoFit/>
          </a:bodyPr>
          <a:lstStyle/>
          <a:p>
            <a:pPr algn="l">
              <a:defRPr sz="1400" b="0">
                <a:solidFill>
                  <a:srgbClr val="6B7280"/>
                </a:solidFill>
              </a:defRPr>
            </a:pPr>
            <a:r>
              <a:t>Is our approach safe? A practical summary.</a:t>
            </a:r>
          </a:p>
        </p:txBody>
      </p:sp>
      <p:graphicFrame>
        <p:nvGraphicFramePr>
          <p:cNvPr id="5" name="Table 4"/>
          <p:cNvGraphicFramePr>
            <a:graphicFrameLocks noGrp="1"/>
          </p:cNvGraphicFramePr>
          <p:nvPr/>
        </p:nvGraphicFramePr>
        <p:xfrm>
          <a:off x="274320" y="1188720"/>
          <a:ext cx="11612880" cy="32004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355600">
                <a:tc>
                  <a:txBody>
                    <a:bodyPr/>
                    <a:lstStyle/>
                    <a:p>
                      <a:pPr>
                        <a:defRPr sz="1200" b="1">
                          <a:solidFill>
                            <a:srgbClr val="2563EB"/>
                          </a:solidFill>
                        </a:defRPr>
                      </a:pPr>
                      <a:r>
                        <a:t>Scenario</a:t>
                      </a:r>
                    </a:p>
                  </a:txBody>
                  <a:tcPr>
                    <a:solidFill>
                      <a:srgbClr val="F0F2F5"/>
                    </a:solidFill>
                  </a:tcPr>
                </a:tc>
                <a:tc>
                  <a:txBody>
                    <a:bodyPr/>
                    <a:lstStyle/>
                    <a:p>
                      <a:pPr>
                        <a:defRPr sz="1200" b="1">
                          <a:solidFill>
                            <a:srgbClr val="2563EB"/>
                          </a:solidFill>
                        </a:defRPr>
                      </a:pPr>
                      <a:r>
                        <a:t>Safe?</a:t>
                      </a:r>
                    </a:p>
                  </a:txBody>
                  <a:tcPr>
                    <a:solidFill>
                      <a:srgbClr val="F0F2F5"/>
                    </a:solidFill>
                  </a:tcPr>
                </a:tc>
                <a:tc>
                  <a:txBody>
                    <a:bodyPr/>
                    <a:lstStyle/>
                    <a:p>
                      <a:pPr>
                        <a:defRPr sz="1200" b="1">
                          <a:solidFill>
                            <a:srgbClr val="2563EB"/>
                          </a:solidFill>
                        </a:defRPr>
                      </a:pPr>
                      <a:r>
                        <a:t>Why</a:t>
                      </a:r>
                    </a:p>
                  </a:txBody>
                  <a:tcPr>
                    <a:solidFill>
                      <a:srgbClr val="F0F2F5"/>
                    </a:solidFill>
                  </a:tcPr>
                </a:tc>
                <a:extLst>
                  <a:ext uri="{0D108BD9-81ED-4DB2-BD59-A6C34878D82A}">
                    <a16:rowId xmlns:a16="http://schemas.microsoft.com/office/drawing/2014/main" val="10000"/>
                  </a:ext>
                </a:extLst>
              </a:tr>
              <a:tr h="355600">
                <a:tc>
                  <a:txBody>
                    <a:bodyPr/>
                    <a:lstStyle/>
                    <a:p>
                      <a:pPr>
                        <a:defRPr sz="1200" b="1">
                          <a:solidFill>
                            <a:srgbClr val="1F2A37"/>
                          </a:solidFill>
                        </a:defRPr>
                      </a:pPr>
                      <a:r>
                        <a:t>Rebuild YOLO yourself from papers</a:t>
                      </a:r>
                    </a:p>
                  </a:txBody>
                  <a:tcPr>
                    <a:solidFill>
                      <a:srgbClr val="FFFFFF"/>
                    </a:solidFill>
                  </a:tcPr>
                </a:tc>
                <a:tc>
                  <a:txBody>
                    <a:bodyPr/>
                    <a:lstStyle/>
                    <a:p>
                      <a:pPr>
                        <a:defRPr sz="1200">
                          <a:solidFill>
                            <a:srgbClr val="1F2A37"/>
                          </a:solidFill>
                        </a:defRPr>
                      </a:pPr>
                      <a:r>
                        <a:t>Yes</a:t>
                      </a:r>
                    </a:p>
                  </a:txBody>
                  <a:tcPr>
                    <a:solidFill>
                      <a:srgbClr val="FFFFFF"/>
                    </a:solidFill>
                  </a:tcPr>
                </a:tc>
                <a:tc>
                  <a:txBody>
                    <a:bodyPr/>
                    <a:lstStyle/>
                    <a:p>
                      <a:pPr>
                        <a:defRPr sz="1200">
                          <a:solidFill>
                            <a:srgbClr val="1F2A37"/>
                          </a:solidFill>
                        </a:defRPr>
                      </a:pPr>
                      <a:r>
                        <a:t>Architecture is public, no license applies</a:t>
                      </a:r>
                    </a:p>
                  </a:txBody>
                  <a:tcPr>
                    <a:solidFill>
                      <a:srgbClr val="FFFFFF"/>
                    </a:solidFill>
                  </a:tcPr>
                </a:tc>
                <a:extLst>
                  <a:ext uri="{0D108BD9-81ED-4DB2-BD59-A6C34878D82A}">
                    <a16:rowId xmlns:a16="http://schemas.microsoft.com/office/drawing/2014/main" val="10001"/>
                  </a:ext>
                </a:extLst>
              </a:tr>
              <a:tr h="355600">
                <a:tc>
                  <a:txBody>
                    <a:bodyPr/>
                    <a:lstStyle/>
                    <a:p>
                      <a:pPr>
                        <a:defRPr sz="1200" b="1">
                          <a:solidFill>
                            <a:srgbClr val="1F2A37"/>
                          </a:solidFill>
                        </a:defRPr>
                      </a:pPr>
                      <a:r>
                        <a:rPr dirty="0"/>
                        <a:t>Use MIT / Apache-2.0 YOLO repo (e.g. YOLOX)</a:t>
                      </a:r>
                    </a:p>
                  </a:txBody>
                  <a:tcPr>
                    <a:solidFill>
                      <a:srgbClr val="F0F2F5"/>
                    </a:solidFill>
                  </a:tcPr>
                </a:tc>
                <a:tc>
                  <a:txBody>
                    <a:bodyPr/>
                    <a:lstStyle/>
                    <a:p>
                      <a:pPr>
                        <a:defRPr sz="1200">
                          <a:solidFill>
                            <a:srgbClr val="1F2A37"/>
                          </a:solidFill>
                        </a:defRPr>
                      </a:pPr>
                      <a:r>
                        <a:t>Yes</a:t>
                      </a:r>
                    </a:p>
                  </a:txBody>
                  <a:tcPr>
                    <a:solidFill>
                      <a:srgbClr val="F0F2F5"/>
                    </a:solidFill>
                  </a:tcPr>
                </a:tc>
                <a:tc>
                  <a:txBody>
                    <a:bodyPr/>
                    <a:lstStyle/>
                    <a:p>
                      <a:pPr>
                        <a:defRPr sz="1200">
                          <a:solidFill>
                            <a:srgbClr val="1F2A37"/>
                          </a:solidFill>
                        </a:defRPr>
                      </a:pPr>
                      <a:r>
                        <a:t>Permissive license, no restrictions</a:t>
                      </a:r>
                    </a:p>
                  </a:txBody>
                  <a:tcPr>
                    <a:solidFill>
                      <a:srgbClr val="F0F2F5"/>
                    </a:solidFill>
                  </a:tcPr>
                </a:tc>
                <a:extLst>
                  <a:ext uri="{0D108BD9-81ED-4DB2-BD59-A6C34878D82A}">
                    <a16:rowId xmlns:a16="http://schemas.microsoft.com/office/drawing/2014/main" val="10002"/>
                  </a:ext>
                </a:extLst>
              </a:tr>
              <a:tr h="355600">
                <a:tc>
                  <a:txBody>
                    <a:bodyPr/>
                    <a:lstStyle/>
                    <a:p>
                      <a:pPr>
                        <a:defRPr sz="1200" b="1">
                          <a:solidFill>
                            <a:srgbClr val="1F2A37"/>
                          </a:solidFill>
                        </a:defRPr>
                      </a:pPr>
                      <a:r>
                        <a:t>Use Ultralytics YOLO in a SaaS product</a:t>
                      </a:r>
                    </a:p>
                  </a:txBody>
                  <a:tcPr>
                    <a:solidFill>
                      <a:srgbClr val="FFFFFF"/>
                    </a:solidFill>
                  </a:tcPr>
                </a:tc>
                <a:tc>
                  <a:txBody>
                    <a:bodyPr/>
                    <a:lstStyle/>
                    <a:p>
                      <a:pPr>
                        <a:defRPr sz="1200">
                          <a:solidFill>
                            <a:srgbClr val="1F2A37"/>
                          </a:solidFill>
                        </a:defRPr>
                      </a:pPr>
                      <a:r>
                        <a:t>No</a:t>
                      </a:r>
                    </a:p>
                  </a:txBody>
                  <a:tcPr>
                    <a:solidFill>
                      <a:srgbClr val="FFFFFF"/>
                    </a:solidFill>
                  </a:tcPr>
                </a:tc>
                <a:tc>
                  <a:txBody>
                    <a:bodyPr/>
                    <a:lstStyle/>
                    <a:p>
                      <a:pPr>
                        <a:defRPr sz="1200">
                          <a:solidFill>
                            <a:srgbClr val="1F2A37"/>
                          </a:solidFill>
                        </a:defRPr>
                      </a:pPr>
                      <a:r>
                        <a:t>AGPL requires open-sourcing derivatives</a:t>
                      </a:r>
                    </a:p>
                  </a:txBody>
                  <a:tcPr>
                    <a:solidFill>
                      <a:srgbClr val="FFFFFF"/>
                    </a:solidFill>
                  </a:tcPr>
                </a:tc>
                <a:extLst>
                  <a:ext uri="{0D108BD9-81ED-4DB2-BD59-A6C34878D82A}">
                    <a16:rowId xmlns:a16="http://schemas.microsoft.com/office/drawing/2014/main" val="10003"/>
                  </a:ext>
                </a:extLst>
              </a:tr>
              <a:tr h="355600">
                <a:tc>
                  <a:txBody>
                    <a:bodyPr/>
                    <a:lstStyle/>
                    <a:p>
                      <a:pPr>
                        <a:defRPr sz="1200" b="1">
                          <a:solidFill>
                            <a:srgbClr val="1F2A37"/>
                          </a:solidFill>
                        </a:defRPr>
                      </a:pPr>
                      <a:r>
                        <a:t>Use Ultralytics YOLO as internal tool only</a:t>
                      </a:r>
                    </a:p>
                  </a:txBody>
                  <a:tcPr>
                    <a:solidFill>
                      <a:srgbClr val="F0F2F5"/>
                    </a:solidFill>
                  </a:tcPr>
                </a:tc>
                <a:tc>
                  <a:txBody>
                    <a:bodyPr/>
                    <a:lstStyle/>
                    <a:p>
                      <a:pPr>
                        <a:defRPr sz="1200">
                          <a:solidFill>
                            <a:srgbClr val="1F2A37"/>
                          </a:solidFill>
                        </a:defRPr>
                      </a:pPr>
                      <a:r>
                        <a:t>Maybe</a:t>
                      </a:r>
                    </a:p>
                  </a:txBody>
                  <a:tcPr>
                    <a:solidFill>
                      <a:srgbClr val="F0F2F5"/>
                    </a:solidFill>
                  </a:tcPr>
                </a:tc>
                <a:tc>
                  <a:txBody>
                    <a:bodyPr/>
                    <a:lstStyle/>
                    <a:p>
                      <a:pPr>
                        <a:defRPr sz="1200">
                          <a:solidFill>
                            <a:srgbClr val="1F2A37"/>
                          </a:solidFill>
                        </a:defRPr>
                      </a:pPr>
                      <a:r>
                        <a:t>AGPL is ambiguous on internal-only use</a:t>
                      </a:r>
                    </a:p>
                  </a:txBody>
                  <a:tcPr>
                    <a:solidFill>
                      <a:srgbClr val="F0F2F5"/>
                    </a:solidFill>
                  </a:tcPr>
                </a:tc>
                <a:extLst>
                  <a:ext uri="{0D108BD9-81ED-4DB2-BD59-A6C34878D82A}">
                    <a16:rowId xmlns:a16="http://schemas.microsoft.com/office/drawing/2014/main" val="10004"/>
                  </a:ext>
                </a:extLst>
              </a:tr>
              <a:tr h="355600">
                <a:tc>
                  <a:txBody>
                    <a:bodyPr/>
                    <a:lstStyle/>
                    <a:p>
                      <a:pPr>
                        <a:defRPr sz="1200" b="1">
                          <a:solidFill>
                            <a:srgbClr val="1F2A37"/>
                          </a:solidFill>
                        </a:defRPr>
                      </a:pPr>
                      <a:r>
                        <a:t>Use Ultralytics pretrained weights only</a:t>
                      </a:r>
                    </a:p>
                  </a:txBody>
                  <a:tcPr>
                    <a:solidFill>
                      <a:srgbClr val="FFFFFF"/>
                    </a:solidFill>
                  </a:tcPr>
                </a:tc>
                <a:tc>
                  <a:txBody>
                    <a:bodyPr/>
                    <a:lstStyle/>
                    <a:p>
                      <a:pPr>
                        <a:defRPr sz="1200">
                          <a:solidFill>
                            <a:srgbClr val="1F2A37"/>
                          </a:solidFill>
                        </a:defRPr>
                      </a:pPr>
                      <a:r>
                        <a:t>Risky</a:t>
                      </a:r>
                    </a:p>
                  </a:txBody>
                  <a:tcPr>
                    <a:solidFill>
                      <a:srgbClr val="FFFFFF"/>
                    </a:solidFill>
                  </a:tcPr>
                </a:tc>
                <a:tc>
                  <a:txBody>
                    <a:bodyPr/>
                    <a:lstStyle/>
                    <a:p>
                      <a:pPr>
                        <a:defRPr sz="1200">
                          <a:solidFill>
                            <a:srgbClr val="1F2A37"/>
                          </a:solidFill>
                        </a:defRPr>
                      </a:pPr>
                      <a:r>
                        <a:t>Weights inherit license from code</a:t>
                      </a:r>
                    </a:p>
                  </a:txBody>
                  <a:tcPr>
                    <a:solidFill>
                      <a:srgbClr val="FFFFFF"/>
                    </a:solidFill>
                  </a:tcPr>
                </a:tc>
                <a:extLst>
                  <a:ext uri="{0D108BD9-81ED-4DB2-BD59-A6C34878D82A}">
                    <a16:rowId xmlns:a16="http://schemas.microsoft.com/office/drawing/2014/main" val="10005"/>
                  </a:ext>
                </a:extLst>
              </a:tr>
              <a:tr h="355600">
                <a:tc>
                  <a:txBody>
                    <a:bodyPr/>
                    <a:lstStyle/>
                    <a:p>
                      <a:pPr>
                        <a:defRPr sz="1200" b="1">
                          <a:solidFill>
                            <a:srgbClr val="1F2A37"/>
                          </a:solidFill>
                        </a:defRPr>
                      </a:pPr>
                      <a:r>
                        <a:t>Buy Ultralytics commercial license</a:t>
                      </a:r>
                    </a:p>
                  </a:txBody>
                  <a:tcPr>
                    <a:solidFill>
                      <a:srgbClr val="F0F2F5"/>
                    </a:solidFill>
                  </a:tcPr>
                </a:tc>
                <a:tc>
                  <a:txBody>
                    <a:bodyPr/>
                    <a:lstStyle/>
                    <a:p>
                      <a:pPr>
                        <a:defRPr sz="1200">
                          <a:solidFill>
                            <a:srgbClr val="1F2A37"/>
                          </a:solidFill>
                        </a:defRPr>
                      </a:pPr>
                      <a:r>
                        <a:t>Yes</a:t>
                      </a:r>
                    </a:p>
                  </a:txBody>
                  <a:tcPr>
                    <a:solidFill>
                      <a:srgbClr val="F0F2F5"/>
                    </a:solidFill>
                  </a:tcPr>
                </a:tc>
                <a:tc>
                  <a:txBody>
                    <a:bodyPr/>
                    <a:lstStyle/>
                    <a:p>
                      <a:pPr>
                        <a:defRPr sz="1200">
                          <a:solidFill>
                            <a:srgbClr val="1F2A37"/>
                          </a:solidFill>
                        </a:defRPr>
                      </a:pPr>
                      <a:r>
                        <a:t>Commercial license overrides AGPL</a:t>
                      </a:r>
                    </a:p>
                  </a:txBody>
                  <a:tcPr>
                    <a:solidFill>
                      <a:srgbClr val="F0F2F5"/>
                    </a:solidFill>
                  </a:tcPr>
                </a:tc>
                <a:extLst>
                  <a:ext uri="{0D108BD9-81ED-4DB2-BD59-A6C34878D82A}">
                    <a16:rowId xmlns:a16="http://schemas.microsoft.com/office/drawing/2014/main" val="10006"/>
                  </a:ext>
                </a:extLst>
              </a:tr>
              <a:tr h="355600">
                <a:tc>
                  <a:txBody>
                    <a:bodyPr/>
                    <a:lstStyle/>
                    <a:p>
                      <a:pPr>
                        <a:defRPr sz="1200" b="1">
                          <a:solidFill>
                            <a:srgbClr val="1F2A37"/>
                          </a:solidFill>
                        </a:defRPr>
                      </a:pPr>
                      <a:r>
                        <a:t>Use Detectron2 (Mask R-CNN)</a:t>
                      </a:r>
                    </a:p>
                  </a:txBody>
                  <a:tcPr>
                    <a:solidFill>
                      <a:srgbClr val="FFFFFF"/>
                    </a:solidFill>
                  </a:tcPr>
                </a:tc>
                <a:tc>
                  <a:txBody>
                    <a:bodyPr/>
                    <a:lstStyle/>
                    <a:p>
                      <a:pPr>
                        <a:defRPr sz="1200">
                          <a:solidFill>
                            <a:srgbClr val="1F2A37"/>
                          </a:solidFill>
                        </a:defRPr>
                      </a:pPr>
                      <a:r>
                        <a:t>Yes</a:t>
                      </a:r>
                    </a:p>
                  </a:txBody>
                  <a:tcPr>
                    <a:solidFill>
                      <a:srgbClr val="FFFFFF"/>
                    </a:solidFill>
                  </a:tcPr>
                </a:tc>
                <a:tc>
                  <a:txBody>
                    <a:bodyPr/>
                    <a:lstStyle/>
                    <a:p>
                      <a:pPr>
                        <a:defRPr sz="1200">
                          <a:solidFill>
                            <a:srgbClr val="1F2A37"/>
                          </a:solidFill>
                        </a:defRPr>
                      </a:pPr>
                      <a:r>
                        <a:t>Apache-2.0, fully permissive</a:t>
                      </a:r>
                    </a:p>
                  </a:txBody>
                  <a:tcPr>
                    <a:solidFill>
                      <a:srgbClr val="FFFFFF"/>
                    </a:solidFill>
                  </a:tcPr>
                </a:tc>
                <a:extLst>
                  <a:ext uri="{0D108BD9-81ED-4DB2-BD59-A6C34878D82A}">
                    <a16:rowId xmlns:a16="http://schemas.microsoft.com/office/drawing/2014/main" val="10007"/>
                  </a:ext>
                </a:extLst>
              </a:tr>
              <a:tr h="355600">
                <a:tc>
                  <a:txBody>
                    <a:bodyPr/>
                    <a:lstStyle/>
                    <a:p>
                      <a:pPr>
                        <a:defRPr sz="1200" b="1">
                          <a:solidFill>
                            <a:srgbClr val="1F2A37"/>
                          </a:solidFill>
                        </a:defRPr>
                      </a:pPr>
                      <a:r>
                        <a:rPr dirty="0"/>
                        <a:t>Use AGPL code as data prep step (not distributed)</a:t>
                      </a:r>
                    </a:p>
                  </a:txBody>
                  <a:tcPr>
                    <a:solidFill>
                      <a:srgbClr val="F0F2F5"/>
                    </a:solidFill>
                  </a:tcPr>
                </a:tc>
                <a:tc>
                  <a:txBody>
                    <a:bodyPr/>
                    <a:lstStyle/>
                    <a:p>
                      <a:pPr>
                        <a:defRPr sz="1200">
                          <a:solidFill>
                            <a:srgbClr val="1F2A37"/>
                          </a:solidFill>
                        </a:defRPr>
                      </a:pPr>
                      <a:r>
                        <a:rPr dirty="0"/>
                        <a:t>Maybe</a:t>
                      </a:r>
                    </a:p>
                  </a:txBody>
                  <a:tcPr>
                    <a:solidFill>
                      <a:srgbClr val="F0F2F5"/>
                    </a:solidFill>
                  </a:tcPr>
                </a:tc>
                <a:tc>
                  <a:txBody>
                    <a:bodyPr/>
                    <a:lstStyle/>
                    <a:p>
                      <a:pPr>
                        <a:defRPr sz="1200">
                          <a:solidFill>
                            <a:srgbClr val="1F2A37"/>
                          </a:solidFill>
                        </a:defRPr>
                      </a:pPr>
                      <a:r>
                        <a:rPr dirty="0"/>
                        <a:t>Safe if truly internal, risky if deployed</a:t>
                      </a:r>
                    </a:p>
                  </a:txBody>
                  <a:tcPr>
                    <a:solidFill>
                      <a:srgbClr val="F0F2F5"/>
                    </a:solidFill>
                  </a:tcPr>
                </a:tc>
                <a:extLst>
                  <a:ext uri="{0D108BD9-81ED-4DB2-BD59-A6C34878D82A}">
                    <a16:rowId xmlns:a16="http://schemas.microsoft.com/office/drawing/2014/main" val="10008"/>
                  </a:ext>
                </a:extLst>
              </a:tr>
            </a:tbl>
          </a:graphicData>
        </a:graphic>
      </p:graphicFrame>
      <p:sp>
        <p:nvSpPr>
          <p:cNvPr id="6" name="Rounded Rectangle 5"/>
          <p:cNvSpPr/>
          <p:nvPr/>
        </p:nvSpPr>
        <p:spPr>
          <a:xfrm>
            <a:off x="457200" y="4663440"/>
            <a:ext cx="11430000" cy="1920240"/>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4800600"/>
            <a:ext cx="10972800" cy="369332"/>
          </a:xfrm>
          <a:prstGeom prst="rect">
            <a:avLst/>
          </a:prstGeom>
          <a:noFill/>
        </p:spPr>
        <p:txBody>
          <a:bodyPr wrap="square">
            <a:spAutoFit/>
          </a:bodyPr>
          <a:lstStyle/>
          <a:p>
            <a:pPr algn="l">
              <a:defRPr sz="1800" b="1">
                <a:solidFill>
                  <a:srgbClr val="2563EB"/>
                </a:solidFill>
              </a:defRPr>
            </a:pPr>
            <a:r>
              <a:rPr lang="fr-FR" dirty="0"/>
              <a:t>Final</a:t>
            </a:r>
            <a:r>
              <a:rPr dirty="0"/>
              <a:t> </a:t>
            </a:r>
            <a:r>
              <a:rPr lang="fr-FR" dirty="0"/>
              <a:t>suggestion</a:t>
            </a:r>
            <a:endParaRPr dirty="0"/>
          </a:p>
        </p:txBody>
      </p:sp>
      <p:sp>
        <p:nvSpPr>
          <p:cNvPr id="8" name="TextBox 7"/>
          <p:cNvSpPr txBox="1"/>
          <p:nvPr/>
        </p:nvSpPr>
        <p:spPr>
          <a:xfrm>
            <a:off x="731520" y="5257800"/>
            <a:ext cx="10972800" cy="1097280"/>
          </a:xfrm>
          <a:prstGeom prst="rect">
            <a:avLst/>
          </a:prstGeom>
          <a:noFill/>
        </p:spPr>
        <p:txBody>
          <a:bodyPr wrap="square">
            <a:spAutoFit/>
          </a:bodyPr>
          <a:lstStyle/>
          <a:p>
            <a:pPr algn="l">
              <a:defRPr sz="1300" b="0">
                <a:solidFill>
                  <a:srgbClr val="1F2A37"/>
                </a:solidFill>
              </a:defRPr>
            </a:pPr>
            <a:r>
              <a:t>We initially used YOLO (Ultralytics) as a data preparation step — which was acceptable because it was internal and not distributed. However, when the pipeline evolved toward a potential commercial product, we migrated to Detectron2 (Apache-2.0) to eliminate all licensing risk.</a:t>
            </a:r>
            <a:br/>
            <a:br/>
            <a:r>
              <a:t>The trade-off: we don't guarantee better performance than YOLO — the choice was driven by licensing freedom, not by a performance advantage. And the door remains open: once we have a clean, curated dataset, we can always retrain an early permissive YOLO version (YOLOX, YOLOv4) from scratch — giving us a pure, license-free YOLO model entirely under our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25c952f-1947-4719-99e7-7bc5a76060a8}" enabled="1" method="Standard" siteId="{4e2c6054-71cb-48f1-bd6c-3a9705aca71b}" contentBits="3" removed="0"/>
</clbl:labelList>
</file>

<file path=docProps/app.xml><?xml version="1.0" encoding="utf-8"?>
<Properties xmlns="http://schemas.openxmlformats.org/officeDocument/2006/extended-properties" xmlns:vt="http://schemas.openxmlformats.org/officeDocument/2006/docPropsVTypes">
  <TotalTime>5</TotalTime>
  <Words>1995</Words>
  <Application>Microsoft Macintosh PowerPoint</Application>
  <PresentationFormat>Widescreen</PresentationFormat>
  <Paragraphs>159</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Lahoucine Digrari</cp:lastModifiedBy>
  <cp:revision>9</cp:revision>
  <dcterms:created xsi:type="dcterms:W3CDTF">2013-01-27T09:14:16Z</dcterms:created>
  <dcterms:modified xsi:type="dcterms:W3CDTF">2026-04-03T09:59:40Z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Theme:10</vt:lpwstr>
  </property>
  <property fmtid="{D5CDD505-2E9C-101B-9397-08002B2CF9AE}" pid="3" name="ClassificationContentMarkingFooterText">
    <vt:lpwstr>Confidential - Oracle Restricted \Employees Only</vt:lpwstr>
  </property>
  <property fmtid="{D5CDD505-2E9C-101B-9397-08002B2CF9AE}" pid="4" name="ClassificationContentMarkingHeaderLocations">
    <vt:lpwstr>Office Theme:9</vt:lpwstr>
  </property>
  <property fmtid="{D5CDD505-2E9C-101B-9397-08002B2CF9AE}" pid="5" name="ClassificationContentMarkingHeaderText">
    <vt:lpwstr>Confidential - Oracle Restricted \Employees Only</vt:lpwstr>
  </property>
</Properties>
</file>